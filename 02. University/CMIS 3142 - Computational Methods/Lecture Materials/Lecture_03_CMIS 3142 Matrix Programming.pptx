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80" r:id="rId7"/>
    <p:sldId id="278" r:id="rId8"/>
    <p:sldId id="281" r:id="rId9"/>
    <p:sldId id="276" r:id="rId10"/>
    <p:sldId id="263" r:id="rId11"/>
    <p:sldId id="279" r:id="rId12"/>
    <p:sldId id="265" r:id="rId13"/>
    <p:sldId id="271" r:id="rId14"/>
    <p:sldId id="266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6" autoAdjust="0"/>
    <p:restoredTop sz="94660"/>
  </p:normalViewPr>
  <p:slideViewPr>
    <p:cSldViewPr>
      <p:cViewPr varScale="1">
        <p:scale>
          <a:sx n="69" d="100"/>
          <a:sy n="69" d="100"/>
        </p:scale>
        <p:origin x="30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284BF-64B8-4030-ACD9-B066934C60A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CE809-2AEE-489D-8F87-DA11AF3B8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2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702B6-5FEB-4909-A0A2-85228032B952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E619E0E-6A4A-44F9-BFF8-D099D401D5BF}" type="datetimeFigureOut">
              <a:rPr lang="en-GB" smtClean="0"/>
              <a:pPr/>
              <a:t>27/11/2023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 smtClean="0"/>
              <a:t>Department of CMIS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6608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1D78-A032-4170-87AF-93CAB1445F87}" type="datetime1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2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A562-EFE3-42CE-9913-335E8FF838B8}" type="datetime1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7905-C898-42BF-B0BF-D7517CF53A01}" type="datetime1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3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E9E92-FDA8-4E99-B84E-DA4042CC5600}" type="datetime1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8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FA8-D459-4A00-A638-245EE783A8F7}" type="datetime1">
              <a:rPr lang="en-US" smtClean="0"/>
              <a:t>11/27/2023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0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F0FE-9239-436A-905B-931018128C4D}" type="datetime1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6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9961-4639-49F3-8B45-EAE3777AB24C}" type="datetime1">
              <a:rPr lang="en-US" smtClean="0"/>
              <a:t>11/27/2023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3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1E95-28DE-4FDF-A60F-3B94792CF68F}" type="datetime1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0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94D6-B3A1-4457-B678-DFEEBA498B79}" type="datetime1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7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2709-A4BE-4E1D-A7D1-2339E4BCA4ED}" type="datetime1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5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874D-C3B7-4F47-8B13-15377B9CA459}" type="datetime1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5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8BF8D-8260-4153-94CB-502CB39F277D}" type="datetime1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4EF06-1875-4252-AC1C-43F90E614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3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219200"/>
            <a:ext cx="7772400" cy="1470025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itchFamily="18" charset="0"/>
              </a:rPr>
              <a:t>CMIS 3142 - Computational Methods</a:t>
            </a:r>
            <a:endParaRPr lang="en-GB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6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CMIS - 2023</a:t>
            </a:r>
            <a:endParaRPr lang="en-GB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1C82-76A8-4956-BD1E-EECB160EC9AA}" type="slidenum">
              <a:rPr lang="en-GB" sz="1800" smtClean="0">
                <a:solidFill>
                  <a:srgbClr val="C00000"/>
                </a:solidFill>
              </a:rPr>
              <a:pPr/>
              <a:t>1</a:t>
            </a:fld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0" y="2895600"/>
            <a:ext cx="571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Arudchelvam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CMIS,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Applied Sciences,</a:t>
            </a:r>
          </a:p>
          <a:p>
            <a:r>
              <a:rPr lang="en-GB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Wayamba University of Sri Lanka</a:t>
            </a:r>
            <a:endParaRPr lang="en-GB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85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i="1" dirty="0">
                <a:latin typeface="Times New Roman" pitchFamily="18" charset="0"/>
                <a:cs typeface="Times New Roman" pitchFamily="18" charset="0"/>
              </a:rPr>
              <a:t>Data Representation and Computational Error: 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Floating-point numbers, rounding rules, machine precision, floating-point arithmetic; well-posed problems, problems vs. algorithms, data error vs. computational error, forward error vs. backward error, conditioning of a problem, stability of an algorithm.</a:t>
            </a:r>
          </a:p>
          <a:p>
            <a:pPr lvl="0"/>
            <a:r>
              <a:rPr lang="en-US" i="1" dirty="0">
                <a:latin typeface="Times New Roman" pitchFamily="18" charset="0"/>
                <a:cs typeface="Times New Roman" pitchFamily="18" charset="0"/>
              </a:rPr>
              <a:t>System of Linear Equations: 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Programming aspects for different types of matrices such as full matrix, symmetric matrix, sparse matrix, symmetric sparse matrix, row vector, column vector.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Program Design for matrices and other relevant Operations, SOR (Successive over relaxation Method),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Cholesky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Method, ICCG (Incomplete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Choleski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Conjugate Gradient method).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Program design for different problems using matrices</a:t>
            </a:r>
          </a:p>
          <a:p>
            <a:pPr lvl="0" algn="just"/>
            <a:r>
              <a:rPr lang="en-US" i="1" dirty="0">
                <a:latin typeface="Times New Roman" pitchFamily="18" charset="0"/>
                <a:cs typeface="Times New Roman" pitchFamily="18" charset="0"/>
              </a:rPr>
              <a:t>Fixed point iteration, Jacobian Matrix, Finite Difference Method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Areas to be covered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8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Aspects of Different types of Matrices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6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Matrix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Row vector,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Column vector,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Full Matrix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Symmetric matrix,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Sparse matrix,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Symmetric sparse matrix.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6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581"/>
            <a:ext cx="8229600" cy="9445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Full (Square) Matrix ===&gt;vector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715000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62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63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/>
                            </a:rPr>
                            <m:t>43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58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67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/>
                            </a:rPr>
                            <m:t>17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84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69</m:t>
                          </m:r>
                        </m:e>
                      </m:mr>
                    </m:m>
                  </m:oMath>
                </a14:m>
                <a:endParaRPr lang="en-US" dirty="0" smtClean="0"/>
              </a:p>
              <a:p>
                <a:r>
                  <a:rPr lang="en-US" dirty="0" smtClean="0">
                    <a:solidFill>
                      <a:srgbClr val="002060"/>
                    </a:solidFill>
                  </a:rPr>
                  <a:t>Row vector </a:t>
                </a:r>
                <a:r>
                  <a:rPr lang="en-US" dirty="0" smtClean="0"/>
                  <a:t>====&gt; 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    B = [12, 62, 63, 43, 58, 67, 17, 84, 69]</a:t>
                </a:r>
              </a:p>
              <a:p>
                <a:r>
                  <a:rPr lang="en-US" dirty="0" smtClean="0">
                    <a:solidFill>
                      <a:srgbClr val="C00000"/>
                    </a:solidFill>
                  </a:rPr>
                  <a:t>Column Vector</a:t>
                </a:r>
                <a:r>
                  <a:rPr lang="en-US" dirty="0" smtClean="0"/>
                  <a:t>==&gt;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    C = [12, 43, 17, 62, 58, 84, 63, 67, 69]</a:t>
                </a:r>
              </a:p>
              <a:p>
                <a:r>
                  <a:rPr lang="en-US" dirty="0" smtClean="0"/>
                  <a:t>Row vector</a:t>
                </a:r>
                <a:endParaRPr lang="en-US" dirty="0"/>
              </a:p>
              <a:p>
                <a:pPr lvl="1"/>
                <a:r>
                  <a:rPr lang="en-US" dirty="0" smtClean="0"/>
                  <a:t>A[</a:t>
                </a:r>
                <a:r>
                  <a:rPr lang="en-US" dirty="0" err="1" smtClean="0"/>
                  <a:t>i,j</a:t>
                </a:r>
                <a:r>
                  <a:rPr lang="en-US" dirty="0" smtClean="0"/>
                  <a:t>] </a:t>
                </a:r>
                <a:r>
                  <a:rPr lang="en-US" dirty="0" smtClean="0"/>
                  <a:t>= </a:t>
                </a:r>
                <a:r>
                  <a:rPr lang="en-US" dirty="0" smtClean="0"/>
                  <a:t>B[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*n +j]                 (Java)</a:t>
                </a:r>
              </a:p>
              <a:p>
                <a:r>
                  <a:rPr lang="en-US" dirty="0" smtClean="0"/>
                  <a:t>Column Vector </a:t>
                </a:r>
              </a:p>
              <a:p>
                <a:pPr lvl="1"/>
                <a:r>
                  <a:rPr lang="en-US" dirty="0"/>
                  <a:t>A[</a:t>
                </a:r>
                <a:r>
                  <a:rPr lang="en-US" dirty="0" err="1"/>
                  <a:t>i,j</a:t>
                </a:r>
                <a:r>
                  <a:rPr lang="en-US" dirty="0"/>
                  <a:t>] = </a:t>
                </a:r>
                <a:r>
                  <a:rPr lang="en-US" dirty="0" smtClean="0"/>
                  <a:t>C[(j)*</a:t>
                </a:r>
                <a:r>
                  <a:rPr lang="en-US" dirty="0" err="1" smtClean="0"/>
                  <a:t>n+i</a:t>
                </a:r>
                <a:r>
                  <a:rPr lang="en-US" dirty="0" smtClean="0"/>
                  <a:t>]                          (Java)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It should be noted that in java the indices of arrays ranges from 0 to (n-1) instead of (1-n)</a:t>
                </a:r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715000"/>
              </a:xfrm>
              <a:blipFill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3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Assignment 03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Write a Java program to </a:t>
            </a:r>
            <a:r>
              <a:rPr lang="en-US" dirty="0" smtClean="0"/>
              <a:t>convert  a general matrix A (m*n) into row vector and column vector?</a:t>
            </a:r>
          </a:p>
          <a:p>
            <a:endParaRPr lang="en-US" dirty="0"/>
          </a:p>
          <a:p>
            <a:pPr lvl="1"/>
            <a:r>
              <a:rPr lang="en-US" dirty="0" smtClean="0"/>
              <a:t>Read the number of rows</a:t>
            </a:r>
          </a:p>
          <a:p>
            <a:pPr lvl="1"/>
            <a:r>
              <a:rPr lang="en-US" dirty="0" smtClean="0"/>
              <a:t>Read the number of columns</a:t>
            </a:r>
          </a:p>
          <a:p>
            <a:pPr lvl="1"/>
            <a:r>
              <a:rPr lang="en-US" dirty="0" smtClean="0"/>
              <a:t>Read and store the elements  </a:t>
            </a:r>
          </a:p>
          <a:p>
            <a:pPr lvl="1"/>
            <a:r>
              <a:rPr lang="en-US" dirty="0" smtClean="0"/>
              <a:t>Display in the matrix </a:t>
            </a:r>
            <a:r>
              <a:rPr lang="en-US" dirty="0" smtClean="0"/>
              <a:t>form</a:t>
            </a:r>
          </a:p>
          <a:p>
            <a:pPr lvl="1"/>
            <a:r>
              <a:rPr lang="en-US" dirty="0" smtClean="0"/>
              <a:t>Display in the Row Vector form</a:t>
            </a:r>
          </a:p>
          <a:p>
            <a:pPr lvl="1"/>
            <a:r>
              <a:rPr lang="en-US" dirty="0" smtClean="0"/>
              <a:t>Display in the Column Vector form</a:t>
            </a:r>
          </a:p>
          <a:p>
            <a:pPr lvl="1"/>
            <a:r>
              <a:rPr lang="en-US" dirty="0" smtClean="0"/>
              <a:t>Find the location of the row vector where the element of the full matrix A(</a:t>
            </a:r>
            <a:r>
              <a:rPr lang="en-US" dirty="0" err="1" smtClean="0"/>
              <a:t>i,j</a:t>
            </a:r>
            <a:r>
              <a:rPr lang="en-US" dirty="0" smtClean="0"/>
              <a:t>) is stored. Where </a:t>
            </a:r>
            <a:r>
              <a:rPr lang="en-US" dirty="0" err="1" smtClean="0"/>
              <a:t>i</a:t>
            </a:r>
            <a:r>
              <a:rPr lang="en-US" dirty="0" smtClean="0"/>
              <a:t> – row number, j – column number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Find the location of the </a:t>
            </a:r>
            <a:r>
              <a:rPr lang="en-US" dirty="0" smtClean="0"/>
              <a:t>column </a:t>
            </a:r>
            <a:r>
              <a:rPr lang="en-US" dirty="0"/>
              <a:t>vector where the element of the full matrix </a:t>
            </a:r>
            <a:r>
              <a:rPr lang="en-US" dirty="0" smtClean="0"/>
              <a:t>A(</a:t>
            </a:r>
            <a:r>
              <a:rPr lang="en-US" dirty="0" err="1" smtClean="0"/>
              <a:t>i,j</a:t>
            </a:r>
            <a:r>
              <a:rPr lang="en-US" dirty="0"/>
              <a:t>) is stored. Where </a:t>
            </a:r>
            <a:r>
              <a:rPr lang="en-US" dirty="0" err="1"/>
              <a:t>i</a:t>
            </a:r>
            <a:r>
              <a:rPr lang="en-US" dirty="0"/>
              <a:t> – row number, j – Column Number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Department of CMIS - 2023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5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4008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𝐴</m:t>
                    </m:r>
                    <m:r>
                      <a:rPr lang="en-US" i="1" smtClean="0">
                        <a:latin typeface="Cambria Math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9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e>
                        <m:e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/>
                            </a:rPr>
                            <m:t>7</m:t>
                          </m:r>
                        </m:e>
                        <m:e>
                          <m:r>
                            <a:rPr lang="en-US" i="1">
                              <a:latin typeface="Cambria Math"/>
                            </a:rPr>
                            <m:t>8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e>
                      </m:mr>
                    </m:m>
                  </m:oMath>
                </a14:m>
                <a:r>
                  <a:rPr lang="en-US" dirty="0" smtClean="0"/>
                  <a:t>            B = [ 1, 5, 9, 3, 5, 4, 7, 8, 2]</a:t>
                </a:r>
              </a:p>
              <a:p>
                <a:endParaRPr lang="en-US" dirty="0"/>
              </a:p>
              <a:p>
                <a:r>
                  <a:rPr lang="en-US" dirty="0" smtClean="0"/>
                  <a:t>A – 3x3; </a:t>
                </a:r>
                <a:r>
                  <a:rPr lang="en-US" dirty="0"/>
                  <a:t>A[1,2] </a:t>
                </a:r>
                <a:r>
                  <a:rPr lang="en-US" dirty="0" smtClean="0"/>
                  <a:t> = 4</a:t>
                </a:r>
              </a:p>
              <a:p>
                <a:r>
                  <a:rPr lang="en-US" dirty="0" smtClean="0"/>
                  <a:t>A[1,2] = B[k]; k=?</a:t>
                </a:r>
              </a:p>
              <a:p>
                <a:pPr lvl="1"/>
                <a:r>
                  <a:rPr lang="en-US" dirty="0"/>
                  <a:t>A[</a:t>
                </a:r>
                <a:r>
                  <a:rPr lang="en-US" dirty="0" err="1"/>
                  <a:t>i,j</a:t>
                </a:r>
                <a:r>
                  <a:rPr lang="en-US" dirty="0"/>
                  <a:t>] =  B[ (</a:t>
                </a:r>
                <a:r>
                  <a:rPr lang="en-US" dirty="0" err="1"/>
                  <a:t>i</a:t>
                </a:r>
                <a:r>
                  <a:rPr lang="en-US" dirty="0"/>
                  <a:t>)*n-1 +j+1]  = B[</a:t>
                </a:r>
                <a:r>
                  <a:rPr lang="en-US" dirty="0" err="1"/>
                  <a:t>i</a:t>
                </a:r>
                <a:r>
                  <a:rPr lang="en-US" dirty="0"/>
                  <a:t>*n +j]     </a:t>
                </a:r>
                <a:endParaRPr lang="en-US" dirty="0" smtClean="0"/>
              </a:p>
              <a:p>
                <a:pPr marL="457200" lvl="1" indent="0">
                  <a:buNone/>
                </a:pPr>
                <a:r>
                  <a:rPr lang="en-US" dirty="0" err="1" smtClean="0"/>
                  <a:t>i</a:t>
                </a:r>
                <a:r>
                  <a:rPr lang="en-US" dirty="0" smtClean="0"/>
                  <a:t>=1; j=2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K= 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*</a:t>
                </a:r>
                <a:r>
                  <a:rPr lang="en-US" dirty="0" err="1" smtClean="0"/>
                  <a:t>n+j</a:t>
                </a:r>
                <a:r>
                  <a:rPr lang="en-US" dirty="0" smtClean="0"/>
                  <a:t> = 1*3+2 = 5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400800"/>
              </a:xfrm>
              <a:blipFill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Department of CMIS - 2023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9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/>
                      </a:rPr>
                      <m:t>                            </m:t>
                    </m:r>
                  </m:oMath>
                </a14:m>
                <a:r>
                  <a:rPr lang="en-US" dirty="0" smtClean="0"/>
                  <a:t>A</a:t>
                </a:r>
                <a:r>
                  <a:rPr lang="en-US" baseline="30000" dirty="0" smtClean="0"/>
                  <a:t>T</a:t>
                </a:r>
                <a:r>
                  <a:rPr lang="en-US" dirty="0" smtClean="0"/>
                  <a:t> </a:t>
                </a:r>
                <a:r>
                  <a:rPr lang="en-US" baseline="30000" dirty="0" smtClean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baseline="30000" dirty="0" smtClean="0"/>
              </a:p>
              <a:p>
                <a:pPr marL="0" indent="0">
                  <a:buNone/>
                </a:pPr>
                <a:endParaRPr lang="en-US" baseline="30000" dirty="0" smtClean="0"/>
              </a:p>
              <a:p>
                <a:pPr marL="0" indent="0">
                  <a:buNone/>
                </a:pPr>
                <a:endParaRPr lang="en-US" baseline="30000" dirty="0"/>
              </a:p>
              <a:p>
                <a:pPr marL="0" indent="0">
                  <a:buNone/>
                </a:pPr>
                <a:endParaRPr lang="en-US" baseline="30000" dirty="0" smtClean="0"/>
              </a:p>
              <a:p>
                <a:pPr marL="0" indent="0">
                  <a:buNone/>
                </a:pPr>
                <a:r>
                  <a:rPr lang="en-US" dirty="0" smtClean="0"/>
                  <a:t>B</a:t>
                </a:r>
                <a:r>
                  <a:rPr lang="en-US" baseline="30000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GB" baseline="30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4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Row ==&gt; </a:t>
            </a:r>
            <a:r>
              <a:rPr lang="en-US" dirty="0" err="1" smtClean="0"/>
              <a:t>i</a:t>
            </a:r>
            <a:endParaRPr lang="en-US" dirty="0" smtClean="0"/>
          </a:p>
          <a:p>
            <a:r>
              <a:rPr lang="en-US" dirty="0" smtClean="0"/>
              <a:t>Col ==&gt; j</a:t>
            </a:r>
          </a:p>
          <a:p>
            <a:r>
              <a:rPr lang="en-US" dirty="0" smtClean="0"/>
              <a:t>(i-1)(</a:t>
            </a:r>
            <a:r>
              <a:rPr lang="en-US" dirty="0" err="1" smtClean="0"/>
              <a:t>i</a:t>
            </a:r>
            <a:r>
              <a:rPr lang="en-US" dirty="0" smtClean="0"/>
              <a:t>)/2 + </a:t>
            </a:r>
            <a:r>
              <a:rPr lang="en-US" dirty="0" err="1" smtClean="0"/>
              <a:t>i</a:t>
            </a:r>
            <a:r>
              <a:rPr lang="en-US" dirty="0" smtClean="0"/>
              <a:t> + j</a:t>
            </a:r>
          </a:p>
          <a:p>
            <a:endParaRPr lang="en-US" dirty="0"/>
          </a:p>
          <a:p>
            <a:r>
              <a:rPr lang="en-US" dirty="0" smtClean="0"/>
              <a:t>Check with 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i,j</a:t>
            </a:r>
            <a:r>
              <a:rPr lang="en-US" dirty="0" smtClean="0"/>
              <a:t>) == &gt;  (2,1) (3,1), (3,2)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5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Matrix Abstract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019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public abstract class Matrix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protected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columns;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protected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rows;</a:t>
            </a:r>
          </a:p>
          <a:p>
            <a:pPr marL="0" indent="0">
              <a:buNone/>
            </a:pPr>
            <a:r>
              <a:rPr lang="en-US" sz="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    public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rowSize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       { return rows;}</a:t>
            </a:r>
          </a:p>
          <a:p>
            <a:pPr marL="0" indent="0">
              <a:buNone/>
            </a:pPr>
            <a:endParaRPr lang="en-US" sz="9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    public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columnSize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       { return columns; }</a:t>
            </a:r>
          </a:p>
          <a:p>
            <a:pPr marL="0" indent="0">
              <a:buNone/>
            </a:pPr>
            <a:endParaRPr lang="en-US" sz="9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void display();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double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elementAt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i,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j);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Matrix multiply(double K);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Matrix multiply(Matrix B);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    public abstract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columnVector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multiply(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columnVector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B);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Matrix add(Matrix B);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Matrix sub(Matrix B);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void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swapRows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i,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j);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void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swapColumns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i,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j);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    public abstract Matrix transpose();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public abstract Matrix inverse();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Exercise </a:t>
            </a:r>
            <a:endParaRPr lang="en-GB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Complete the Java code for the class matrix shown in the previous slide.</a:t>
            </a:r>
          </a:p>
          <a:p>
            <a:endParaRPr lang="en-US" dirty="0"/>
          </a:p>
          <a:p>
            <a:r>
              <a:rPr lang="en-US" dirty="0" smtClean="0"/>
              <a:t>General Matrix m*n</a:t>
            </a:r>
          </a:p>
          <a:p>
            <a:pPr lvl="1"/>
            <a:r>
              <a:rPr lang="en-US" dirty="0" smtClean="0"/>
              <a:t>Number of rows: m</a:t>
            </a:r>
          </a:p>
          <a:p>
            <a:pPr lvl="1"/>
            <a:r>
              <a:rPr lang="en-US" dirty="0" smtClean="0"/>
              <a:t>Number of Columns: n</a:t>
            </a:r>
          </a:p>
          <a:p>
            <a:r>
              <a:rPr lang="en-US" dirty="0"/>
              <a:t>Row vector</a:t>
            </a:r>
          </a:p>
          <a:p>
            <a:r>
              <a:rPr lang="en-US" dirty="0"/>
              <a:t>Column </a:t>
            </a:r>
            <a:r>
              <a:rPr lang="en-US" dirty="0" smtClean="0"/>
              <a:t>vector</a:t>
            </a:r>
          </a:p>
          <a:p>
            <a:r>
              <a:rPr lang="en-US" dirty="0" smtClean="0"/>
              <a:t>Symmetric matrix with row vector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4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Symmetric Matrix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/>
              <a:lstStyle/>
              <a:p>
                <a:r>
                  <a:rPr lang="en-US" dirty="0" smtClean="0"/>
                  <a:t>A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𝑓</m:t>
                          </m:r>
                        </m:e>
                      </m:mr>
                    </m:m>
                  </m:oMath>
                </a14:m>
                <a:endParaRPr lang="en-US" dirty="0" smtClean="0"/>
              </a:p>
              <a:p>
                <a:r>
                  <a:rPr lang="en-US" dirty="0" smtClean="0"/>
                  <a:t>If A[</a:t>
                </a:r>
                <a:r>
                  <a:rPr lang="en-US" dirty="0" err="1" smtClean="0"/>
                  <a:t>i,j</a:t>
                </a:r>
                <a:r>
                  <a:rPr lang="en-US" dirty="0" smtClean="0"/>
                  <a:t>] = A[</a:t>
                </a:r>
                <a:r>
                  <a:rPr lang="en-US" dirty="0" err="1" smtClean="0"/>
                  <a:t>j,i</a:t>
                </a:r>
                <a:r>
                  <a:rPr lang="en-US" dirty="0" smtClean="0"/>
                  <a:t>] for all i and j then it is called Symmetric Matrix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Symmetric Matrix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How to represent?</a:t>
            </a:r>
          </a:p>
          <a:p>
            <a:pPr lvl="1"/>
            <a:r>
              <a:rPr lang="en-GB" dirty="0" err="1" smtClean="0"/>
              <a:t>Rowvector</a:t>
            </a:r>
            <a:endParaRPr lang="en-GB" dirty="0" smtClean="0"/>
          </a:p>
          <a:p>
            <a:pPr lvl="1"/>
            <a:r>
              <a:rPr lang="en-GB" dirty="0" smtClean="0"/>
              <a:t>Number of elements</a:t>
            </a:r>
          </a:p>
          <a:p>
            <a:r>
              <a:rPr lang="en-GB" dirty="0" smtClean="0"/>
              <a:t>Method “</a:t>
            </a:r>
            <a:r>
              <a:rPr lang="en-GB" dirty="0" err="1" smtClean="0"/>
              <a:t>ElementAt</a:t>
            </a:r>
            <a:r>
              <a:rPr lang="en-GB" dirty="0" smtClean="0"/>
              <a:t>()” – write??</a:t>
            </a:r>
          </a:p>
          <a:p>
            <a:r>
              <a:rPr lang="en-GB" dirty="0" smtClean="0"/>
              <a:t>Constructors</a:t>
            </a:r>
          </a:p>
          <a:p>
            <a:pPr lvl="1"/>
            <a:r>
              <a:rPr lang="en-GB" dirty="0" err="1"/>
              <a:t>symmetricMatrix</a:t>
            </a:r>
            <a:r>
              <a:rPr lang="en-GB" dirty="0"/>
              <a:t>(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Matsize</a:t>
            </a:r>
            <a:r>
              <a:rPr lang="en-GB" dirty="0" smtClean="0"/>
              <a:t>)</a:t>
            </a:r>
          </a:p>
          <a:p>
            <a:pPr lvl="1"/>
            <a:r>
              <a:rPr lang="en-GB" dirty="0" err="1"/>
              <a:t>symmetricMatrix</a:t>
            </a:r>
            <a:r>
              <a:rPr lang="en-GB" dirty="0"/>
              <a:t>(</a:t>
            </a:r>
            <a:r>
              <a:rPr lang="en-GB" dirty="0" err="1"/>
              <a:t>rowVector</a:t>
            </a:r>
            <a:r>
              <a:rPr lang="en-GB" dirty="0"/>
              <a:t> A,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Matsize</a:t>
            </a:r>
            <a:r>
              <a:rPr lang="en-GB" dirty="0" smtClean="0"/>
              <a:t>)</a:t>
            </a:r>
          </a:p>
          <a:p>
            <a:pPr lvl="1"/>
            <a:r>
              <a:rPr lang="en-GB" dirty="0" err="1"/>
              <a:t>symmetricMatrix</a:t>
            </a:r>
            <a:r>
              <a:rPr lang="en-GB" dirty="0"/>
              <a:t>(double[] A,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Matsize</a:t>
            </a:r>
            <a:r>
              <a:rPr lang="en-GB" dirty="0" smtClean="0"/>
              <a:t>)</a:t>
            </a:r>
          </a:p>
          <a:p>
            <a:pPr lvl="1"/>
            <a:r>
              <a:rPr lang="en-GB" dirty="0" err="1"/>
              <a:t>symmetricMatrix</a:t>
            </a:r>
            <a:r>
              <a:rPr lang="en-GB" dirty="0"/>
              <a:t>(String </a:t>
            </a:r>
            <a:r>
              <a:rPr lang="en-GB" dirty="0" err="1"/>
              <a:t>datafile</a:t>
            </a:r>
            <a:r>
              <a:rPr lang="en-GB" dirty="0"/>
              <a:t>,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Matsize</a:t>
            </a:r>
            <a:r>
              <a:rPr lang="en-GB" dirty="0" smtClean="0"/>
              <a:t>)</a:t>
            </a:r>
          </a:p>
          <a:p>
            <a:pPr lvl="1"/>
            <a:r>
              <a:rPr lang="en-GB" dirty="0" err="1"/>
              <a:t>symmetricMatrix</a:t>
            </a:r>
            <a:r>
              <a:rPr lang="en-GB" dirty="0"/>
              <a:t>(Matrix A)</a:t>
            </a:r>
            <a:endParaRPr lang="en-GB" dirty="0" smtClean="0"/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5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Sparse Matrix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marL="176213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is meant by 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sparse matrix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176213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a sparse matrix is a matrix in which most of the elements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zero.</a:t>
            </a:r>
          </a:p>
          <a:p>
            <a:pPr marL="176213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Representing Sparse Matrix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http://btechsmartclass.com/DS/images/U1_T14_P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32" y="1828800"/>
            <a:ext cx="5591175" cy="14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Representing Sparse Matrix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http://btechsmartclass.com/DS/images/U1_T14_P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17" y="1447800"/>
            <a:ext cx="8742183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Sparse Symmetric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135563"/>
          </a:xfrm>
        </p:spPr>
        <p:txBody>
          <a:bodyPr/>
          <a:lstStyle/>
          <a:p>
            <a:r>
              <a:rPr lang="en-US" dirty="0" err="1" smtClean="0"/>
              <a:t>rowVector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dirty="0" smtClean="0"/>
              <a:t>;   		// elements</a:t>
            </a:r>
            <a:endParaRPr lang="en-US" dirty="0"/>
          </a:p>
          <a:p>
            <a:r>
              <a:rPr lang="en-US" dirty="0" err="1" smtClean="0"/>
              <a:t>integerVector</a:t>
            </a:r>
            <a:r>
              <a:rPr lang="en-US" dirty="0" smtClean="0"/>
              <a:t> </a:t>
            </a:r>
            <a:r>
              <a:rPr lang="en-US" dirty="0"/>
              <a:t>diagonal</a:t>
            </a:r>
            <a:r>
              <a:rPr lang="en-US" dirty="0" smtClean="0"/>
              <a:t>;	//</a:t>
            </a:r>
            <a:r>
              <a:rPr lang="en-US" sz="2400" dirty="0" smtClean="0"/>
              <a:t>location of Diagonal elements</a:t>
            </a:r>
            <a:endParaRPr lang="en-US" sz="2400" dirty="0"/>
          </a:p>
          <a:p>
            <a:r>
              <a:rPr lang="en-US" dirty="0" err="1" smtClean="0"/>
              <a:t>integerVector</a:t>
            </a:r>
            <a:r>
              <a:rPr lang="en-US" dirty="0" smtClean="0"/>
              <a:t> </a:t>
            </a:r>
            <a:r>
              <a:rPr lang="en-US" dirty="0" err="1"/>
              <a:t>columnNums</a:t>
            </a:r>
            <a:r>
              <a:rPr lang="en-US" dirty="0" smtClean="0"/>
              <a:t>; // </a:t>
            </a:r>
            <a:r>
              <a:rPr lang="en-US" sz="2400" dirty="0"/>
              <a:t>column number of each element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nElements</a:t>
            </a:r>
            <a:r>
              <a:rPr lang="en-US" dirty="0" smtClean="0"/>
              <a:t>; 	// Number of elements</a:t>
            </a:r>
          </a:p>
          <a:p>
            <a:endParaRPr lang="en-US" dirty="0"/>
          </a:p>
          <a:p>
            <a:r>
              <a:rPr lang="en-US" dirty="0" smtClean="0"/>
              <a:t>How to write method</a:t>
            </a:r>
          </a:p>
          <a:p>
            <a:pPr lvl="1"/>
            <a:r>
              <a:rPr lang="en-US" dirty="0" err="1" smtClean="0"/>
              <a:t>elementAt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j)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CMIS - 2023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EF06-1875-4252-AC1C-43F90E6149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1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</TotalTime>
  <Words>574</Words>
  <Application>Microsoft Office PowerPoint</Application>
  <PresentationFormat>On-screen Show (4:3)</PresentationFormat>
  <Paragraphs>163</Paragraphs>
  <Slides>17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Courier New</vt:lpstr>
      <vt:lpstr>Times New Roman</vt:lpstr>
      <vt:lpstr>Office Theme</vt:lpstr>
      <vt:lpstr>CMIS 3142 - Computational Methods</vt:lpstr>
      <vt:lpstr>PowerPoint Presentation</vt:lpstr>
      <vt:lpstr>Programming Aspects of Different types of Matrices</vt:lpstr>
      <vt:lpstr>Matrix</vt:lpstr>
      <vt:lpstr>Full (Square) Matrix ===&gt;vector</vt:lpstr>
      <vt:lpstr>Assignment 03</vt:lpstr>
      <vt:lpstr>PowerPoint Presentation</vt:lpstr>
      <vt:lpstr>PowerPoint Presentation</vt:lpstr>
      <vt:lpstr>Symmetric Matrix</vt:lpstr>
      <vt:lpstr>Matrix Abstract </vt:lpstr>
      <vt:lpstr>Exercise </vt:lpstr>
      <vt:lpstr>Symmetric Matrix</vt:lpstr>
      <vt:lpstr>Symmetric Matrix</vt:lpstr>
      <vt:lpstr>Sparse Matrix</vt:lpstr>
      <vt:lpstr>Representing Sparse Matrix</vt:lpstr>
      <vt:lpstr>Representing Sparse Matrix</vt:lpstr>
      <vt:lpstr>Sparse Symmetric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CMIS 3142 - Computational Methods</dc:title>
  <dc:creator>cmisa</dc:creator>
  <cp:lastModifiedBy>staff</cp:lastModifiedBy>
  <cp:revision>87</cp:revision>
  <dcterms:created xsi:type="dcterms:W3CDTF">2017-01-27T18:37:57Z</dcterms:created>
  <dcterms:modified xsi:type="dcterms:W3CDTF">2023-11-27T11:04:41Z</dcterms:modified>
</cp:coreProperties>
</file>