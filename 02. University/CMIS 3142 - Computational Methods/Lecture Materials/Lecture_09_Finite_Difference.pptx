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  <p:sldMasterId id="2147483651" r:id="rId2"/>
  </p:sldMasterIdLst>
  <p:notesMasterIdLst>
    <p:notesMasterId r:id="rId17"/>
  </p:notesMasterIdLst>
  <p:handoutMasterIdLst>
    <p:handoutMasterId r:id="rId18"/>
  </p:handoutMasterIdLst>
  <p:sldIdLst>
    <p:sldId id="700" r:id="rId3"/>
    <p:sldId id="707" r:id="rId4"/>
    <p:sldId id="708" r:id="rId5"/>
    <p:sldId id="711" r:id="rId6"/>
    <p:sldId id="712" r:id="rId7"/>
    <p:sldId id="731" r:id="rId8"/>
    <p:sldId id="713" r:id="rId9"/>
    <p:sldId id="714" r:id="rId10"/>
    <p:sldId id="715" r:id="rId11"/>
    <p:sldId id="716" r:id="rId12"/>
    <p:sldId id="717" r:id="rId13"/>
    <p:sldId id="718" r:id="rId14"/>
    <p:sldId id="729" r:id="rId15"/>
    <p:sldId id="730" r:id="rId16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7C80"/>
    <a:srgbClr val="009999"/>
    <a:srgbClr val="008080"/>
    <a:srgbClr val="99CCFF"/>
    <a:srgbClr val="000099"/>
    <a:srgbClr val="EF1F1D"/>
    <a:srgbClr val="18753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93" autoAdjust="0"/>
    <p:restoredTop sz="94660" autoAdjust="0"/>
  </p:normalViewPr>
  <p:slideViewPr>
    <p:cSldViewPr>
      <p:cViewPr varScale="1">
        <p:scale>
          <a:sx n="70" d="100"/>
          <a:sy n="70" d="100"/>
        </p:scale>
        <p:origin x="-141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38" y="-84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2.wmf"/><Relationship Id="rId4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98" tIns="49498" rIns="98998" bIns="49498" numCol="1" anchor="t" anchorCtr="0" compatLnSpc="1">
            <a:prstTxWarp prst="textNoShape">
              <a:avLst/>
            </a:prstTxWarp>
          </a:bodyPr>
          <a:lstStyle>
            <a:lvl1pPr defTabSz="989013">
              <a:defRPr sz="1300"/>
            </a:lvl1pPr>
          </a:lstStyle>
          <a:p>
            <a:endParaRPr lang="en-US" altLang="zh-TW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98" tIns="49498" rIns="98998" bIns="49498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endParaRPr lang="en-US" altLang="zh-TW"/>
          </a:p>
        </p:txBody>
      </p:sp>
      <p:sp>
        <p:nvSpPr>
          <p:cNvPr id="304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98" tIns="49498" rIns="98998" bIns="49498" numCol="1" anchor="b" anchorCtr="0" compatLnSpc="1">
            <a:prstTxWarp prst="textNoShape">
              <a:avLst/>
            </a:prstTxWarp>
          </a:bodyPr>
          <a:lstStyle>
            <a:lvl1pPr defTabSz="989013">
              <a:defRPr sz="1300"/>
            </a:lvl1pPr>
          </a:lstStyle>
          <a:p>
            <a:endParaRPr lang="en-US" altLang="zh-TW"/>
          </a:p>
        </p:txBody>
      </p:sp>
      <p:sp>
        <p:nvSpPr>
          <p:cNvPr id="304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98" tIns="49498" rIns="98998" bIns="49498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fld id="{2ACA4AF9-C185-474C-A50B-BF5D36C0539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028595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94038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72" tIns="48685" rIns="97372" bIns="48685" numCol="1" anchor="t" anchorCtr="0" compatLnSpc="1">
            <a:prstTxWarp prst="textNoShape">
              <a:avLst/>
            </a:prstTxWarp>
          </a:bodyPr>
          <a:lstStyle>
            <a:lvl1pPr defTabSz="971550">
              <a:defRPr sz="1300"/>
            </a:lvl1pPr>
          </a:lstStyle>
          <a:p>
            <a:endParaRPr lang="en-US" altLang="zh-TW"/>
          </a:p>
        </p:txBody>
      </p:sp>
      <p:sp>
        <p:nvSpPr>
          <p:cNvPr id="581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94037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72" tIns="48685" rIns="97372" bIns="48685" numCol="1" anchor="t" anchorCtr="0" compatLnSpc="1">
            <a:prstTxWarp prst="textNoShape">
              <a:avLst/>
            </a:prstTxWarp>
          </a:bodyPr>
          <a:lstStyle>
            <a:lvl1pPr algn="r" defTabSz="971550">
              <a:defRPr sz="1300"/>
            </a:lvl1pPr>
          </a:lstStyle>
          <a:p>
            <a:endParaRPr lang="en-US" altLang="zh-TW"/>
          </a:p>
        </p:txBody>
      </p:sp>
      <p:sp>
        <p:nvSpPr>
          <p:cNvPr id="18436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81075" y="755650"/>
            <a:ext cx="5156200" cy="3867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1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688" y="4873625"/>
            <a:ext cx="5259387" cy="462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72" tIns="48685" rIns="97372" bIns="486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Click to edit Master text styles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581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48838"/>
            <a:ext cx="309403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72" tIns="48685" rIns="97372" bIns="48685" numCol="1" anchor="b" anchorCtr="0" compatLnSpc="1">
            <a:prstTxWarp prst="textNoShape">
              <a:avLst/>
            </a:prstTxWarp>
          </a:bodyPr>
          <a:lstStyle>
            <a:lvl1pPr defTabSz="971550">
              <a:defRPr sz="1300"/>
            </a:lvl1pPr>
          </a:lstStyle>
          <a:p>
            <a:endParaRPr lang="en-US" altLang="zh-TW"/>
          </a:p>
        </p:txBody>
      </p:sp>
      <p:sp>
        <p:nvSpPr>
          <p:cNvPr id="581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48838"/>
            <a:ext cx="3094037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72" tIns="48685" rIns="97372" bIns="48685" numCol="1" anchor="b" anchorCtr="0" compatLnSpc="1">
            <a:prstTxWarp prst="textNoShape">
              <a:avLst/>
            </a:prstTxWarp>
          </a:bodyPr>
          <a:lstStyle>
            <a:lvl1pPr algn="r" defTabSz="971550">
              <a:defRPr sz="1300"/>
            </a:lvl1pPr>
          </a:lstStyle>
          <a:p>
            <a:fld id="{15948DAA-7F17-4A9B-A2F4-AAA413EB2F2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7050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1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1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1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1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1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4572000" y="6310313"/>
            <a:ext cx="4572000" cy="547687"/>
          </a:xfrm>
          <a:prstGeom prst="rect">
            <a:avLst/>
          </a:prstGeom>
          <a:solidFill>
            <a:srgbClr val="3217D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TW" sz="1800">
                <a:solidFill>
                  <a:schemeClr val="bg1"/>
                </a:solidFill>
                <a:latin typeface="Arial" charset="0"/>
                <a:ea typeface="新細明體" pitchFamily="18" charset="-120"/>
              </a:rPr>
              <a:t>Chapter 1: Introduction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0"/>
            <a:ext cx="9144000" cy="1447800"/>
          </a:xfrm>
          <a:prstGeom prst="rect">
            <a:avLst/>
          </a:prstGeom>
          <a:gradFill rotWithShape="1">
            <a:gsLst>
              <a:gs pos="0">
                <a:srgbClr val="3217D1"/>
              </a:gs>
              <a:gs pos="100000">
                <a:schemeClr val="tx2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6310313"/>
            <a:ext cx="4572000" cy="547687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 algn="ctr" eaLnBrk="1" hangingPunct="1"/>
            <a:r>
              <a:rPr lang="en-US" altLang="zh-TW" sz="1400">
                <a:solidFill>
                  <a:schemeClr val="bg1"/>
                </a:solidFill>
                <a:ea typeface="新細明體" pitchFamily="18" charset="-120"/>
              </a:rPr>
              <a:t>Applied Computational Fluid Dynamics</a:t>
            </a:r>
            <a:endParaRPr lang="zh-TW" altLang="en-US" sz="1400">
              <a:solidFill>
                <a:schemeClr val="bg1"/>
              </a:solidFill>
              <a:ea typeface="新細明體" pitchFamily="18" charset="-120"/>
            </a:endParaRPr>
          </a:p>
        </p:txBody>
      </p:sp>
      <p:sp>
        <p:nvSpPr>
          <p:cNvPr id="100659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TW"/>
              <a:t>Click to edit Master title style</a:t>
            </a:r>
          </a:p>
        </p:txBody>
      </p:sp>
      <p:sp>
        <p:nvSpPr>
          <p:cNvPr id="100659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TW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5954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651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291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830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830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1987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057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87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54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4700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0345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2321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597376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597376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034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295400"/>
            <a:ext cx="4038600" cy="48307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8307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551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F442F0-2D62-4E7B-912C-071BE9695EAF}" type="datetime1">
              <a:rPr lang="zh-TW" altLang="en-US"/>
              <a:pPr/>
              <a:t>2017/5/27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696DA9-CCFF-4018-8C1E-2EA93687C88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84982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9364B8-16EC-428D-B67C-CCD6DA40BE38}" type="datetime1">
              <a:rPr lang="zh-TW" altLang="en-US"/>
              <a:pPr/>
              <a:t>2017/5/27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25074A-37F0-4FAD-B24D-F624AAF3D7F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947115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7E0836-9484-435F-8BEB-AE46D8ED3ECE}" type="datetime1">
              <a:rPr lang="zh-TW" altLang="en-US"/>
              <a:pPr/>
              <a:t>2017/5/27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4E512-5C6E-45A7-A234-6E981EAC48A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271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0A0DC5-2F80-4EA1-83E1-5045C0B8D76F}" type="datetime1">
              <a:rPr lang="zh-TW" altLang="en-US"/>
              <a:pPr/>
              <a:t>2017/5/27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00B3EC-912B-4A97-9D1B-0D1935A2F10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04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B61AE3-DD87-43ED-82F6-F5BC2B309D3E}" type="datetime1">
              <a:rPr lang="zh-TW" altLang="en-US"/>
              <a:pPr/>
              <a:t>2017/5/27</a:t>
            </a:fld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C9AAD8-648B-4CE9-89CA-F3599304E92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41671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DC4A20-E48F-4650-BDED-1EB45A4DC6FC}" type="datetime1">
              <a:rPr lang="zh-TW" altLang="en-US"/>
              <a:pPr/>
              <a:t>2017/5/27</a:t>
            </a:fld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654AD8-20E4-4517-B6E5-FAD74E68466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11234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902EED-8585-42B2-B6DC-A465846F8933}" type="datetime1">
              <a:rPr lang="zh-TW" altLang="en-US"/>
              <a:pPr/>
              <a:t>2017/5/27</a:t>
            </a:fld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54E336-3695-47B2-910C-086C4CD2C0B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92689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8180F4-9CE7-4A3E-8779-06FE76CB3565}" type="datetime1">
              <a:rPr lang="zh-TW" altLang="en-US"/>
              <a:pPr/>
              <a:t>2017/5/27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23848C-3E25-4921-B447-81BC96353D8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811855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711E62-3EA2-474E-AA6C-764E4B21DC46}" type="datetime1">
              <a:rPr lang="zh-TW" altLang="en-US"/>
              <a:pPr/>
              <a:t>2017/5/27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CF1A85-8D7A-4DD8-A7BA-5303F8ED846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168376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E56E3B-53FD-47E0-B77F-A21839FF0BF7}" type="datetime1">
              <a:rPr lang="zh-TW" altLang="en-US"/>
              <a:pPr/>
              <a:t>2017/5/27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BBEA21-1C0B-4D30-BF70-72854FC03E8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823841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F7C61B-0A90-4551-A89E-482945259139}" type="datetime1">
              <a:rPr lang="zh-TW" altLang="en-US"/>
              <a:pPr/>
              <a:t>2017/5/27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84F947-B1A6-4486-843F-07F90364259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2810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570" name="Rectangle 2"/>
          <p:cNvSpPr>
            <a:spLocks noChangeArrowheads="1"/>
          </p:cNvSpPr>
          <p:nvPr/>
        </p:nvSpPr>
        <p:spPr bwMode="auto">
          <a:xfrm>
            <a:off x="0" y="6310313"/>
            <a:ext cx="4572000" cy="547687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200" b="1" dirty="0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</a:rPr>
              <a:t>Computer-Aided Analysis on Energy and  </a:t>
            </a:r>
            <a:r>
              <a:rPr lang="en-US" altLang="zh-TW" sz="1200" b="1" dirty="0" err="1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</a:rPr>
              <a:t>Thermofluid</a:t>
            </a:r>
            <a:r>
              <a:rPr lang="en-US" altLang="zh-TW" sz="1200" b="1" dirty="0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</a:rPr>
              <a:t> Sciences</a:t>
            </a:r>
          </a:p>
          <a:p>
            <a:pPr algn="ctr">
              <a:defRPr/>
            </a:pPr>
            <a:r>
              <a:rPr lang="en-US" altLang="zh-TW" sz="1200" b="1" dirty="0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</a:rPr>
              <a:t>Y.C. Shih   Fall 2011</a:t>
            </a:r>
          </a:p>
        </p:txBody>
      </p:sp>
      <p:sp>
        <p:nvSpPr>
          <p:cNvPr id="1005571" name="Rectangle 3"/>
          <p:cNvSpPr>
            <a:spLocks noChangeArrowheads="1"/>
          </p:cNvSpPr>
          <p:nvPr/>
        </p:nvSpPr>
        <p:spPr bwMode="auto">
          <a:xfrm>
            <a:off x="4572000" y="6310313"/>
            <a:ext cx="4572000" cy="547687"/>
          </a:xfrm>
          <a:prstGeom prst="rect">
            <a:avLst/>
          </a:prstGeom>
          <a:solidFill>
            <a:srgbClr val="3217D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TW" sz="1800" b="1" dirty="0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</a:rPr>
              <a:t>Chapter 6: Basics of Finite Difference</a:t>
            </a:r>
          </a:p>
        </p:txBody>
      </p:sp>
      <p:sp>
        <p:nvSpPr>
          <p:cNvPr id="1005572" name="Rectangle 4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3217D1"/>
              </a:gs>
              <a:gs pos="100000">
                <a:schemeClr val="tx2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title style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806450" indent="-34925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255713" indent="-334963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sz="2400">
          <a:solidFill>
            <a:schemeClr val="tx1"/>
          </a:solidFill>
          <a:latin typeface="+mn-lt"/>
        </a:defRPr>
      </a:lvl3pPr>
      <a:lvl4pPr marL="1720850" indent="-349250" algn="l" rtl="0" eaLnBrk="0" fontAlgn="base" hangingPunct="0">
        <a:spcBef>
          <a:spcPct val="20000"/>
        </a:spcBef>
        <a:spcAft>
          <a:spcPct val="0"/>
        </a:spcAft>
        <a:buBlip>
          <a:blip r:embed="rId17"/>
        </a:buBlip>
        <a:defRPr sz="2000">
          <a:solidFill>
            <a:schemeClr val="tx1"/>
          </a:solidFill>
          <a:latin typeface="+mn-lt"/>
        </a:defRPr>
      </a:lvl4pPr>
      <a:lvl5pPr marL="2170113" indent="-334963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627313" indent="-334963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3084513" indent="-334963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541713" indent="-334963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998913" indent="-334963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987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ED7CC4EF-D91F-40E2-9F31-7559F18704B4}" type="datetime1">
              <a:rPr lang="zh-TW" altLang="en-US"/>
              <a:pPr/>
              <a:t>2017/5/27</a:t>
            </a:fld>
            <a:endParaRPr lang="en-US" altLang="zh-TW"/>
          </a:p>
        </p:txBody>
      </p:sp>
      <p:sp>
        <p:nvSpPr>
          <p:cNvPr id="109875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TW"/>
          </a:p>
        </p:txBody>
      </p:sp>
      <p:sp>
        <p:nvSpPr>
          <p:cNvPr id="109875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E5A521C-BC0C-48D9-B661-3FDEF6A3E8AE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32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28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3200" smtClean="0">
                <a:ea typeface="新細明體" pitchFamily="18" charset="-120"/>
              </a:rPr>
              <a:t/>
            </a:r>
            <a:br>
              <a:rPr lang="en-US" altLang="zh-TW" sz="3200" smtClean="0">
                <a:ea typeface="新細明體" pitchFamily="18" charset="-120"/>
              </a:rPr>
            </a:br>
            <a:r>
              <a:rPr lang="en-US" altLang="zh-TW" sz="3200" b="1" smtClean="0">
                <a:latin typeface="Times New Roman" pitchFamily="18" charset="0"/>
                <a:ea typeface="新細明體" pitchFamily="18" charset="-120"/>
              </a:rPr>
              <a:t>Chapter 6 Basics of Finite Difference</a:t>
            </a:r>
            <a:r>
              <a:rPr lang="en-US" altLang="zh-TW" b="1" smtClean="0">
                <a:ea typeface="新細明體" pitchFamily="18" charset="-120"/>
              </a:rPr>
              <a:t/>
            </a:r>
            <a:br>
              <a:rPr lang="en-US" altLang="zh-TW" b="1" smtClean="0">
                <a:ea typeface="新細明體" pitchFamily="18" charset="-120"/>
              </a:rPr>
            </a:br>
            <a:endParaRPr lang="en-US" altLang="zh-TW" b="1" smtClean="0">
              <a:ea typeface="新細明體" pitchFamily="18" charset="-120"/>
            </a:endParaRPr>
          </a:p>
        </p:txBody>
      </p:sp>
      <p:sp>
        <p:nvSpPr>
          <p:cNvPr id="122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534400" cy="4830763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zh-TW" b="1" smtClean="0">
                <a:latin typeface="Times New Roman" pitchFamily="18" charset="0"/>
                <a:ea typeface="新細明體" pitchFamily="18" charset="-120"/>
              </a:rPr>
              <a:t>OUTLINE</a:t>
            </a:r>
          </a:p>
          <a:p>
            <a:pPr eaLnBrk="1" hangingPunct="1">
              <a:buFontTx/>
              <a:buNone/>
            </a:pPr>
            <a:r>
              <a:rPr lang="en-US" altLang="zh-TW" b="1" smtClean="0">
                <a:latin typeface="Times New Roman" pitchFamily="18" charset="0"/>
                <a:ea typeface="新細明體" pitchFamily="18" charset="-120"/>
              </a:rPr>
              <a:t>6.1 Components of Numerical Methods</a:t>
            </a:r>
          </a:p>
          <a:p>
            <a:pPr eaLnBrk="1" hangingPunct="1">
              <a:buFontTx/>
              <a:buNone/>
            </a:pPr>
            <a:r>
              <a:rPr lang="en-US" altLang="zh-TW" b="1" smtClean="0">
                <a:latin typeface="Times New Roman" pitchFamily="18" charset="0"/>
                <a:ea typeface="新細明體" pitchFamily="18" charset="-120"/>
              </a:rPr>
              <a:t>6.2 Introduction to Finite Difference</a:t>
            </a:r>
          </a:p>
          <a:p>
            <a:pPr eaLnBrk="1" hangingPunct="1">
              <a:buFontTx/>
              <a:buNone/>
            </a:pPr>
            <a:r>
              <a:rPr lang="en-US" altLang="zh-TW" b="1" smtClean="0">
                <a:latin typeface="Times New Roman" pitchFamily="18" charset="0"/>
                <a:ea typeface="新細明體" pitchFamily="18" charset="-120"/>
              </a:rPr>
              <a:t>6-3 Errors Involved in Numerical Solutions</a:t>
            </a:r>
          </a:p>
          <a:p>
            <a:pPr eaLnBrk="1" hangingPunct="1">
              <a:buFontTx/>
              <a:buNone/>
            </a:pPr>
            <a:r>
              <a:rPr lang="en-US" altLang="zh-TW" b="1" smtClean="0">
                <a:latin typeface="Times New Roman" pitchFamily="18" charset="0"/>
                <a:ea typeface="新細明體" pitchFamily="18" charset="-120"/>
              </a:rPr>
              <a:t>6-4 Example</a:t>
            </a:r>
          </a:p>
          <a:p>
            <a:pPr eaLnBrk="1" hangingPunct="1">
              <a:buFontTx/>
              <a:buNone/>
            </a:pPr>
            <a:endParaRPr lang="en-US" altLang="zh-TW" b="1" smtClean="0">
              <a:ea typeface="新細明體" pitchFamily="18" charset="-120"/>
            </a:endParaRPr>
          </a:p>
          <a:p>
            <a:pPr eaLnBrk="1" hangingPunct="1"/>
            <a:endParaRPr lang="en-US" altLang="zh-TW" sz="3600" smtClean="0">
              <a:ea typeface="新細明體" pitchFamily="18" charset="-120"/>
            </a:endParaRPr>
          </a:p>
        </p:txBody>
      </p:sp>
      <p:pic>
        <p:nvPicPr>
          <p:cNvPr id="1229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0" t="2856" r="1538" b="6667"/>
          <a:stretch>
            <a:fillRect/>
          </a:stretch>
        </p:blipFill>
        <p:spPr bwMode="auto">
          <a:xfrm>
            <a:off x="0" y="0"/>
            <a:ext cx="118745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0"/>
            <a:ext cx="1187450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610600" cy="1143000"/>
          </a:xfrm>
        </p:spPr>
        <p:txBody>
          <a:bodyPr/>
          <a:lstStyle/>
          <a:p>
            <a:pPr algn="ctr" eaLnBrk="1" hangingPunct="1"/>
            <a:r>
              <a:rPr lang="en-US" altLang="zh-TW" b="1" smtClean="0">
                <a:latin typeface="Times New Roman" pitchFamily="18" charset="0"/>
                <a:ea typeface="新細明體" pitchFamily="18" charset="-120"/>
              </a:rPr>
              <a:t>6.1 Components of numerical methods (3) </a:t>
            </a:r>
            <a:r>
              <a:rPr lang="en-US" altLang="zh-TW" sz="3200" i="1" smtClean="0">
                <a:latin typeface="Times New Roman" pitchFamily="18" charset="0"/>
                <a:ea typeface="新細明體" pitchFamily="18" charset="-120"/>
              </a:rPr>
              <a:t>Discretization methods (Finite Difference)-1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924800" cy="4897438"/>
          </a:xfrm>
          <a:noFill/>
        </p:spPr>
        <p:txBody>
          <a:bodyPr/>
          <a:lstStyle/>
          <a:p>
            <a:pPr eaLnBrk="1" hangingPunct="1">
              <a:buClr>
                <a:schemeClr val="tx2"/>
              </a:buClr>
              <a:buSzPct val="135000"/>
              <a:buFontTx/>
              <a:buChar char="•"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First step in obtaining a numerical solution is to discretize the geometric domain</a:t>
            </a:r>
            <a:r>
              <a:rPr lang="en-US" altLang="zh-TW" sz="2400" smtClean="0">
                <a:latin typeface="Times New Roman" pitchFamily="18" charset="0"/>
                <a:ea typeface="新細明體" pitchFamily="18" charset="-120"/>
                <a:sym typeface="Wingdings" pitchFamily="2" charset="2"/>
              </a:rPr>
              <a:t> to define a numerical grid</a:t>
            </a:r>
          </a:p>
          <a:p>
            <a:pPr eaLnBrk="1" hangingPunct="1">
              <a:buClr>
                <a:schemeClr val="tx2"/>
              </a:buClr>
              <a:buSzPct val="135000"/>
              <a:buFontTx/>
              <a:buChar char="•"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  <a:sym typeface="Wingdings" pitchFamily="2" charset="2"/>
              </a:rPr>
              <a:t>Each node has one unknown and need one algebraic equation, which is a relation between the variable value at that node and those at some of the neighboring nodes.</a:t>
            </a:r>
          </a:p>
          <a:p>
            <a:pPr eaLnBrk="1" hangingPunct="1">
              <a:buClr>
                <a:schemeClr val="tx2"/>
              </a:buClr>
              <a:buSzPct val="135000"/>
              <a:buFontTx/>
              <a:buChar char="•"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  <a:sym typeface="Wingdings" pitchFamily="2" charset="2"/>
              </a:rPr>
              <a:t>The </a:t>
            </a:r>
            <a:r>
              <a:rPr lang="en-US" altLang="zh-TW" sz="2400" smtClean="0">
                <a:solidFill>
                  <a:srgbClr val="FF0000"/>
                </a:solidFill>
                <a:latin typeface="Times New Roman" pitchFamily="18" charset="0"/>
                <a:ea typeface="新細明體" pitchFamily="18" charset="-120"/>
                <a:sym typeface="Wingdings" pitchFamily="2" charset="2"/>
              </a:rPr>
              <a:t>approach</a:t>
            </a:r>
            <a:r>
              <a:rPr lang="en-US" altLang="zh-TW" sz="2400" smtClean="0">
                <a:latin typeface="Times New Roman" pitchFamily="18" charset="0"/>
                <a:ea typeface="新細明體" pitchFamily="18" charset="-120"/>
                <a:sym typeface="Wingdings" pitchFamily="2" charset="2"/>
              </a:rPr>
              <a:t> is to replace each term of the PDE at the particular node by a finite-difference approximation.</a:t>
            </a:r>
          </a:p>
          <a:p>
            <a:pPr eaLnBrk="1" hangingPunct="1">
              <a:buClr>
                <a:schemeClr val="tx2"/>
              </a:buClr>
              <a:buSzPct val="135000"/>
              <a:buFontTx/>
              <a:buChar char="•"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  <a:sym typeface="Wingdings" pitchFamily="2" charset="2"/>
              </a:rPr>
              <a:t>Numbers of equations and unknowns must be equal </a:t>
            </a:r>
            <a:endParaRPr lang="en-US" altLang="zh-TW" sz="24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buClr>
                <a:schemeClr val="tx2"/>
              </a:buClr>
              <a:buSzPct val="135000"/>
              <a:buFontTx/>
              <a:buNone/>
            </a:pPr>
            <a:r>
              <a:rPr lang="en-US" altLang="zh-TW" sz="2800" smtClean="0">
                <a:latin typeface="Times New Roman" pitchFamily="18" charset="0"/>
                <a:ea typeface="新細明體" pitchFamily="18" charset="-120"/>
              </a:rPr>
              <a:t>  </a:t>
            </a:r>
            <a:endParaRPr lang="en-US" altLang="zh-TW" sz="2400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3316" name="Text Box 5"/>
          <p:cNvSpPr txBox="1">
            <a:spLocks noChangeArrowheads="1"/>
          </p:cNvSpPr>
          <p:nvPr/>
        </p:nvSpPr>
        <p:spPr bwMode="auto">
          <a:xfrm>
            <a:off x="8610600" y="5867400"/>
            <a:ext cx="457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1200">
                <a:ea typeface="新細明體" pitchFamily="18" charset="-120"/>
              </a:rPr>
              <a:t>6-3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ChangeArrowheads="1"/>
          </p:cNvSpPr>
          <p:nvPr/>
        </p:nvSpPr>
        <p:spPr bwMode="auto">
          <a:xfrm>
            <a:off x="609600" y="5334000"/>
            <a:ext cx="38100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032" name="Rectangle 3"/>
          <p:cNvSpPr>
            <a:spLocks noChangeArrowheads="1"/>
          </p:cNvSpPr>
          <p:nvPr/>
        </p:nvSpPr>
        <p:spPr bwMode="auto">
          <a:xfrm>
            <a:off x="152400" y="4495800"/>
            <a:ext cx="81534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033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-76200"/>
            <a:ext cx="8534400" cy="1143000"/>
          </a:xfrm>
        </p:spPr>
        <p:txBody>
          <a:bodyPr/>
          <a:lstStyle/>
          <a:p>
            <a:pPr algn="ctr" eaLnBrk="1" hangingPunct="1"/>
            <a:r>
              <a:rPr lang="en-US" altLang="zh-TW" b="1" smtClean="0">
                <a:latin typeface="Times New Roman" pitchFamily="18" charset="0"/>
                <a:ea typeface="新細明體" pitchFamily="18" charset="-120"/>
              </a:rPr>
              <a:t>6.1 Components of numerical methods (4) </a:t>
            </a:r>
            <a:r>
              <a:rPr lang="en-US" altLang="zh-TW" sz="3200" smtClean="0">
                <a:latin typeface="Times New Roman" pitchFamily="18" charset="0"/>
                <a:ea typeface="新細明體" pitchFamily="18" charset="-120"/>
              </a:rPr>
              <a:t/>
            </a:r>
            <a:br>
              <a:rPr lang="en-US" altLang="zh-TW" sz="3200" smtClean="0">
                <a:latin typeface="Times New Roman" pitchFamily="18" charset="0"/>
                <a:ea typeface="新細明體" pitchFamily="18" charset="-120"/>
              </a:rPr>
            </a:br>
            <a:r>
              <a:rPr lang="en-US" altLang="zh-TW" sz="3200" i="1" smtClean="0">
                <a:latin typeface="Times New Roman" pitchFamily="18" charset="0"/>
                <a:ea typeface="新細明體" pitchFamily="18" charset="-120"/>
              </a:rPr>
              <a:t>Discretization methods (Finite Difference)-2</a:t>
            </a:r>
          </a:p>
        </p:txBody>
      </p:sp>
      <p:sp>
        <p:nvSpPr>
          <p:cNvPr id="1034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066800"/>
            <a:ext cx="7467600" cy="7620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2"/>
              </a:buClr>
              <a:buSzPct val="135000"/>
              <a:buFontTx/>
              <a:buChar char="•"/>
            </a:pPr>
            <a:r>
              <a:rPr lang="en-US" altLang="zh-TW" sz="2000" smtClean="0">
                <a:solidFill>
                  <a:srgbClr val="FF0000"/>
                </a:solidFill>
                <a:latin typeface="Times New Roman" pitchFamily="18" charset="0"/>
                <a:ea typeface="新細明體" pitchFamily="18" charset="-120"/>
              </a:rPr>
              <a:t>Taylor Series Expansion</a:t>
            </a: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: Any continuous differentiable function, in the vicinity of x</a:t>
            </a:r>
            <a:r>
              <a:rPr lang="en-US" altLang="zh-TW" sz="2000" baseline="-25000" smtClean="0">
                <a:latin typeface="Times New Roman" pitchFamily="18" charset="0"/>
                <a:ea typeface="新細明體" pitchFamily="18" charset="-120"/>
              </a:rPr>
              <a:t>i</a:t>
            </a: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sz="2000" i="1" smtClean="0">
                <a:latin typeface="Times New Roman" pitchFamily="18" charset="0"/>
                <a:ea typeface="新細明體" pitchFamily="18" charset="-120"/>
              </a:rPr>
              <a:t>, </a:t>
            </a: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can be expressed as a Taylor series:</a:t>
            </a:r>
          </a:p>
        </p:txBody>
      </p:sp>
      <p:graphicFrame>
        <p:nvGraphicFramePr>
          <p:cNvPr id="1026" name="Object 6"/>
          <p:cNvGraphicFramePr>
            <a:graphicFrameLocks noChangeAspect="1"/>
          </p:cNvGraphicFramePr>
          <p:nvPr>
            <p:ph sz="half" idx="2"/>
          </p:nvPr>
        </p:nvGraphicFramePr>
        <p:xfrm>
          <a:off x="152400" y="1828800"/>
          <a:ext cx="88392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3" imgW="5702040" imgH="482400" progId="Equation.3">
                  <p:embed/>
                </p:oleObj>
              </mc:Choice>
              <mc:Fallback>
                <p:oleObj name="Equation" r:id="rId3" imgW="5702040" imgH="482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828800"/>
                        <a:ext cx="88392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7"/>
          <p:cNvGraphicFramePr>
            <a:graphicFrameLocks noChangeAspect="1"/>
          </p:cNvGraphicFramePr>
          <p:nvPr/>
        </p:nvGraphicFramePr>
        <p:xfrm>
          <a:off x="1676400" y="2590800"/>
          <a:ext cx="5926138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Equation" r:id="rId5" imgW="3822480" imgH="482400" progId="Equation.3">
                  <p:embed/>
                </p:oleObj>
              </mc:Choice>
              <mc:Fallback>
                <p:oleObj name="Equation" r:id="rId5" imgW="3822480" imgH="482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590800"/>
                        <a:ext cx="5926138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5" name="Rectangle 8"/>
          <p:cNvSpPr>
            <a:spLocks noChangeArrowheads="1"/>
          </p:cNvSpPr>
          <p:nvPr/>
        </p:nvSpPr>
        <p:spPr bwMode="auto">
          <a:xfrm>
            <a:off x="838200" y="33528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135000"/>
              <a:buFontTx/>
              <a:buChar char="•"/>
            </a:pPr>
            <a:r>
              <a:rPr lang="en-US" altLang="zh-TW" sz="2000">
                <a:latin typeface="Times New Roman" pitchFamily="18" charset="0"/>
                <a:ea typeface="新細明體" pitchFamily="18" charset="-120"/>
              </a:rPr>
              <a:t>Higher order derivatives are unknown and can be dropped when the distance between grid points is small.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135000"/>
              <a:buFontTx/>
              <a:buChar char="•"/>
            </a:pPr>
            <a:r>
              <a:rPr lang="en-US" altLang="zh-TW" sz="2000">
                <a:latin typeface="Times New Roman" pitchFamily="18" charset="0"/>
                <a:ea typeface="新細明體" pitchFamily="18" charset="-120"/>
              </a:rPr>
              <a:t>By writing Taylor series at different nodes, x</a:t>
            </a:r>
            <a:r>
              <a:rPr lang="en-US" altLang="zh-TW" sz="2000" baseline="-25000">
                <a:latin typeface="Times New Roman" pitchFamily="18" charset="0"/>
                <a:ea typeface="新細明體" pitchFamily="18" charset="-120"/>
              </a:rPr>
              <a:t>i-1</a:t>
            </a:r>
            <a:r>
              <a:rPr lang="en-US" altLang="zh-TW" sz="2000">
                <a:latin typeface="Times New Roman" pitchFamily="18" charset="0"/>
                <a:ea typeface="新細明體" pitchFamily="18" charset="-120"/>
              </a:rPr>
              <a:t>, x</a:t>
            </a:r>
            <a:r>
              <a:rPr lang="en-US" altLang="zh-TW" sz="2000" baseline="-25000">
                <a:latin typeface="Times New Roman" pitchFamily="18" charset="0"/>
                <a:ea typeface="新細明體" pitchFamily="18" charset="-120"/>
              </a:rPr>
              <a:t>i+1</a:t>
            </a:r>
            <a:r>
              <a:rPr lang="en-US" altLang="zh-TW" sz="2000">
                <a:latin typeface="Times New Roman" pitchFamily="18" charset="0"/>
                <a:ea typeface="新細明體" pitchFamily="18" charset="-120"/>
              </a:rPr>
              <a:t>, or both x</a:t>
            </a:r>
            <a:r>
              <a:rPr lang="en-US" altLang="zh-TW" sz="2000" baseline="-25000">
                <a:latin typeface="Times New Roman" pitchFamily="18" charset="0"/>
                <a:ea typeface="新細明體" pitchFamily="18" charset="-120"/>
              </a:rPr>
              <a:t>i-1</a:t>
            </a:r>
            <a:r>
              <a:rPr lang="en-US" altLang="zh-TW" sz="2000">
                <a:latin typeface="Times New Roman" pitchFamily="18" charset="0"/>
                <a:ea typeface="新細明體" pitchFamily="18" charset="-120"/>
              </a:rPr>
              <a:t> and x</a:t>
            </a:r>
            <a:r>
              <a:rPr lang="en-US" altLang="zh-TW" sz="2000" baseline="-25000">
                <a:latin typeface="Times New Roman" pitchFamily="18" charset="0"/>
                <a:ea typeface="新細明體" pitchFamily="18" charset="-120"/>
              </a:rPr>
              <a:t>i+1</a:t>
            </a:r>
            <a:r>
              <a:rPr lang="en-US" altLang="zh-TW" sz="2000">
                <a:latin typeface="Times New Roman" pitchFamily="18" charset="0"/>
                <a:ea typeface="新細明體" pitchFamily="18" charset="-120"/>
              </a:rPr>
              <a:t>, we can have:</a:t>
            </a:r>
          </a:p>
        </p:txBody>
      </p:sp>
      <p:graphicFrame>
        <p:nvGraphicFramePr>
          <p:cNvPr id="1028" name="Object 9"/>
          <p:cNvGraphicFramePr>
            <a:graphicFrameLocks noChangeAspect="1"/>
          </p:cNvGraphicFramePr>
          <p:nvPr/>
        </p:nvGraphicFramePr>
        <p:xfrm>
          <a:off x="762000" y="4648200"/>
          <a:ext cx="185102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7" imgW="1193760" imgH="444240" progId="Equation.3">
                  <p:embed/>
                </p:oleObj>
              </mc:Choice>
              <mc:Fallback>
                <p:oleObj name="Equation" r:id="rId7" imgW="1193760" imgH="444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648200"/>
                        <a:ext cx="1851025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10"/>
          <p:cNvGraphicFramePr>
            <a:graphicFrameLocks noChangeAspect="1"/>
          </p:cNvGraphicFramePr>
          <p:nvPr/>
        </p:nvGraphicFramePr>
        <p:xfrm>
          <a:off x="4648200" y="4572000"/>
          <a:ext cx="185102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Equation" r:id="rId9" imgW="1193760" imgH="444240" progId="Equation.3">
                  <p:embed/>
                </p:oleObj>
              </mc:Choice>
              <mc:Fallback>
                <p:oleObj name="Equation" r:id="rId9" imgW="1193760" imgH="4442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572000"/>
                        <a:ext cx="1851025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11"/>
          <p:cNvGraphicFramePr>
            <a:graphicFrameLocks noChangeAspect="1"/>
          </p:cNvGraphicFramePr>
          <p:nvPr/>
        </p:nvGraphicFramePr>
        <p:xfrm>
          <a:off x="609600" y="5410200"/>
          <a:ext cx="1970088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Equation" r:id="rId11" imgW="1269720" imgH="444240" progId="Equation.3">
                  <p:embed/>
                </p:oleObj>
              </mc:Choice>
              <mc:Fallback>
                <p:oleObj name="Equation" r:id="rId11" imgW="1269720" imgH="4442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410200"/>
                        <a:ext cx="1970088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2667000" y="4724400"/>
            <a:ext cx="1879600" cy="457200"/>
          </a:xfrm>
          <a:prstGeom prst="rect">
            <a:avLst/>
          </a:prstGeom>
          <a:solidFill>
            <a:srgbClr val="33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</a:rPr>
              <a:t>Forward-FDS</a:t>
            </a:r>
          </a:p>
        </p:txBody>
      </p:sp>
      <p:sp>
        <p:nvSpPr>
          <p:cNvPr id="1037" name="Text Box 13"/>
          <p:cNvSpPr txBox="1">
            <a:spLocks noChangeArrowheads="1"/>
          </p:cNvSpPr>
          <p:nvPr/>
        </p:nvSpPr>
        <p:spPr bwMode="auto">
          <a:xfrm>
            <a:off x="6553200" y="4724400"/>
            <a:ext cx="2081213" cy="457200"/>
          </a:xfrm>
          <a:prstGeom prst="rect">
            <a:avLst/>
          </a:prstGeom>
          <a:solidFill>
            <a:srgbClr val="33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</a:rPr>
              <a:t>Backward-FDS</a:t>
            </a:r>
          </a:p>
        </p:txBody>
      </p:sp>
      <p:sp>
        <p:nvSpPr>
          <p:cNvPr id="1038" name="Text Box 14"/>
          <p:cNvSpPr txBox="1">
            <a:spLocks noChangeArrowheads="1"/>
          </p:cNvSpPr>
          <p:nvPr/>
        </p:nvSpPr>
        <p:spPr bwMode="auto">
          <a:xfrm>
            <a:off x="2667000" y="5638800"/>
            <a:ext cx="1741488" cy="457200"/>
          </a:xfrm>
          <a:prstGeom prst="rect">
            <a:avLst/>
          </a:prstGeom>
          <a:solidFill>
            <a:srgbClr val="33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</a:rPr>
              <a:t>Central-FDS</a:t>
            </a:r>
          </a:p>
        </p:txBody>
      </p:sp>
      <p:sp>
        <p:nvSpPr>
          <p:cNvPr id="1039" name="Line 15"/>
          <p:cNvSpPr>
            <a:spLocks noChangeShapeType="1"/>
          </p:cNvSpPr>
          <p:nvPr/>
        </p:nvSpPr>
        <p:spPr bwMode="auto">
          <a:xfrm flipH="1" flipV="1">
            <a:off x="4495800" y="5181600"/>
            <a:ext cx="304800" cy="3048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auto">
          <a:xfrm>
            <a:off x="4648200" y="5410200"/>
            <a:ext cx="38862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FF0000"/>
                </a:solidFill>
                <a:latin typeface="Times New Roman" pitchFamily="18" charset="0"/>
                <a:ea typeface="新細明體" pitchFamily="18" charset="-120"/>
              </a:rPr>
              <a:t>1</a:t>
            </a:r>
            <a:r>
              <a:rPr lang="en-US" altLang="zh-TW" sz="2000" baseline="30000">
                <a:solidFill>
                  <a:srgbClr val="FF0000"/>
                </a:solidFill>
                <a:latin typeface="Times New Roman" pitchFamily="18" charset="0"/>
                <a:ea typeface="新細明體" pitchFamily="18" charset="-120"/>
              </a:rPr>
              <a:t>st</a:t>
            </a:r>
            <a:r>
              <a:rPr lang="en-US" altLang="zh-TW" sz="2000">
                <a:solidFill>
                  <a:srgbClr val="FF0000"/>
                </a:solidFill>
                <a:latin typeface="Times New Roman" pitchFamily="18" charset="0"/>
                <a:ea typeface="新細明體" pitchFamily="18" charset="-120"/>
              </a:rPr>
              <a:t> order, order of accuracy P</a:t>
            </a:r>
            <a:r>
              <a:rPr lang="en-US" altLang="zh-TW" sz="2000" baseline="-25000">
                <a:solidFill>
                  <a:srgbClr val="FF0000"/>
                </a:solidFill>
                <a:latin typeface="Times New Roman" pitchFamily="18" charset="0"/>
                <a:ea typeface="新細明體" pitchFamily="18" charset="-120"/>
              </a:rPr>
              <a:t>kest</a:t>
            </a:r>
            <a:r>
              <a:rPr lang="en-US" altLang="zh-TW" sz="2000">
                <a:solidFill>
                  <a:srgbClr val="FF0000"/>
                </a:solidFill>
                <a:latin typeface="Times New Roman" pitchFamily="18" charset="0"/>
                <a:ea typeface="新細明體" pitchFamily="18" charset="-120"/>
              </a:rPr>
              <a:t>=1</a:t>
            </a:r>
          </a:p>
        </p:txBody>
      </p:sp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4648200" y="5867400"/>
            <a:ext cx="3886200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FF0000"/>
                </a:solidFill>
                <a:latin typeface="Times New Roman" pitchFamily="18" charset="0"/>
                <a:ea typeface="新細明體" pitchFamily="18" charset="-120"/>
              </a:rPr>
              <a:t>2</a:t>
            </a:r>
            <a:r>
              <a:rPr lang="en-US" altLang="zh-TW" sz="2000" baseline="30000">
                <a:solidFill>
                  <a:srgbClr val="FF0000"/>
                </a:solidFill>
                <a:latin typeface="Times New Roman" pitchFamily="18" charset="0"/>
                <a:ea typeface="新細明體" pitchFamily="18" charset="-120"/>
              </a:rPr>
              <a:t>nd</a:t>
            </a:r>
            <a:r>
              <a:rPr lang="en-US" altLang="zh-TW" sz="2000">
                <a:solidFill>
                  <a:srgbClr val="FF0000"/>
                </a:solidFill>
                <a:latin typeface="Times New Roman" pitchFamily="18" charset="0"/>
                <a:ea typeface="新細明體" pitchFamily="18" charset="-120"/>
              </a:rPr>
              <a:t> order, order of accuracy P</a:t>
            </a:r>
            <a:r>
              <a:rPr lang="en-US" altLang="zh-TW" sz="2000" baseline="-25000">
                <a:solidFill>
                  <a:srgbClr val="FF0000"/>
                </a:solidFill>
                <a:latin typeface="Times New Roman" pitchFamily="18" charset="0"/>
                <a:ea typeface="新細明體" pitchFamily="18" charset="-120"/>
              </a:rPr>
              <a:t>kest</a:t>
            </a:r>
            <a:r>
              <a:rPr lang="en-US" altLang="zh-TW" sz="2000">
                <a:solidFill>
                  <a:srgbClr val="FF0000"/>
                </a:solidFill>
                <a:latin typeface="Times New Roman" pitchFamily="18" charset="0"/>
                <a:ea typeface="新細明體" pitchFamily="18" charset="-120"/>
              </a:rPr>
              <a:t>=1</a:t>
            </a:r>
          </a:p>
        </p:txBody>
      </p:sp>
      <p:sp>
        <p:nvSpPr>
          <p:cNvPr id="1042" name="Line 18"/>
          <p:cNvSpPr>
            <a:spLocks noChangeShapeType="1"/>
          </p:cNvSpPr>
          <p:nvPr/>
        </p:nvSpPr>
        <p:spPr bwMode="auto">
          <a:xfrm flipH="1" flipV="1">
            <a:off x="4419600" y="5943600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43" name="Text Box 19"/>
          <p:cNvSpPr txBox="1">
            <a:spLocks noChangeArrowheads="1"/>
          </p:cNvSpPr>
          <p:nvPr/>
        </p:nvSpPr>
        <p:spPr bwMode="auto">
          <a:xfrm>
            <a:off x="8610600" y="5867400"/>
            <a:ext cx="457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1200">
                <a:ea typeface="新細明體" pitchFamily="18" charset="-120"/>
              </a:rPr>
              <a:t>6-4</a:t>
            </a:r>
          </a:p>
        </p:txBody>
      </p:sp>
      <p:sp>
        <p:nvSpPr>
          <p:cNvPr id="1044" name="Line 20"/>
          <p:cNvSpPr>
            <a:spLocks noChangeShapeType="1"/>
          </p:cNvSpPr>
          <p:nvPr/>
        </p:nvSpPr>
        <p:spPr bwMode="auto">
          <a:xfrm flipV="1">
            <a:off x="7010400" y="5181600"/>
            <a:ext cx="1524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991600" cy="792163"/>
          </a:xfrm>
        </p:spPr>
        <p:txBody>
          <a:bodyPr/>
          <a:lstStyle/>
          <a:p>
            <a:pPr algn="ctr" eaLnBrk="1" hangingPunct="1"/>
            <a:r>
              <a:rPr lang="en-US" altLang="zh-TW" sz="2800" b="1" smtClean="0">
                <a:latin typeface="Times New Roman" pitchFamily="18" charset="0"/>
                <a:ea typeface="新細明體" pitchFamily="18" charset="-120"/>
              </a:rPr>
              <a:t>6-2 Introduction to Finite Difference (1)</a:t>
            </a:r>
            <a:endParaRPr lang="zh-TW" altLang="en-US" sz="2800" b="1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Numerical solutions can give answers at only discrete points in the domain, called grid points.</a:t>
            </a:r>
          </a:p>
          <a:p>
            <a:pPr eaLnBrk="1" hangingPunct="1">
              <a:lnSpc>
                <a:spcPct val="90000"/>
              </a:lnSpc>
            </a:pPr>
            <a:endParaRPr lang="en-US" altLang="zh-TW" sz="2000" smtClean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000" smtClean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000" smtClean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000" smtClean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000" smtClean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000" smtClean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000" smtClean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If the PDEs are totally replaced by a system of algebraic equations which can be solved for the values of the flow-field variables at the discrete points only, in this sense, the original PDEs have been discretized. Moreover, this method of discretization is called the method of finite differences.</a:t>
            </a:r>
          </a:p>
        </p:txBody>
      </p:sp>
      <p:pic>
        <p:nvPicPr>
          <p:cNvPr id="1434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600200"/>
            <a:ext cx="3581400" cy="268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Text Box 6"/>
          <p:cNvSpPr txBox="1">
            <a:spLocks noChangeArrowheads="1"/>
          </p:cNvSpPr>
          <p:nvPr/>
        </p:nvSpPr>
        <p:spPr bwMode="auto">
          <a:xfrm>
            <a:off x="8610600" y="5867400"/>
            <a:ext cx="457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1200">
                <a:ea typeface="新細明體" pitchFamily="18" charset="-120"/>
              </a:rPr>
              <a:t>6-5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2800" b="1" smtClean="0">
                <a:latin typeface="Times New Roman" pitchFamily="18" charset="0"/>
                <a:ea typeface="新細明體" pitchFamily="18" charset="-120"/>
              </a:rPr>
              <a:t>6-2 Introduction to Finite Difference (2)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A partial derivative replaced with a suitable algebraic difference quotient is called finite difference. Most finite-difference representations of derivatives are based on Taylor’s series expansion.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Taylor’s series expansion: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Consider a continuous function of x, namely, f(x), with all derivatives defined at </a:t>
            </a:r>
            <a:r>
              <a:rPr lang="en-US" altLang="zh-TW" sz="2000" i="1" smtClean="0">
                <a:latin typeface="Times New Roman" pitchFamily="18" charset="0"/>
                <a:ea typeface="新細明體" pitchFamily="18" charset="-120"/>
              </a:rPr>
              <a:t>x</a:t>
            </a: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. Then, the value of f at a location              can be estimated from a Taylor series expanded about point x, that is,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In general, to obtain more accuracy, additional higher-order terms must be included.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ea typeface="新細明體" pitchFamily="18" charset="-120"/>
              </a:rPr>
              <a:t>		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6096000" y="3124200"/>
          <a:ext cx="685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3" imgW="431640" imgH="177480" progId="Equation.3">
                  <p:embed/>
                </p:oleObj>
              </mc:Choice>
              <mc:Fallback>
                <p:oleObj name="Equation" r:id="rId3" imgW="431640" imgH="177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124200"/>
                        <a:ext cx="685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"/>
          <p:cNvGraphicFramePr>
            <a:graphicFrameLocks noChangeAspect="1"/>
          </p:cNvGraphicFramePr>
          <p:nvPr/>
        </p:nvGraphicFramePr>
        <p:xfrm>
          <a:off x="685800" y="3733800"/>
          <a:ext cx="8153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5" imgW="4711680" imgH="419040" progId="Equation.3">
                  <p:embed/>
                </p:oleObj>
              </mc:Choice>
              <mc:Fallback>
                <p:oleObj name="Equation" r:id="rId5" imgW="4711680" imgH="419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733800"/>
                        <a:ext cx="8153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8610600" y="5867400"/>
            <a:ext cx="457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1200">
                <a:ea typeface="新細明體" pitchFamily="18" charset="-120"/>
              </a:rPr>
              <a:t>6-6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2800" b="1" smtClean="0">
                <a:latin typeface="Times New Roman" pitchFamily="18" charset="0"/>
                <a:ea typeface="新細明體" pitchFamily="18" charset="-120"/>
              </a:rPr>
              <a:t>6-2 Introduction to Finite Difference (3)</a:t>
            </a:r>
            <a:endParaRPr lang="zh-TW" altLang="en-US" sz="2800" b="1" smtClean="0">
              <a:latin typeface="Times New Roman" pitchFamily="18" charset="0"/>
              <a:ea typeface="新細明體" pitchFamily="18" charset="-120"/>
            </a:endParaRPr>
          </a:p>
        </p:txBody>
      </p:sp>
      <p:pic>
        <p:nvPicPr>
          <p:cNvPr id="15363" name="Picture 4"/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1540000">
            <a:off x="2490788" y="1454150"/>
            <a:ext cx="4283075" cy="4640263"/>
          </a:xfrm>
          <a:noFill/>
        </p:spPr>
      </p:pic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8610600" y="5867400"/>
            <a:ext cx="457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1200">
                <a:ea typeface="新細明體" pitchFamily="18" charset="-120"/>
              </a:rPr>
              <a:t>6-7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2800" b="1" smtClean="0">
                <a:latin typeface="Times New Roman" pitchFamily="18" charset="0"/>
                <a:ea typeface="新細明體" pitchFamily="18" charset="-120"/>
              </a:rPr>
              <a:t>6-2 Introduction to Finite Difference (4)</a:t>
            </a:r>
            <a:endParaRPr lang="zh-TW" altLang="en-US" sz="2800" b="1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ea typeface="新細明體" pitchFamily="18" charset="-120"/>
              </a:rPr>
              <a:t> </a:t>
            </a:r>
            <a:r>
              <a:rPr lang="en-US" altLang="zh-TW" sz="2000" smtClean="0">
                <a:ea typeface="新細明體" pitchFamily="18" charset="-120"/>
                <a:cs typeface="Times New Roman" pitchFamily="18" charset="0"/>
              </a:rPr>
              <a:t>• </a:t>
            </a: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Forward, Backward and Central Differences: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ea typeface="新細明體" pitchFamily="18" charset="-120"/>
              </a:rPr>
              <a:t>	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ea typeface="新細明體" pitchFamily="18" charset="-12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ea typeface="新細明體" pitchFamily="18" charset="-12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ea typeface="新細明體" pitchFamily="18" charset="-12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ea typeface="新細明體" pitchFamily="18" charset="-12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ea typeface="新細明體" pitchFamily="18" charset="-12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ea typeface="新細明體" pitchFamily="18" charset="-120"/>
              </a:rPr>
              <a:t>  (1) </a:t>
            </a: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Forward difference: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  Neglecting higher-order terms, we can get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ea typeface="新細明體" pitchFamily="18" charset="-120"/>
              </a:rPr>
              <a:t>          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ea typeface="新細明體" pitchFamily="18" charset="-120"/>
              </a:rPr>
              <a:t>	</a:t>
            </a:r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762000" y="4953000"/>
          <a:ext cx="73961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3" imgW="6108480" imgH="431640" progId="Equation.3">
                  <p:embed/>
                </p:oleObj>
              </mc:Choice>
              <mc:Fallback>
                <p:oleObj name="Equation" r:id="rId3" imgW="610848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953000"/>
                        <a:ext cx="73961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6"/>
          <p:cNvGraphicFramePr>
            <a:graphicFrameLocks noChangeAspect="1"/>
          </p:cNvGraphicFramePr>
          <p:nvPr/>
        </p:nvGraphicFramePr>
        <p:xfrm>
          <a:off x="1447800" y="5562600"/>
          <a:ext cx="5105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5" imgW="3593880" imgH="431640" progId="Equation.3">
                  <p:embed/>
                </p:oleObj>
              </mc:Choice>
              <mc:Fallback>
                <p:oleObj name="Equation" r:id="rId5" imgW="359388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562600"/>
                        <a:ext cx="5105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Text Box 7"/>
          <p:cNvSpPr txBox="1">
            <a:spLocks noChangeArrowheads="1"/>
          </p:cNvSpPr>
          <p:nvPr/>
        </p:nvSpPr>
        <p:spPr bwMode="auto">
          <a:xfrm>
            <a:off x="8229600" y="5029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TW" altLang="en-US">
                <a:latin typeface="Times New Roman" pitchFamily="18" charset="0"/>
                <a:ea typeface="新細明體" pitchFamily="18" charset="-120"/>
              </a:rPr>
              <a:t>(</a:t>
            </a:r>
            <a:r>
              <a:rPr kumimoji="1" lang="en-US" altLang="zh-TW">
                <a:latin typeface="Times New Roman" pitchFamily="18" charset="0"/>
                <a:ea typeface="新細明體" pitchFamily="18" charset="-120"/>
              </a:rPr>
              <a:t>a)</a:t>
            </a:r>
          </a:p>
        </p:txBody>
      </p:sp>
      <p:sp>
        <p:nvSpPr>
          <p:cNvPr id="3079" name="Text Box 8"/>
          <p:cNvSpPr txBox="1">
            <a:spLocks noChangeArrowheads="1"/>
          </p:cNvSpPr>
          <p:nvPr/>
        </p:nvSpPr>
        <p:spPr bwMode="auto">
          <a:xfrm>
            <a:off x="8610600" y="5867400"/>
            <a:ext cx="457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1200">
                <a:ea typeface="新細明體" pitchFamily="18" charset="-120"/>
              </a:rPr>
              <a:t>6-8</a:t>
            </a:r>
          </a:p>
        </p:txBody>
      </p:sp>
      <p:pic>
        <p:nvPicPr>
          <p:cNvPr id="3080" name="Picture 11" descr="fig5-2"/>
          <p:cNvPicPr>
            <a:picLocks noChangeAspect="1" noChangeArrowheads="1"/>
          </p:cNvPicPr>
          <p:nvPr/>
        </p:nvPicPr>
        <p:blipFill>
          <a:blip r:embed="rId7" cstate="print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4419600" y="1905000"/>
            <a:ext cx="333216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2800" b="1" smtClean="0">
                <a:latin typeface="Times New Roman" pitchFamily="18" charset="0"/>
                <a:ea typeface="新細明體" pitchFamily="18" charset="-120"/>
              </a:rPr>
              <a:t>6-2 Introduction to Finite Difference (5)</a:t>
            </a:r>
            <a:endParaRPr lang="zh-TW" altLang="en-US" sz="2800" b="1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48307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TW" altLang="en-US" sz="2400" smtClean="0">
                <a:latin typeface="Times New Roman" pitchFamily="18" charset="0"/>
                <a:ea typeface="新細明體" pitchFamily="18" charset="-120"/>
              </a:rPr>
              <a:t>   		(2) </a:t>
            </a: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Backward difference:</a:t>
            </a:r>
          </a:p>
          <a:p>
            <a:pPr eaLnBrk="1" hangingPunct="1">
              <a:buFontTx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                    Neglecting higher-order terms, we can get</a:t>
            </a:r>
          </a:p>
          <a:p>
            <a:pPr eaLnBrk="1" hangingPunct="1">
              <a:buFontTx/>
              <a:buNone/>
            </a:pPr>
            <a:endParaRPr lang="en-US" altLang="zh-TW" sz="24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buFontTx/>
              <a:buNone/>
            </a:pPr>
            <a:endParaRPr lang="en-US" altLang="zh-TW" sz="2400" smtClean="0">
              <a:ea typeface="新細明體" pitchFamily="18" charset="-120"/>
            </a:endParaRPr>
          </a:p>
          <a:p>
            <a:pPr eaLnBrk="1" hangingPunct="1">
              <a:buFontTx/>
              <a:buNone/>
            </a:pPr>
            <a:endParaRPr lang="en-US" altLang="zh-TW" sz="2400" smtClean="0">
              <a:ea typeface="新細明體" pitchFamily="18" charset="-120"/>
            </a:endParaRPr>
          </a:p>
          <a:p>
            <a:pPr eaLnBrk="1" hangingPunct="1">
              <a:buFontTx/>
              <a:buNone/>
            </a:pPr>
            <a:r>
              <a:rPr lang="en-US" altLang="zh-TW" sz="2400" smtClean="0">
                <a:ea typeface="新細明體" pitchFamily="18" charset="-120"/>
              </a:rPr>
              <a:t>           </a:t>
            </a: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(3) Central difference:</a:t>
            </a:r>
          </a:p>
          <a:p>
            <a:pPr eaLnBrk="1" hangingPunct="1">
              <a:buFontTx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                     (a)-(b) and neglecting higher-order terms, we can get</a:t>
            </a:r>
          </a:p>
          <a:p>
            <a:pPr eaLnBrk="1" hangingPunct="1">
              <a:buFontTx/>
              <a:buNone/>
            </a:pPr>
            <a:endParaRPr lang="en-US" altLang="zh-TW" sz="2400" smtClean="0">
              <a:ea typeface="新細明體" pitchFamily="18" charset="-120"/>
            </a:endParaRPr>
          </a:p>
          <a:p>
            <a:pPr eaLnBrk="1" hangingPunct="1">
              <a:buFontTx/>
              <a:buNone/>
            </a:pPr>
            <a:endParaRPr lang="en-US" altLang="zh-TW" sz="2400" smtClean="0">
              <a:ea typeface="新細明體" pitchFamily="18" charset="-120"/>
            </a:endParaRPr>
          </a:p>
          <a:p>
            <a:pPr eaLnBrk="1" hangingPunct="1">
              <a:buFontTx/>
              <a:buNone/>
            </a:pPr>
            <a:r>
              <a:rPr lang="en-US" altLang="zh-TW" sz="2800" smtClean="0">
                <a:ea typeface="新細明體" pitchFamily="18" charset="-120"/>
              </a:rPr>
              <a:t>                    </a:t>
            </a: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762000" y="2209800"/>
          <a:ext cx="77962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3" imgW="6438600" imgH="431640" progId="Equation.3">
                  <p:embed/>
                </p:oleObj>
              </mc:Choice>
              <mc:Fallback>
                <p:oleObj name="Equation" r:id="rId3" imgW="64386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209800"/>
                        <a:ext cx="77962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5"/>
          <p:cNvGraphicFramePr>
            <a:graphicFrameLocks noChangeAspect="1"/>
          </p:cNvGraphicFramePr>
          <p:nvPr/>
        </p:nvGraphicFramePr>
        <p:xfrm>
          <a:off x="1600200" y="2971800"/>
          <a:ext cx="5207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5" imgW="3504960" imgH="431640" progId="Equation.3">
                  <p:embed/>
                </p:oleObj>
              </mc:Choice>
              <mc:Fallback>
                <p:oleObj name="Equation" r:id="rId5" imgW="350496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971800"/>
                        <a:ext cx="5207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Text Box 6"/>
          <p:cNvSpPr txBox="1">
            <a:spLocks noChangeArrowheads="1"/>
          </p:cNvSpPr>
          <p:nvPr/>
        </p:nvSpPr>
        <p:spPr bwMode="auto">
          <a:xfrm>
            <a:off x="8534400" y="2209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TW" altLang="en-US">
                <a:latin typeface="Times New Roman" pitchFamily="18" charset="0"/>
                <a:ea typeface="新細明體" pitchFamily="18" charset="-120"/>
              </a:rPr>
              <a:t>(</a:t>
            </a:r>
            <a:r>
              <a:rPr kumimoji="1" lang="en-US" altLang="zh-TW">
                <a:latin typeface="Times New Roman" pitchFamily="18" charset="0"/>
                <a:ea typeface="新細明體" pitchFamily="18" charset="-120"/>
              </a:rPr>
              <a:t>b)</a:t>
            </a:r>
          </a:p>
        </p:txBody>
      </p:sp>
      <p:graphicFrame>
        <p:nvGraphicFramePr>
          <p:cNvPr id="4100" name="Object 7"/>
          <p:cNvGraphicFramePr>
            <a:graphicFrameLocks noChangeAspect="1"/>
          </p:cNvGraphicFramePr>
          <p:nvPr/>
        </p:nvGraphicFramePr>
        <p:xfrm>
          <a:off x="2133600" y="4800600"/>
          <a:ext cx="22637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7" imgW="1523880" imgH="431640" progId="Equation.3">
                  <p:embed/>
                </p:oleObj>
              </mc:Choice>
              <mc:Fallback>
                <p:oleObj name="Equation" r:id="rId7" imgW="152388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800600"/>
                        <a:ext cx="22637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495800" y="48768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TW" altLang="en-US">
                <a:latin typeface="Times New Roman" pitchFamily="18" charset="0"/>
                <a:ea typeface="新細明體" pitchFamily="18" charset="-120"/>
              </a:rPr>
              <a:t>…(</a:t>
            </a:r>
            <a:r>
              <a:rPr kumimoji="1" lang="en-US" altLang="zh-TW">
                <a:latin typeface="Times New Roman" pitchFamily="18" charset="0"/>
                <a:ea typeface="新細明體" pitchFamily="18" charset="-120"/>
              </a:rPr>
              <a:t>c)</a:t>
            </a: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8610600" y="5867400"/>
            <a:ext cx="457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1200">
                <a:ea typeface="新細明體" pitchFamily="18" charset="-120"/>
              </a:rPr>
              <a:t>6-9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2800" b="1" smtClean="0">
                <a:latin typeface="Times New Roman" pitchFamily="18" charset="0"/>
                <a:ea typeface="新細明體" pitchFamily="18" charset="-120"/>
              </a:rPr>
              <a:t>6-2 Introduction to Finite Difference (6)</a:t>
            </a:r>
            <a:endParaRPr lang="zh-TW" altLang="en-US" sz="2800" b="1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1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000" smtClean="0">
                <a:latin typeface="Times New Roman" pitchFamily="18" charset="0"/>
                <a:ea typeface="新細明體" pitchFamily="18" charset="-120"/>
              </a:rPr>
              <a:t>		(4) </a:t>
            </a: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If                              , then (a), (b), (c) can be expressed as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      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               Forward: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               Backward: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               Central: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		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                Note: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ea typeface="新細明體" pitchFamily="18" charset="-120"/>
              </a:rPr>
              <a:t>                     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ea typeface="新細明體" pitchFamily="18" charset="-120"/>
              </a:rPr>
              <a:t>                      </a:t>
            </a: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2133600" y="1295400"/>
          <a:ext cx="1752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Equation" r:id="rId3" imgW="1015920" imgH="228600" progId="Equation.3">
                  <p:embed/>
                </p:oleObj>
              </mc:Choice>
              <mc:Fallback>
                <p:oleObj name="Equation" r:id="rId3" imgW="101592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295400"/>
                        <a:ext cx="1752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5"/>
          <p:cNvGraphicFramePr>
            <a:graphicFrameLocks noChangeAspect="1"/>
          </p:cNvGraphicFramePr>
          <p:nvPr/>
        </p:nvGraphicFramePr>
        <p:xfrm>
          <a:off x="3429000" y="1905000"/>
          <a:ext cx="1981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Equation" r:id="rId5" imgW="1015920" imgH="393480" progId="Equation.3">
                  <p:embed/>
                </p:oleObj>
              </mc:Choice>
              <mc:Fallback>
                <p:oleObj name="Equation" r:id="rId5" imgW="101592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905000"/>
                        <a:ext cx="1981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6"/>
          <p:cNvGraphicFramePr>
            <a:graphicFrameLocks noChangeAspect="1"/>
          </p:cNvGraphicFramePr>
          <p:nvPr/>
        </p:nvGraphicFramePr>
        <p:xfrm>
          <a:off x="3429000" y="2667000"/>
          <a:ext cx="1981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Equation" r:id="rId7" imgW="1015920" imgH="393480" progId="Equation.3">
                  <p:embed/>
                </p:oleObj>
              </mc:Choice>
              <mc:Fallback>
                <p:oleObj name="Equation" r:id="rId7" imgW="101592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667000"/>
                        <a:ext cx="1981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7"/>
          <p:cNvGraphicFramePr>
            <a:graphicFrameLocks noChangeAspect="1"/>
          </p:cNvGraphicFramePr>
          <p:nvPr/>
        </p:nvGraphicFramePr>
        <p:xfrm>
          <a:off x="3276600" y="3429000"/>
          <a:ext cx="21542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Equation" r:id="rId9" imgW="1104840" imgH="393480" progId="Equation.3">
                  <p:embed/>
                </p:oleObj>
              </mc:Choice>
              <mc:Fallback>
                <p:oleObj name="Equation" r:id="rId9" imgW="110484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429000"/>
                        <a:ext cx="21542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8"/>
          <p:cNvGraphicFramePr>
            <a:graphicFrameLocks noChangeAspect="1"/>
          </p:cNvGraphicFramePr>
          <p:nvPr/>
        </p:nvGraphicFramePr>
        <p:xfrm>
          <a:off x="2895600" y="4343400"/>
          <a:ext cx="1447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Equation" r:id="rId11" imgW="825480" imgH="685800" progId="Equation.3">
                  <p:embed/>
                </p:oleObj>
              </mc:Choice>
              <mc:Fallback>
                <p:oleObj name="Equation" r:id="rId11" imgW="825480" imgH="685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343400"/>
                        <a:ext cx="14478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5410200" y="1981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TW" altLang="en-US">
                <a:latin typeface="Times New Roman" pitchFamily="18" charset="0"/>
                <a:ea typeface="新細明體" pitchFamily="18" charset="-120"/>
              </a:rPr>
              <a:t>…(</a:t>
            </a:r>
            <a:r>
              <a:rPr kumimoji="1" lang="en-US" altLang="zh-TW">
                <a:latin typeface="Times New Roman" pitchFamily="18" charset="0"/>
                <a:ea typeface="新細明體" pitchFamily="18" charset="-120"/>
              </a:rPr>
              <a:t>d)</a:t>
            </a: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5486400" y="28194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TW" altLang="en-US">
                <a:latin typeface="Times New Roman" pitchFamily="18" charset="0"/>
                <a:ea typeface="新細明體" pitchFamily="18" charset="-120"/>
              </a:rPr>
              <a:t>…(</a:t>
            </a:r>
            <a:r>
              <a:rPr kumimoji="1" lang="en-US" altLang="zh-TW">
                <a:latin typeface="Times New Roman" pitchFamily="18" charset="0"/>
                <a:ea typeface="新細明體" pitchFamily="18" charset="-120"/>
              </a:rPr>
              <a:t>e)</a:t>
            </a: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5486400" y="35814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TW" altLang="en-US">
                <a:latin typeface="Times New Roman" pitchFamily="18" charset="0"/>
                <a:ea typeface="新細明體" pitchFamily="18" charset="-120"/>
              </a:rPr>
              <a:t>…(</a:t>
            </a:r>
            <a:r>
              <a:rPr kumimoji="1" lang="en-US" altLang="zh-TW">
                <a:latin typeface="Times New Roman" pitchFamily="18" charset="0"/>
                <a:ea typeface="新細明體" pitchFamily="18" charset="-120"/>
              </a:rPr>
              <a:t>f)</a:t>
            </a:r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8458200" y="5867400"/>
            <a:ext cx="609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1200">
                <a:ea typeface="新細明體" pitchFamily="18" charset="-120"/>
              </a:rPr>
              <a:t>  6-10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2800" b="1" smtClean="0">
                <a:latin typeface="Times New Roman" pitchFamily="18" charset="0"/>
                <a:ea typeface="新細明體" pitchFamily="18" charset="-120"/>
              </a:rPr>
              <a:t>6-2 Introduction to Finite Difference (7)</a:t>
            </a:r>
            <a:endParaRPr lang="zh-TW" altLang="en-US" sz="2800" b="1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Truncation error: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The higher-order term neglecting in Eqs. (a), (b), (c) constitute the truncation error. The general form of Eqs. (d), (e), (f) plus truncated terms can be written as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Forward: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Backward: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Central: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ea typeface="新細明體" pitchFamily="18" charset="-120"/>
              </a:rPr>
              <a:t>     </a:t>
            </a: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2209800" y="2667000"/>
          <a:ext cx="29225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3" imgW="1498320" imgH="393480" progId="Equation.3">
                  <p:embed/>
                </p:oleObj>
              </mc:Choice>
              <mc:Fallback>
                <p:oleObj name="Equation" r:id="rId3" imgW="149832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667000"/>
                        <a:ext cx="292258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5"/>
          <p:cNvGraphicFramePr>
            <a:graphicFrameLocks noChangeAspect="1"/>
          </p:cNvGraphicFramePr>
          <p:nvPr/>
        </p:nvGraphicFramePr>
        <p:xfrm>
          <a:off x="2209800" y="3505200"/>
          <a:ext cx="2921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5" imgW="1498320" imgH="393480" progId="Equation.3">
                  <p:embed/>
                </p:oleObj>
              </mc:Choice>
              <mc:Fallback>
                <p:oleObj name="Equation" r:id="rId5" imgW="149832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505200"/>
                        <a:ext cx="29210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6"/>
          <p:cNvGraphicFramePr>
            <a:graphicFrameLocks noChangeAspect="1"/>
          </p:cNvGraphicFramePr>
          <p:nvPr/>
        </p:nvGraphicFramePr>
        <p:xfrm>
          <a:off x="2057400" y="4419600"/>
          <a:ext cx="31940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quation" r:id="rId7" imgW="1638000" imgH="393480" progId="Equation.3">
                  <p:embed/>
                </p:oleObj>
              </mc:Choice>
              <mc:Fallback>
                <p:oleObj name="Equation" r:id="rId7" imgW="163800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419600"/>
                        <a:ext cx="31940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8534400" y="5867400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1200">
                <a:ea typeface="新細明體" pitchFamily="18" charset="-120"/>
              </a:rPr>
              <a:t>6-11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2800" b="1" smtClean="0">
                <a:latin typeface="Times New Roman" pitchFamily="18" charset="0"/>
                <a:ea typeface="新細明體" pitchFamily="18" charset="-120"/>
              </a:rPr>
              <a:t>6-2 Introduction to Finite Difference (8)</a:t>
            </a:r>
            <a:endParaRPr lang="zh-TW" altLang="en-US" sz="2800" b="1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1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Second derivatives:</a:t>
            </a:r>
          </a:p>
          <a:p>
            <a:pPr eaLnBrk="1" hangingPunct="1"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* Central difference:</a:t>
            </a:r>
          </a:p>
          <a:p>
            <a:pPr eaLnBrk="1" hangingPunct="1"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	   If                                , then (a)+(b) becomes</a:t>
            </a:r>
          </a:p>
          <a:p>
            <a:pPr eaLnBrk="1" hangingPunct="1"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</a:t>
            </a:r>
          </a:p>
          <a:p>
            <a:pPr eaLnBrk="1" hangingPunct="1"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 * Forward difference: </a:t>
            </a:r>
          </a:p>
          <a:p>
            <a:pPr eaLnBrk="1" hangingPunct="1"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* Backward difference:</a:t>
            </a:r>
          </a:p>
          <a:p>
            <a:pPr eaLnBrk="1" hangingPunct="1"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</a:t>
            </a:r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1524000" y="2057400"/>
          <a:ext cx="1752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3" imgW="1015920" imgH="228600" progId="Equation.3">
                  <p:embed/>
                </p:oleObj>
              </mc:Choice>
              <mc:Fallback>
                <p:oleObj name="Equation" r:id="rId3" imgW="101592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057400"/>
                        <a:ext cx="1752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5"/>
          <p:cNvGraphicFramePr>
            <a:graphicFrameLocks noChangeAspect="1"/>
          </p:cNvGraphicFramePr>
          <p:nvPr/>
        </p:nvGraphicFramePr>
        <p:xfrm>
          <a:off x="1143000" y="2438400"/>
          <a:ext cx="3733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5" imgW="2070000" imgH="444240" progId="Equation.3">
                  <p:embed/>
                </p:oleObj>
              </mc:Choice>
              <mc:Fallback>
                <p:oleObj name="Equation" r:id="rId5" imgW="2070000" imgH="444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438400"/>
                        <a:ext cx="37338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6"/>
          <p:cNvGraphicFramePr>
            <a:graphicFrameLocks noChangeAspect="1"/>
          </p:cNvGraphicFramePr>
          <p:nvPr/>
        </p:nvGraphicFramePr>
        <p:xfrm>
          <a:off x="1219200" y="3505200"/>
          <a:ext cx="37560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7" imgW="2082600" imgH="444240" progId="Equation.3">
                  <p:embed/>
                </p:oleObj>
              </mc:Choice>
              <mc:Fallback>
                <p:oleObj name="Equation" r:id="rId7" imgW="2082600" imgH="444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505200"/>
                        <a:ext cx="37560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7"/>
          <p:cNvGraphicFramePr>
            <a:graphicFrameLocks noChangeAspect="1"/>
          </p:cNvGraphicFramePr>
          <p:nvPr/>
        </p:nvGraphicFramePr>
        <p:xfrm>
          <a:off x="1219200" y="4648200"/>
          <a:ext cx="37560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9" imgW="2082600" imgH="444240" progId="Equation.3">
                  <p:embed/>
                </p:oleObj>
              </mc:Choice>
              <mc:Fallback>
                <p:oleObj name="Equation" r:id="rId9" imgW="208260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648200"/>
                        <a:ext cx="37560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8534400" y="5867400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1200">
                <a:ea typeface="新細明體" pitchFamily="18" charset="-120"/>
              </a:rPr>
              <a:t>6-12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2800" b="1" smtClean="0">
                <a:latin typeface="Times New Roman" pitchFamily="18" charset="0"/>
                <a:ea typeface="新細明體" pitchFamily="18" charset="-120"/>
              </a:rPr>
              <a:t>6-2 Introduction to Finite Difference (9)</a:t>
            </a:r>
            <a:endParaRPr lang="zh-TW" altLang="en-US" sz="2800" b="1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81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Mixed derivatives: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* Taylor series expansion: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* Central difference: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* Forward difference: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    * Backward difference: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ea typeface="新細明體" pitchFamily="18" charset="-120"/>
              </a:rPr>
              <a:t>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>
                <a:ea typeface="新細明體" pitchFamily="18" charset="-120"/>
              </a:rPr>
              <a:t>        </a:t>
            </a:r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609600" y="2057400"/>
          <a:ext cx="8229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3" imgW="6400800" imgH="444240" progId="Equation.3">
                  <p:embed/>
                </p:oleObj>
              </mc:Choice>
              <mc:Fallback>
                <p:oleObj name="Equation" r:id="rId3" imgW="640080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057400"/>
                        <a:ext cx="8229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5"/>
          <p:cNvGraphicFramePr>
            <a:graphicFrameLocks noChangeAspect="1"/>
          </p:cNvGraphicFramePr>
          <p:nvPr/>
        </p:nvGraphicFramePr>
        <p:xfrm>
          <a:off x="1219200" y="2971800"/>
          <a:ext cx="5257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5" imgW="3720960" imgH="507960" progId="Equation.3">
                  <p:embed/>
                </p:oleObj>
              </mc:Choice>
              <mc:Fallback>
                <p:oleObj name="Equation" r:id="rId5" imgW="3720960" imgH="5079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971800"/>
                        <a:ext cx="5257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6"/>
          <p:cNvGraphicFramePr>
            <a:graphicFrameLocks noChangeAspect="1"/>
          </p:cNvGraphicFramePr>
          <p:nvPr/>
        </p:nvGraphicFramePr>
        <p:xfrm>
          <a:off x="1295400" y="3962400"/>
          <a:ext cx="47545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7" imgW="3365280" imgH="507960" progId="Equation.3">
                  <p:embed/>
                </p:oleObj>
              </mc:Choice>
              <mc:Fallback>
                <p:oleObj name="Equation" r:id="rId7" imgW="3365280" imgH="5079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962400"/>
                        <a:ext cx="475456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7"/>
          <p:cNvGraphicFramePr>
            <a:graphicFrameLocks noChangeAspect="1"/>
          </p:cNvGraphicFramePr>
          <p:nvPr/>
        </p:nvGraphicFramePr>
        <p:xfrm>
          <a:off x="1371600" y="5105400"/>
          <a:ext cx="4737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9" imgW="3352680" imgH="507960" progId="Equation.3">
                  <p:embed/>
                </p:oleObj>
              </mc:Choice>
              <mc:Fallback>
                <p:oleObj name="Equation" r:id="rId9" imgW="3352680" imgH="5079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105400"/>
                        <a:ext cx="47371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8458200" y="5867400"/>
            <a:ext cx="609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1200">
                <a:ea typeface="新細明體" pitchFamily="18" charset="-120"/>
              </a:rPr>
              <a:t>6-13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3200" b="1" smtClean="0">
                <a:latin typeface="Times New Roman" pitchFamily="18" charset="0"/>
                <a:ea typeface="新細明體" pitchFamily="18" charset="-120"/>
              </a:rPr>
              <a:t>6-3 Errors Involved in Numerical Solutions (1)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In the solution of differential equations with finite differences, a variety of schemes are available for the discretization of derivatives and the solution of the resulting system of algebraic equations.</a:t>
            </a:r>
          </a:p>
          <a:p>
            <a:pPr eaLnBrk="1" hangingPunct="1"/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In many situations, questions arise regarding the </a:t>
            </a:r>
            <a:r>
              <a:rPr lang="en-US" altLang="zh-TW" sz="2000" smtClean="0">
                <a:solidFill>
                  <a:srgbClr val="EF1F1D"/>
                </a:solidFill>
                <a:latin typeface="Times New Roman" pitchFamily="18" charset="0"/>
                <a:ea typeface="新細明體" pitchFamily="18" charset="-120"/>
              </a:rPr>
              <a:t>round-off</a:t>
            </a: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and </a:t>
            </a:r>
            <a:r>
              <a:rPr lang="en-US" altLang="zh-TW" sz="2000" smtClean="0">
                <a:solidFill>
                  <a:srgbClr val="EF1F1D"/>
                </a:solidFill>
                <a:latin typeface="Times New Roman" pitchFamily="18" charset="0"/>
                <a:ea typeface="新細明體" pitchFamily="18" charset="-120"/>
              </a:rPr>
              <a:t>truncation errors</a:t>
            </a: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 involved in the numerical computations, as well as the consistency, stability and the convergence of the finite difference scheme.</a:t>
            </a:r>
          </a:p>
          <a:p>
            <a:pPr eaLnBrk="1" hangingPunct="1"/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Round-off errors:computations are rarely made in exact arithmetic. This means that real numbers are represented in “floating point” form and as a result, errors are caused due to the rounding-off of the real numbers. In extreme cases such errors, called “round-off” errors, can accumulate and become a main source of error.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8534400" y="5867400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1200">
                <a:ea typeface="新細明體" pitchFamily="18" charset="-120"/>
              </a:rPr>
              <a:t>6-23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3200" b="1" smtClean="0">
                <a:latin typeface="Times New Roman" pitchFamily="18" charset="0"/>
                <a:ea typeface="新細明體" pitchFamily="18" charset="-120"/>
              </a:rPr>
              <a:t>6-3 Errors Involved in Numerical Solutions (2)</a:t>
            </a:r>
            <a:endParaRPr lang="zh-TW" altLang="en-US" sz="3200" b="1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Truncation error: In finite difference representation of derivative with Taylor’s series expansion, the higher order terms are neglected by truncating the series and the error caused as a result of such truncation is called the “truncation error”.</a:t>
            </a:r>
          </a:p>
          <a:p>
            <a:pPr eaLnBrk="1" hangingPunct="1"/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The truncation error identifies the difference between the exact solution of a differential equation and its finite difference solution without round-off error.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8458200" y="5867400"/>
            <a:ext cx="609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1200">
                <a:ea typeface="新細明體" pitchFamily="18" charset="-120"/>
              </a:rPr>
              <a:t>6-24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33_design_template">
  <a:themeElements>
    <a:clrScheme name="ME33_desig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E33_design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" charset="0"/>
          </a:defRPr>
        </a:defPPr>
      </a:lstStyle>
    </a:lnDef>
  </a:objectDefaults>
  <a:extraClrSchemeLst>
    <a:extraClrScheme>
      <a:clrScheme name="ME33_desig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33_design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33_design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33_design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33_design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33_design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33_design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33_design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33_design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33_design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33_design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33_design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" charset="0"/>
          </a:defRPr>
        </a:defPPr>
      </a:lstStyle>
    </a:lnDef>
  </a:objectDefaults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Templates:ME33_design_template.pot</Template>
  <TotalTime>942</TotalTime>
  <Words>776</Words>
  <Application>Microsoft Office PowerPoint</Application>
  <PresentationFormat>On-screen Show (4:3)</PresentationFormat>
  <Paragraphs>141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Times</vt:lpstr>
      <vt:lpstr>Arial</vt:lpstr>
      <vt:lpstr>新細明體</vt:lpstr>
      <vt:lpstr>Times New Roman</vt:lpstr>
      <vt:lpstr>Wingdings</vt:lpstr>
      <vt:lpstr>ME33_design_template</vt:lpstr>
      <vt:lpstr>自訂設計</vt:lpstr>
      <vt:lpstr>Microsoft Equation 3.0</vt:lpstr>
      <vt:lpstr>Microsoft 方程式編輯器 3.0</vt:lpstr>
      <vt:lpstr> Chapter 6 Basics of Finite Difference </vt:lpstr>
      <vt:lpstr>6.1 Components of numerical methods (3) Discretization methods (Finite Difference)-1</vt:lpstr>
      <vt:lpstr>6.1 Components of numerical methods (4)  Discretization methods (Finite Difference)-2</vt:lpstr>
      <vt:lpstr>6-2 Introduction to Finite Difference (1)</vt:lpstr>
      <vt:lpstr>6-2 Introduction to Finite Difference (2)</vt:lpstr>
      <vt:lpstr>6-2 Introduction to Finite Difference (3)</vt:lpstr>
      <vt:lpstr>6-2 Introduction to Finite Difference (4)</vt:lpstr>
      <vt:lpstr>6-2 Introduction to Finite Difference (5)</vt:lpstr>
      <vt:lpstr>6-2 Introduction to Finite Difference (6)</vt:lpstr>
      <vt:lpstr>6-2 Introduction to Finite Difference (7)</vt:lpstr>
      <vt:lpstr>6-2 Introduction to Finite Difference (8)</vt:lpstr>
      <vt:lpstr>6-2 Introduction to Finite Difference (9)</vt:lpstr>
      <vt:lpstr>6-3 Errors Involved in Numerical Solutions (1)</vt:lpstr>
      <vt:lpstr>6-3 Errors Involved in Numerical Solutions (2)</vt:lpstr>
    </vt:vector>
  </TitlesOfParts>
  <Company>Applied Research Laboratory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Eric Paterson</dc:creator>
  <cp:lastModifiedBy>Admin</cp:lastModifiedBy>
  <cp:revision>104</cp:revision>
  <cp:lastPrinted>2001-11-16T14:17:32Z</cp:lastPrinted>
  <dcterms:created xsi:type="dcterms:W3CDTF">2005-03-30T11:40:15Z</dcterms:created>
  <dcterms:modified xsi:type="dcterms:W3CDTF">2017-05-27T19:21:04Z</dcterms:modified>
</cp:coreProperties>
</file>