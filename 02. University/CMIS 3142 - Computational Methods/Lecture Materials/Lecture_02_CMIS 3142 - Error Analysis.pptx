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60" r:id="rId3"/>
    <p:sldId id="263" r:id="rId4"/>
    <p:sldId id="273" r:id="rId5"/>
    <p:sldId id="274" r:id="rId6"/>
    <p:sldId id="276" r:id="rId7"/>
    <p:sldId id="264" r:id="rId8"/>
    <p:sldId id="275" r:id="rId9"/>
    <p:sldId id="277" r:id="rId10"/>
    <p:sldId id="266" r:id="rId11"/>
    <p:sldId id="267" r:id="rId12"/>
    <p:sldId id="278" r:id="rId13"/>
    <p:sldId id="268" r:id="rId14"/>
    <p:sldId id="279" r:id="rId15"/>
    <p:sldId id="280" r:id="rId16"/>
    <p:sldId id="281" r:id="rId17"/>
    <p:sldId id="282" r:id="rId18"/>
    <p:sldId id="284" r:id="rId19"/>
    <p:sldId id="285" r:id="rId20"/>
    <p:sldId id="286" r:id="rId21"/>
    <p:sldId id="287" r:id="rId22"/>
    <p:sldId id="288" r:id="rId23"/>
    <p:sldId id="28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5E2E65-1E24-44D3-AE93-934F1F870760}" type="datetimeFigureOut">
              <a:rPr lang="en-GB" smtClean="0"/>
              <a:t>13/02/2023</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C5A41E-42B9-4488-AF36-EB08D8E3CBE7}" type="slidenum">
              <a:rPr lang="en-GB" smtClean="0"/>
              <a:t>‹#›</a:t>
            </a:fld>
            <a:endParaRPr lang="en-GB" dirty="0"/>
          </a:p>
        </p:txBody>
      </p:sp>
    </p:spTree>
    <p:extLst>
      <p:ext uri="{BB962C8B-B14F-4D97-AF65-F5344CB8AC3E}">
        <p14:creationId xmlns:p14="http://schemas.microsoft.com/office/powerpoint/2010/main" val="773125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C9702B6-5FEB-4909-A0A2-85228032B952}" type="slidenum">
              <a:rPr lang="en-GB" smtClean="0"/>
              <a:pPr/>
              <a:t>1</a:t>
            </a:fld>
            <a:endParaRPr lang="en-GB" dirty="0"/>
          </a:p>
        </p:txBody>
      </p:sp>
      <p:sp>
        <p:nvSpPr>
          <p:cNvPr id="5" name="Date Placeholder 4"/>
          <p:cNvSpPr>
            <a:spLocks noGrp="1"/>
          </p:cNvSpPr>
          <p:nvPr>
            <p:ph type="dt" idx="11"/>
          </p:nvPr>
        </p:nvSpPr>
        <p:spPr/>
        <p:txBody>
          <a:bodyPr/>
          <a:lstStyle/>
          <a:p>
            <a:fld id="{1E619E0E-6A4A-44F9-BFF8-D099D401D5BF}" type="datetimeFigureOut">
              <a:rPr lang="en-GB" smtClean="0"/>
              <a:pPr/>
              <a:t>13/02/2023</a:t>
            </a:fld>
            <a:endParaRPr lang="en-GB" dirty="0"/>
          </a:p>
        </p:txBody>
      </p:sp>
      <p:sp>
        <p:nvSpPr>
          <p:cNvPr id="6" name="Footer Placeholder 5"/>
          <p:cNvSpPr>
            <a:spLocks noGrp="1"/>
          </p:cNvSpPr>
          <p:nvPr>
            <p:ph type="ftr" sz="quarter" idx="12"/>
          </p:nvPr>
        </p:nvSpPr>
        <p:spPr/>
        <p:txBody>
          <a:bodyPr/>
          <a:lstStyle/>
          <a:p>
            <a:r>
              <a:rPr lang="en-GB" dirty="0" smtClean="0"/>
              <a:t>Department of CMIS</a:t>
            </a:r>
            <a:endParaRPr lang="en-GB" dirty="0"/>
          </a:p>
        </p:txBody>
      </p:sp>
    </p:spTree>
    <p:extLst>
      <p:ext uri="{BB962C8B-B14F-4D97-AF65-F5344CB8AC3E}">
        <p14:creationId xmlns:p14="http://schemas.microsoft.com/office/powerpoint/2010/main" val="1756608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5389B3F-2750-473F-9A19-18E6DEDE58BD}" type="datetime1">
              <a:rPr lang="en-GB" smtClean="0"/>
              <a:t>13/02/2023</a:t>
            </a:fld>
            <a:endParaRPr lang="en-GB" dirty="0"/>
          </a:p>
        </p:txBody>
      </p:sp>
      <p:sp>
        <p:nvSpPr>
          <p:cNvPr id="5" name="Footer Placeholder 4"/>
          <p:cNvSpPr>
            <a:spLocks noGrp="1"/>
          </p:cNvSpPr>
          <p:nvPr>
            <p:ph type="ftr" sz="quarter" idx="11"/>
          </p:nvPr>
        </p:nvSpPr>
        <p:spPr/>
        <p:txBody>
          <a:bodyPr/>
          <a:lstStyle/>
          <a:p>
            <a:r>
              <a:rPr lang="en-GB" smtClean="0"/>
              <a:t>Department of CMIS – 2020/2021</a:t>
            </a:r>
            <a:endParaRPr lang="en-GB" dirty="0"/>
          </a:p>
        </p:txBody>
      </p:sp>
      <p:sp>
        <p:nvSpPr>
          <p:cNvPr id="6" name="Slide Number Placeholder 5"/>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3645921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8039BAB-FB90-4ACF-8EF7-57D8804ABA98}" type="datetime1">
              <a:rPr lang="en-GB" smtClean="0"/>
              <a:t>13/02/2023</a:t>
            </a:fld>
            <a:endParaRPr lang="en-GB" dirty="0"/>
          </a:p>
        </p:txBody>
      </p:sp>
      <p:sp>
        <p:nvSpPr>
          <p:cNvPr id="5" name="Footer Placeholder 4"/>
          <p:cNvSpPr>
            <a:spLocks noGrp="1"/>
          </p:cNvSpPr>
          <p:nvPr>
            <p:ph type="ftr" sz="quarter" idx="11"/>
          </p:nvPr>
        </p:nvSpPr>
        <p:spPr/>
        <p:txBody>
          <a:bodyPr/>
          <a:lstStyle/>
          <a:p>
            <a:r>
              <a:rPr lang="en-GB" smtClean="0"/>
              <a:t>Department of CMIS – 2020/2021</a:t>
            </a:r>
            <a:endParaRPr lang="en-GB" dirty="0"/>
          </a:p>
        </p:txBody>
      </p:sp>
      <p:sp>
        <p:nvSpPr>
          <p:cNvPr id="6" name="Slide Number Placeholder 5"/>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3513842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750D7F-1F7F-411D-A11A-98BC5D2B7743}" type="datetime1">
              <a:rPr lang="en-GB" smtClean="0"/>
              <a:t>13/02/2023</a:t>
            </a:fld>
            <a:endParaRPr lang="en-GB" dirty="0"/>
          </a:p>
        </p:txBody>
      </p:sp>
      <p:sp>
        <p:nvSpPr>
          <p:cNvPr id="5" name="Footer Placeholder 4"/>
          <p:cNvSpPr>
            <a:spLocks noGrp="1"/>
          </p:cNvSpPr>
          <p:nvPr>
            <p:ph type="ftr" sz="quarter" idx="11"/>
          </p:nvPr>
        </p:nvSpPr>
        <p:spPr/>
        <p:txBody>
          <a:bodyPr/>
          <a:lstStyle/>
          <a:p>
            <a:r>
              <a:rPr lang="en-GB" smtClean="0"/>
              <a:t>Department of CMIS – 2020/2021</a:t>
            </a:r>
            <a:endParaRPr lang="en-GB" dirty="0"/>
          </a:p>
        </p:txBody>
      </p:sp>
      <p:sp>
        <p:nvSpPr>
          <p:cNvPr id="6" name="Slide Number Placeholder 5"/>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216795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F0EE8FA-6896-43B8-BCA5-B76AA0BF1AF3}" type="datetime1">
              <a:rPr lang="en-GB" smtClean="0"/>
              <a:t>13/02/2023</a:t>
            </a:fld>
            <a:endParaRPr lang="en-GB" dirty="0"/>
          </a:p>
        </p:txBody>
      </p:sp>
      <p:sp>
        <p:nvSpPr>
          <p:cNvPr id="6" name="Footer Placeholder 5"/>
          <p:cNvSpPr>
            <a:spLocks noGrp="1"/>
          </p:cNvSpPr>
          <p:nvPr>
            <p:ph type="ftr" sz="quarter" idx="11"/>
          </p:nvPr>
        </p:nvSpPr>
        <p:spPr/>
        <p:txBody>
          <a:bodyPr/>
          <a:lstStyle/>
          <a:p>
            <a:r>
              <a:rPr lang="en-GB" smtClean="0"/>
              <a:t>Department of CMIS – 2020/2021</a:t>
            </a:r>
            <a:endParaRPr lang="en-GB" dirty="0"/>
          </a:p>
        </p:txBody>
      </p:sp>
      <p:sp>
        <p:nvSpPr>
          <p:cNvPr id="7" name="Slide Number Placeholder 6"/>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3445688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FF4FBCF-E03E-4074-9508-B1B253B50230}" type="datetime1">
              <a:rPr lang="en-GB" smtClean="0"/>
              <a:t>13/02/2023</a:t>
            </a:fld>
            <a:endParaRPr lang="en-GB" dirty="0"/>
          </a:p>
        </p:txBody>
      </p:sp>
      <p:sp>
        <p:nvSpPr>
          <p:cNvPr id="8" name="Footer Placeholder 7"/>
          <p:cNvSpPr>
            <a:spLocks noGrp="1"/>
          </p:cNvSpPr>
          <p:nvPr>
            <p:ph type="ftr" sz="quarter" idx="11"/>
          </p:nvPr>
        </p:nvSpPr>
        <p:spPr/>
        <p:txBody>
          <a:bodyPr/>
          <a:lstStyle/>
          <a:p>
            <a:r>
              <a:rPr lang="en-GB" smtClean="0"/>
              <a:t>Department of CMIS – 2020/2021</a:t>
            </a:r>
            <a:endParaRPr lang="en-GB" dirty="0"/>
          </a:p>
        </p:txBody>
      </p:sp>
      <p:sp>
        <p:nvSpPr>
          <p:cNvPr id="9" name="Slide Number Placeholder 8"/>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715282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422B96EA-38F0-42AE-80BD-C95440D5F171}" type="datetime1">
              <a:rPr lang="en-GB" smtClean="0"/>
              <a:t>13/02/2023</a:t>
            </a:fld>
            <a:endParaRPr lang="en-GB" dirty="0"/>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1206193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4D0C7-41D7-498D-804F-6B8EBD5B8BCC}" type="datetime1">
              <a:rPr lang="en-GB" smtClean="0"/>
              <a:t>13/02/2023</a:t>
            </a:fld>
            <a:endParaRPr lang="en-GB" dirty="0"/>
          </a:p>
        </p:txBody>
      </p:sp>
      <p:sp>
        <p:nvSpPr>
          <p:cNvPr id="3" name="Footer Placeholder 2"/>
          <p:cNvSpPr>
            <a:spLocks noGrp="1"/>
          </p:cNvSpPr>
          <p:nvPr>
            <p:ph type="ftr" sz="quarter" idx="11"/>
          </p:nvPr>
        </p:nvSpPr>
        <p:spPr/>
        <p:txBody>
          <a:bodyPr/>
          <a:lstStyle/>
          <a:p>
            <a:r>
              <a:rPr lang="en-GB" smtClean="0"/>
              <a:t>Department of CMIS – 2020/2021</a:t>
            </a:r>
            <a:endParaRPr lang="en-GB" dirty="0"/>
          </a:p>
        </p:txBody>
      </p:sp>
      <p:sp>
        <p:nvSpPr>
          <p:cNvPr id="4" name="Slide Number Placeholder 3"/>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1279004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9E55CF-79D3-4FE7-929E-49B659C0F5C3}" type="datetime1">
              <a:rPr lang="en-GB" smtClean="0"/>
              <a:t>13/02/2023</a:t>
            </a:fld>
            <a:endParaRPr lang="en-GB" dirty="0"/>
          </a:p>
        </p:txBody>
      </p:sp>
      <p:sp>
        <p:nvSpPr>
          <p:cNvPr id="6" name="Footer Placeholder 5"/>
          <p:cNvSpPr>
            <a:spLocks noGrp="1"/>
          </p:cNvSpPr>
          <p:nvPr>
            <p:ph type="ftr" sz="quarter" idx="11"/>
          </p:nvPr>
        </p:nvSpPr>
        <p:spPr/>
        <p:txBody>
          <a:bodyPr/>
          <a:lstStyle/>
          <a:p>
            <a:r>
              <a:rPr lang="en-GB" smtClean="0"/>
              <a:t>Department of CMIS – 2020/2021</a:t>
            </a:r>
            <a:endParaRPr lang="en-GB" dirty="0"/>
          </a:p>
        </p:txBody>
      </p:sp>
      <p:sp>
        <p:nvSpPr>
          <p:cNvPr id="7" name="Slide Number Placeholder 6"/>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334639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B7032D-6F39-4662-8E37-92B1FD1F6160}" type="datetime1">
              <a:rPr lang="en-GB" smtClean="0"/>
              <a:t>13/02/2023</a:t>
            </a:fld>
            <a:endParaRPr lang="en-GB" dirty="0"/>
          </a:p>
        </p:txBody>
      </p:sp>
      <p:sp>
        <p:nvSpPr>
          <p:cNvPr id="6" name="Footer Placeholder 5"/>
          <p:cNvSpPr>
            <a:spLocks noGrp="1"/>
          </p:cNvSpPr>
          <p:nvPr>
            <p:ph type="ftr" sz="quarter" idx="11"/>
          </p:nvPr>
        </p:nvSpPr>
        <p:spPr/>
        <p:txBody>
          <a:bodyPr/>
          <a:lstStyle/>
          <a:p>
            <a:r>
              <a:rPr lang="en-GB" smtClean="0"/>
              <a:t>Department of CMIS – 2020/2021</a:t>
            </a:r>
            <a:endParaRPr lang="en-GB" dirty="0"/>
          </a:p>
        </p:txBody>
      </p:sp>
      <p:sp>
        <p:nvSpPr>
          <p:cNvPr id="7" name="Slide Number Placeholder 6"/>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1359133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FB5D883-5408-4501-97B3-50F78D13DFE2}" type="datetime1">
              <a:rPr lang="en-GB" smtClean="0"/>
              <a:t>13/02/2023</a:t>
            </a:fld>
            <a:endParaRPr lang="en-GB" dirty="0"/>
          </a:p>
        </p:txBody>
      </p:sp>
      <p:sp>
        <p:nvSpPr>
          <p:cNvPr id="5" name="Footer Placeholder 4"/>
          <p:cNvSpPr>
            <a:spLocks noGrp="1"/>
          </p:cNvSpPr>
          <p:nvPr>
            <p:ph type="ftr" sz="quarter" idx="11"/>
          </p:nvPr>
        </p:nvSpPr>
        <p:spPr/>
        <p:txBody>
          <a:bodyPr/>
          <a:lstStyle/>
          <a:p>
            <a:r>
              <a:rPr lang="en-GB" smtClean="0"/>
              <a:t>Department of CMIS – 2020/2021</a:t>
            </a:r>
            <a:endParaRPr lang="en-GB" dirty="0"/>
          </a:p>
        </p:txBody>
      </p:sp>
      <p:sp>
        <p:nvSpPr>
          <p:cNvPr id="6" name="Slide Number Placeholder 5"/>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213540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36BC860-4FC9-48FC-9355-575C25C4800F}" type="datetime1">
              <a:rPr lang="en-GB" smtClean="0"/>
              <a:t>13/02/2023</a:t>
            </a:fld>
            <a:endParaRPr lang="en-GB" dirty="0"/>
          </a:p>
        </p:txBody>
      </p:sp>
      <p:sp>
        <p:nvSpPr>
          <p:cNvPr id="5" name="Footer Placeholder 4"/>
          <p:cNvSpPr>
            <a:spLocks noGrp="1"/>
          </p:cNvSpPr>
          <p:nvPr>
            <p:ph type="ftr" sz="quarter" idx="11"/>
          </p:nvPr>
        </p:nvSpPr>
        <p:spPr/>
        <p:txBody>
          <a:bodyPr/>
          <a:lstStyle/>
          <a:p>
            <a:r>
              <a:rPr lang="en-GB" smtClean="0"/>
              <a:t>Department of CMIS – 2020/2021</a:t>
            </a:r>
            <a:endParaRPr lang="en-GB" dirty="0"/>
          </a:p>
        </p:txBody>
      </p:sp>
      <p:sp>
        <p:nvSpPr>
          <p:cNvPr id="6" name="Slide Number Placeholder 5"/>
          <p:cNvSpPr>
            <a:spLocks noGrp="1"/>
          </p:cNvSpPr>
          <p:nvPr>
            <p:ph type="sldNum" sz="quarter" idx="12"/>
          </p:nvPr>
        </p:nvSpPr>
        <p:spPr/>
        <p:txBody>
          <a:bodyPr/>
          <a:lstStyle/>
          <a:p>
            <a:fld id="{CE45EB1B-5865-4934-8F4B-0B1146C66BF8}" type="slidenum">
              <a:rPr lang="en-GB" smtClean="0"/>
              <a:t>‹#›</a:t>
            </a:fld>
            <a:endParaRPr lang="en-GB" dirty="0"/>
          </a:p>
        </p:txBody>
      </p:sp>
    </p:spTree>
    <p:extLst>
      <p:ext uri="{BB962C8B-B14F-4D97-AF65-F5344CB8AC3E}">
        <p14:creationId xmlns:p14="http://schemas.microsoft.com/office/powerpoint/2010/main" val="2644714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0F33F6-40A7-4CA3-A7AE-2780D334D173}" type="datetime1">
              <a:rPr lang="en-GB" smtClean="0"/>
              <a:t>13/02/2023</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Department of CMIS – 2020/2021</a:t>
            </a:r>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5EB1B-5865-4934-8F4B-0B1146C66BF8}" type="slidenum">
              <a:rPr lang="en-GB" smtClean="0"/>
              <a:t>‹#›</a:t>
            </a:fld>
            <a:endParaRPr lang="en-GB" dirty="0"/>
          </a:p>
        </p:txBody>
      </p:sp>
    </p:spTree>
    <p:extLst>
      <p:ext uri="{BB962C8B-B14F-4D97-AF65-F5344CB8AC3E}">
        <p14:creationId xmlns:p14="http://schemas.microsoft.com/office/powerpoint/2010/main" val="4206304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723900" y="1219200"/>
            <a:ext cx="7772400" cy="1470025"/>
          </a:xfrm>
        </p:spPr>
        <p:txBody>
          <a:bodyPr>
            <a:normAutofit/>
          </a:bodyPr>
          <a:lstStyle/>
          <a:p>
            <a:r>
              <a:rPr lang="en-GB" b="1" dirty="0" smtClean="0">
                <a:solidFill>
                  <a:srgbClr val="FF0000"/>
                </a:solidFill>
                <a:latin typeface="Times New Roman" pitchFamily="18" charset="0"/>
              </a:rPr>
              <a:t>CMIS 3142 - Computational Methods</a:t>
            </a:r>
            <a:endParaRPr lang="en-GB" b="1" dirty="0">
              <a:solidFill>
                <a:srgbClr val="FF0000"/>
              </a:solidFill>
              <a:latin typeface="Times New Roman" pitchFamily="18" charset="0"/>
            </a:endParaRPr>
          </a:p>
        </p:txBody>
      </p:sp>
      <p:sp>
        <p:nvSpPr>
          <p:cNvPr id="5" name="Footer Placeholder 4"/>
          <p:cNvSpPr>
            <a:spLocks noGrp="1"/>
          </p:cNvSpPr>
          <p:nvPr>
            <p:ph type="ftr" sz="quarter" idx="11"/>
          </p:nvPr>
        </p:nvSpPr>
        <p:spPr>
          <a:xfrm>
            <a:off x="3124200" y="6356350"/>
            <a:ext cx="3733800" cy="365125"/>
          </a:xfrm>
        </p:spPr>
        <p:txBody>
          <a:bodyPr/>
          <a:lstStyle/>
          <a:p>
            <a:r>
              <a:rPr lang="en-GB" sz="1600" dirty="0" smtClean="0">
                <a:solidFill>
                  <a:srgbClr val="FF0000"/>
                </a:solidFill>
                <a:latin typeface="Times New Roman" pitchFamily="18" charset="0"/>
                <a:cs typeface="Times New Roman" pitchFamily="18" charset="0"/>
              </a:rPr>
              <a:t>Department of CMIS </a:t>
            </a:r>
            <a:r>
              <a:rPr lang="en-GB" sz="1600" dirty="0" smtClean="0">
                <a:solidFill>
                  <a:srgbClr val="FF0000"/>
                </a:solidFill>
                <a:latin typeface="Times New Roman" pitchFamily="18" charset="0"/>
                <a:cs typeface="Times New Roman" pitchFamily="18" charset="0"/>
              </a:rPr>
              <a:t>– 2020/2021</a:t>
            </a:r>
            <a:endParaRPr lang="en-GB" sz="1600" dirty="0">
              <a:solidFill>
                <a:srgbClr val="FF000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070F1C82-76A8-4956-BD1E-EECB160EC9AA}" type="slidenum">
              <a:rPr lang="en-GB" sz="1800" smtClean="0">
                <a:solidFill>
                  <a:srgbClr val="C00000"/>
                </a:solidFill>
              </a:rPr>
              <a:pPr/>
              <a:t>1</a:t>
            </a:fld>
            <a:endParaRPr lang="en-GB" dirty="0">
              <a:solidFill>
                <a:srgbClr val="C00000"/>
              </a:solidFill>
            </a:endParaRPr>
          </a:p>
        </p:txBody>
      </p:sp>
      <p:sp>
        <p:nvSpPr>
          <p:cNvPr id="3" name="TextBox 2"/>
          <p:cNvSpPr txBox="1"/>
          <p:nvPr/>
        </p:nvSpPr>
        <p:spPr>
          <a:xfrm>
            <a:off x="1905000" y="2895600"/>
            <a:ext cx="5715000" cy="1200329"/>
          </a:xfrm>
          <a:prstGeom prst="rect">
            <a:avLst/>
          </a:prstGeom>
          <a:noFill/>
        </p:spPr>
        <p:txBody>
          <a:bodyPr wrap="square" rtlCol="0">
            <a:spAutoFit/>
          </a:bodyPr>
          <a:lstStyle/>
          <a:p>
            <a:r>
              <a:rPr lang="en-GB" dirty="0" smtClean="0">
                <a:solidFill>
                  <a:srgbClr val="0070C0"/>
                </a:solidFill>
                <a:latin typeface="Times New Roman" panose="02020603050405020304" pitchFamily="18" charset="0"/>
                <a:cs typeface="Times New Roman" panose="02020603050405020304" pitchFamily="18" charset="0"/>
              </a:rPr>
              <a:t>T. Arudchelvam</a:t>
            </a:r>
          </a:p>
          <a:p>
            <a:r>
              <a:rPr lang="en-GB" dirty="0" smtClean="0">
                <a:solidFill>
                  <a:srgbClr val="0070C0"/>
                </a:solidFill>
                <a:latin typeface="Times New Roman" panose="02020603050405020304" pitchFamily="18" charset="0"/>
                <a:cs typeface="Times New Roman" panose="02020603050405020304" pitchFamily="18" charset="0"/>
              </a:rPr>
              <a:t>Department of CMIS,</a:t>
            </a:r>
          </a:p>
          <a:p>
            <a:r>
              <a:rPr lang="en-GB" dirty="0" smtClean="0">
                <a:solidFill>
                  <a:srgbClr val="0070C0"/>
                </a:solidFill>
                <a:latin typeface="Times New Roman" panose="02020603050405020304" pitchFamily="18" charset="0"/>
                <a:cs typeface="Times New Roman" panose="02020603050405020304" pitchFamily="18" charset="0"/>
              </a:rPr>
              <a:t>Faculty of Applied Sciences,</a:t>
            </a:r>
          </a:p>
          <a:p>
            <a:r>
              <a:rPr lang="en-GB" dirty="0" smtClean="0">
                <a:solidFill>
                  <a:srgbClr val="0070C0"/>
                </a:solidFill>
                <a:latin typeface="Times New Roman" panose="02020603050405020304" pitchFamily="18" charset="0"/>
                <a:cs typeface="Times New Roman" panose="02020603050405020304" pitchFamily="18" charset="0"/>
              </a:rPr>
              <a:t>Wayamba University of Sri Lanka</a:t>
            </a:r>
            <a:endParaRPr lang="en-GB"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577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486400"/>
          </a:xfrm>
        </p:spPr>
        <p:txBody>
          <a:bodyPr>
            <a:normAutofit fontScale="77500" lnSpcReduction="20000"/>
          </a:bodyPr>
          <a:lstStyle/>
          <a:p>
            <a:pPr lvl="0"/>
            <a:r>
              <a:rPr lang="en-US" i="1" dirty="0">
                <a:latin typeface="Times New Roman" pitchFamily="18" charset="0"/>
                <a:cs typeface="Times New Roman" pitchFamily="18" charset="0"/>
              </a:rPr>
              <a:t>Data Representation and Computational Error: </a:t>
            </a:r>
            <a:endParaRPr lang="en-US" dirty="0" smtClean="0">
              <a:effectLst/>
              <a:latin typeface="Times New Roman" pitchFamily="18" charset="0"/>
              <a:cs typeface="Times New Roman" pitchFamily="18" charset="0"/>
            </a:endParaRPr>
          </a:p>
          <a:p>
            <a:pPr lvl="1" algn="just"/>
            <a:r>
              <a:rPr lang="en-US" dirty="0">
                <a:latin typeface="Times New Roman" pitchFamily="18" charset="0"/>
                <a:cs typeface="Times New Roman" pitchFamily="18" charset="0"/>
              </a:rPr>
              <a:t>Floating-point numbers, rounding rules, machine precision, floating-point arithmetic; well-posed problems, problems vs. algorithms, data error vs. computational error, forward error vs. backward error, conditioning of a problem, stability of an algorithm.</a:t>
            </a:r>
          </a:p>
          <a:p>
            <a:pPr lvl="0"/>
            <a:r>
              <a:rPr lang="en-US" i="1" dirty="0">
                <a:latin typeface="Times New Roman" pitchFamily="18" charset="0"/>
                <a:cs typeface="Times New Roman" pitchFamily="18" charset="0"/>
              </a:rPr>
              <a:t>System of Linear Equations: </a:t>
            </a:r>
            <a:endParaRPr lang="en-US" dirty="0" smtClean="0">
              <a:effectLst/>
              <a:latin typeface="Times New Roman" pitchFamily="18" charset="0"/>
              <a:cs typeface="Times New Roman" pitchFamily="18" charset="0"/>
            </a:endParaRPr>
          </a:p>
          <a:p>
            <a:pPr lvl="1"/>
            <a:r>
              <a:rPr lang="en-US" dirty="0">
                <a:latin typeface="Times New Roman" pitchFamily="18" charset="0"/>
                <a:cs typeface="Times New Roman" pitchFamily="18" charset="0"/>
              </a:rPr>
              <a:t>Programming aspects for different types of matrices such as full matrix, symmetric matrix, sparse matrix, symmetric sparse matrix, row vector, column vector.</a:t>
            </a:r>
          </a:p>
          <a:p>
            <a:pPr lvl="1" algn="just"/>
            <a:r>
              <a:rPr lang="en-US" dirty="0">
                <a:latin typeface="Times New Roman" pitchFamily="18" charset="0"/>
                <a:cs typeface="Times New Roman" pitchFamily="18" charset="0"/>
              </a:rPr>
              <a:t>Program Design for matrices and other relevant Operations, SOR (Successive over relaxation Method), </a:t>
            </a:r>
            <a:r>
              <a:rPr lang="en-US" dirty="0" err="1">
                <a:latin typeface="Times New Roman" pitchFamily="18" charset="0"/>
                <a:cs typeface="Times New Roman" pitchFamily="18" charset="0"/>
              </a:rPr>
              <a:t>Cholesky</a:t>
            </a:r>
            <a:r>
              <a:rPr lang="en-US" dirty="0">
                <a:latin typeface="Times New Roman" pitchFamily="18" charset="0"/>
                <a:cs typeface="Times New Roman" pitchFamily="18" charset="0"/>
              </a:rPr>
              <a:t> Method, ICCG (Incomplete </a:t>
            </a:r>
            <a:r>
              <a:rPr lang="en-US" dirty="0" err="1">
                <a:latin typeface="Times New Roman" pitchFamily="18" charset="0"/>
                <a:cs typeface="Times New Roman" pitchFamily="18" charset="0"/>
              </a:rPr>
              <a:t>Choleski</a:t>
            </a:r>
            <a:r>
              <a:rPr lang="en-US" dirty="0">
                <a:latin typeface="Times New Roman" pitchFamily="18" charset="0"/>
                <a:cs typeface="Times New Roman" pitchFamily="18" charset="0"/>
              </a:rPr>
              <a:t> Conjugate Gradient method).</a:t>
            </a:r>
          </a:p>
          <a:p>
            <a:pPr lvl="1"/>
            <a:r>
              <a:rPr lang="en-US" dirty="0">
                <a:latin typeface="Times New Roman" pitchFamily="18" charset="0"/>
                <a:cs typeface="Times New Roman" pitchFamily="18" charset="0"/>
              </a:rPr>
              <a:t>Program design for different problems using matrices</a:t>
            </a:r>
          </a:p>
          <a:p>
            <a:pPr lvl="0" algn="just"/>
            <a:r>
              <a:rPr lang="en-US" i="1" dirty="0">
                <a:latin typeface="Times New Roman" pitchFamily="18" charset="0"/>
                <a:cs typeface="Times New Roman" pitchFamily="18" charset="0"/>
              </a:rPr>
              <a:t>Fixed point iteration, Jacobian Matrix, Finite Difference Method</a:t>
            </a:r>
            <a:endParaRPr lang="en-US" dirty="0" smtClean="0">
              <a:effectLst/>
              <a:latin typeface="Times New Roman" pitchFamily="18" charset="0"/>
              <a:cs typeface="Times New Roman" pitchFamily="18" charset="0"/>
            </a:endParaRPr>
          </a:p>
          <a:p>
            <a:endParaRPr lang="en-GB" dirty="0">
              <a:latin typeface="Times New Roman" pitchFamily="18" charset="0"/>
              <a:cs typeface="Times New Roman" pitchFamily="18" charset="0"/>
            </a:endParaRPr>
          </a:p>
        </p:txBody>
      </p:sp>
      <p:sp>
        <p:nvSpPr>
          <p:cNvPr id="5" name="Title 1"/>
          <p:cNvSpPr txBox="1">
            <a:spLocks/>
          </p:cNvSpPr>
          <p:nvPr/>
        </p:nvSpPr>
        <p:spPr>
          <a:xfrm>
            <a:off x="457200" y="274638"/>
            <a:ext cx="8229600" cy="715962"/>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1" i="0" u="none" strike="noStrike" kern="1200" cap="none" spc="0" normalizeH="0" baseline="0" noProof="0" dirty="0" smtClean="0">
                <a:ln>
                  <a:noFill/>
                </a:ln>
                <a:solidFill>
                  <a:srgbClr val="FF0000"/>
                </a:solidFill>
                <a:effectLst/>
                <a:uLnTx/>
                <a:uFillTx/>
                <a:latin typeface="Times New Roman"/>
                <a:ea typeface="+mj-ea"/>
                <a:cs typeface="+mj-cs"/>
              </a:rPr>
              <a:t>Areas to be covered</a:t>
            </a:r>
            <a:endParaRPr kumimoji="0" lang="en-GB" sz="4400" b="1" i="0" u="none" strike="noStrike" kern="1200" cap="none" spc="0" normalizeH="0" baseline="0" noProof="0" dirty="0">
              <a:ln>
                <a:noFill/>
              </a:ln>
              <a:solidFill>
                <a:srgbClr val="FF0000"/>
              </a:solidFill>
              <a:effectLst/>
              <a:uLnTx/>
              <a:uFillTx/>
              <a:latin typeface="Times New Roman"/>
              <a:ea typeface="+mj-ea"/>
              <a:cs typeface="+mj-cs"/>
            </a:endParaRPr>
          </a:p>
        </p:txBody>
      </p:sp>
      <p:sp>
        <p:nvSpPr>
          <p:cNvPr id="2" name="Footer Placeholder 1"/>
          <p:cNvSpPr>
            <a:spLocks noGrp="1"/>
          </p:cNvSpPr>
          <p:nvPr>
            <p:ph type="ftr" sz="quarter" idx="11"/>
          </p:nvPr>
        </p:nvSpPr>
        <p:spPr/>
        <p:txBody>
          <a:bodyPr/>
          <a:lstStyle/>
          <a:p>
            <a:r>
              <a:rPr lang="en-GB" smtClean="0"/>
              <a:t>Department of CMIS – 2020/2021</a:t>
            </a:r>
            <a:endParaRPr lang="en-GB" dirty="0"/>
          </a:p>
        </p:txBody>
      </p:sp>
      <p:sp>
        <p:nvSpPr>
          <p:cNvPr id="4" name="Slide Number Placeholder 3"/>
          <p:cNvSpPr>
            <a:spLocks noGrp="1"/>
          </p:cNvSpPr>
          <p:nvPr>
            <p:ph type="sldNum" sz="quarter" idx="12"/>
          </p:nvPr>
        </p:nvSpPr>
        <p:spPr/>
        <p:txBody>
          <a:bodyPr/>
          <a:lstStyle/>
          <a:p>
            <a:fld id="{CE45EB1B-5865-4934-8F4B-0B1146C66BF8}" type="slidenum">
              <a:rPr lang="en-GB" smtClean="0"/>
              <a:t>2</a:t>
            </a:fld>
            <a:endParaRPr lang="en-GB" dirty="0"/>
          </a:p>
        </p:txBody>
      </p:sp>
    </p:spTree>
    <p:extLst>
      <p:ext uri="{BB962C8B-B14F-4D97-AF65-F5344CB8AC3E}">
        <p14:creationId xmlns:p14="http://schemas.microsoft.com/office/powerpoint/2010/main" val="1122443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8229600" cy="1143000"/>
          </a:xfrm>
        </p:spPr>
        <p:txBody>
          <a:bodyPr/>
          <a:lstStyle/>
          <a:p>
            <a:r>
              <a:rPr lang="en-GB" b="1" dirty="0" smtClean="0">
                <a:solidFill>
                  <a:srgbClr val="FF0000"/>
                </a:solidFill>
                <a:latin typeface="Times New Roman" panose="02020603050405020304" pitchFamily="18" charset="0"/>
                <a:cs typeface="Times New Roman" panose="02020603050405020304" pitchFamily="18" charset="0"/>
              </a:rPr>
              <a:t>Error Analysis </a:t>
            </a:r>
            <a:endParaRPr lang="en-GB" b="1" dirty="0">
              <a:solidFill>
                <a:srgbClr val="FF0000"/>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GB" smtClean="0"/>
              <a:t>Department of CMIS – 2020/2021</a:t>
            </a:r>
            <a:endParaRPr lang="en-GB" dirty="0"/>
          </a:p>
        </p:txBody>
      </p:sp>
      <p:sp>
        <p:nvSpPr>
          <p:cNvPr id="4" name="Slide Number Placeholder 3"/>
          <p:cNvSpPr>
            <a:spLocks noGrp="1"/>
          </p:cNvSpPr>
          <p:nvPr>
            <p:ph type="sldNum" sz="quarter" idx="12"/>
          </p:nvPr>
        </p:nvSpPr>
        <p:spPr/>
        <p:txBody>
          <a:bodyPr/>
          <a:lstStyle/>
          <a:p>
            <a:fld id="{CE45EB1B-5865-4934-8F4B-0B1146C66BF8}" type="slidenum">
              <a:rPr lang="en-GB" smtClean="0"/>
              <a:t>3</a:t>
            </a:fld>
            <a:endParaRPr lang="en-GB" dirty="0"/>
          </a:p>
        </p:txBody>
      </p:sp>
    </p:spTree>
    <p:extLst>
      <p:ext uri="{BB962C8B-B14F-4D97-AF65-F5344CB8AC3E}">
        <p14:creationId xmlns:p14="http://schemas.microsoft.com/office/powerpoint/2010/main" val="11713582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Accuracy and Precision </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b="1" dirty="0">
                <a:solidFill>
                  <a:srgbClr val="FF0000"/>
                </a:solidFill>
                <a:latin typeface="Times New Roman" pitchFamily="18" charset="0"/>
                <a:cs typeface="Times New Roman" pitchFamily="18" charset="0"/>
              </a:rPr>
              <a:t>Accuracy</a:t>
            </a:r>
            <a:r>
              <a:rPr lang="en-US" dirty="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refers to how closely a computed </a:t>
            </a:r>
            <a:r>
              <a:rPr lang="en-US" dirty="0" smtClean="0">
                <a:latin typeface="Times New Roman" pitchFamily="18" charset="0"/>
                <a:cs typeface="Times New Roman" pitchFamily="18" charset="0"/>
              </a:rPr>
              <a:t>or measured </a:t>
            </a:r>
            <a:r>
              <a:rPr lang="en-US" dirty="0">
                <a:latin typeface="Times New Roman" pitchFamily="18" charset="0"/>
                <a:cs typeface="Times New Roman" pitchFamily="18" charset="0"/>
              </a:rPr>
              <a:t>value agrees with the true value, </a:t>
            </a:r>
            <a:r>
              <a:rPr lang="en-US" dirty="0" smtClean="0">
                <a:latin typeface="Times New Roman" pitchFamily="18" charset="0"/>
                <a:cs typeface="Times New Roman" pitchFamily="18" charset="0"/>
              </a:rPr>
              <a:t>while </a:t>
            </a:r>
            <a:r>
              <a:rPr lang="en-US" b="1" dirty="0" smtClean="0">
                <a:solidFill>
                  <a:srgbClr val="FF0000"/>
                </a:solidFill>
                <a:latin typeface="Times New Roman" pitchFamily="18" charset="0"/>
                <a:cs typeface="Times New Roman" pitchFamily="18" charset="0"/>
              </a:rPr>
              <a:t>precision</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refers to how closely individual computed </a:t>
            </a:r>
            <a:r>
              <a:rPr lang="en-US" dirty="0" smtClean="0">
                <a:latin typeface="Times New Roman" pitchFamily="18" charset="0"/>
                <a:cs typeface="Times New Roman" pitchFamily="18" charset="0"/>
              </a:rPr>
              <a:t>or measured </a:t>
            </a:r>
            <a:r>
              <a:rPr lang="en-US" dirty="0">
                <a:latin typeface="Times New Roman" pitchFamily="18" charset="0"/>
                <a:cs typeface="Times New Roman" pitchFamily="18" charset="0"/>
              </a:rPr>
              <a:t>values agree with each other</a:t>
            </a: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4</a:t>
            </a:fld>
            <a:endParaRPr lang="en-GB" dirty="0"/>
          </a:p>
        </p:txBody>
      </p:sp>
    </p:spTree>
    <p:extLst>
      <p:ext uri="{BB962C8B-B14F-4D97-AF65-F5344CB8AC3E}">
        <p14:creationId xmlns:p14="http://schemas.microsoft.com/office/powerpoint/2010/main" val="35226260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normAutofit/>
          </a:bodyPr>
          <a:lstStyle/>
          <a:p>
            <a:r>
              <a:rPr lang="en-US" b="1" dirty="0" smtClean="0">
                <a:solidFill>
                  <a:srgbClr val="FF0000"/>
                </a:solidFill>
                <a:latin typeface="Times New Roman" pitchFamily="18" charset="0"/>
                <a:cs typeface="Times New Roman" pitchFamily="18" charset="0"/>
              </a:rPr>
              <a:t>Error</a:t>
            </a:r>
            <a:endParaRPr lang="en-US" b="1" dirty="0">
              <a:solidFill>
                <a:srgbClr val="FF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Content Placeholder 2"/>
              <p:cNvSpPr>
                <a:spLocks noGrp="1"/>
              </p:cNvSpPr>
              <p:nvPr>
                <p:ph idx="1"/>
              </p:nvPr>
            </p:nvSpPr>
            <p:spPr>
              <a:xfrm>
                <a:off x="0" y="838200"/>
                <a:ext cx="9144000" cy="5287963"/>
              </a:xfrm>
            </p:spPr>
            <p:txBody>
              <a:bodyPr>
                <a:normAutofit/>
              </a:bodyPr>
              <a:lstStyle/>
              <a:p>
                <a:r>
                  <a:rPr lang="en-US" b="1" dirty="0" smtClean="0">
                    <a:solidFill>
                      <a:srgbClr val="FF0000"/>
                    </a:solidFill>
                  </a:rPr>
                  <a:t>True error </a:t>
                </a:r>
                <a:r>
                  <a:rPr lang="en-US" dirty="0"/>
                  <a:t>(</a:t>
                </a:r>
                <a:r>
                  <a:rPr lang="en-US" i="1" dirty="0"/>
                  <a:t>Et</a:t>
                </a:r>
                <a:r>
                  <a:rPr lang="en-US" dirty="0"/>
                  <a:t>): the difference between the </a:t>
                </a:r>
                <a:r>
                  <a:rPr lang="en-US" dirty="0" smtClean="0"/>
                  <a:t>true value </a:t>
                </a:r>
                <a:r>
                  <a:rPr lang="en-US" dirty="0"/>
                  <a:t>and the </a:t>
                </a:r>
                <a:r>
                  <a:rPr lang="en-US" dirty="0" smtClean="0"/>
                  <a:t>approximation</a:t>
                </a:r>
              </a:p>
              <a:p>
                <a:pPr marL="457200" lvl="1" indent="0">
                  <a:buNone/>
                </a:pPr>
                <a:r>
                  <a:rPr lang="en-US" dirty="0" smtClean="0">
                    <a:latin typeface="Times New Roman" pitchFamily="18" charset="0"/>
                    <a:cs typeface="Times New Roman" pitchFamily="18" charset="0"/>
                  </a:rPr>
                  <a:t>    E</a:t>
                </a:r>
                <a:r>
                  <a:rPr lang="en-US" sz="2400" baseline="-25000" dirty="0" smtClean="0">
                    <a:latin typeface="Times New Roman" pitchFamily="18" charset="0"/>
                    <a:cs typeface="Times New Roman" pitchFamily="18" charset="0"/>
                  </a:rPr>
                  <a:t>t</a:t>
                </a:r>
                <a:r>
                  <a:rPr lang="en-US" dirty="0" smtClean="0">
                    <a:latin typeface="Times New Roman" pitchFamily="18" charset="0"/>
                    <a:cs typeface="Times New Roman" pitchFamily="18" charset="0"/>
                  </a:rPr>
                  <a:t> = </a:t>
                </a:r>
                <a:r>
                  <a:rPr lang="en-US" dirty="0">
                    <a:latin typeface="Times New Roman" pitchFamily="18" charset="0"/>
                    <a:cs typeface="Times New Roman" pitchFamily="18" charset="0"/>
                  </a:rPr>
                  <a:t>true value </a:t>
                </a:r>
                <a:r>
                  <a:rPr lang="en-US" dirty="0" smtClean="0">
                    <a:latin typeface="Times New Roman" pitchFamily="18" charset="0"/>
                    <a:cs typeface="Times New Roman" pitchFamily="18" charset="0"/>
                  </a:rPr>
                  <a:t>– approximation</a:t>
                </a:r>
              </a:p>
              <a:p>
                <a:r>
                  <a:rPr lang="en-US" b="1" dirty="0">
                    <a:solidFill>
                      <a:srgbClr val="FF0000"/>
                    </a:solidFill>
                  </a:rPr>
                  <a:t>Absolute error </a:t>
                </a:r>
                <a:r>
                  <a:rPr lang="en-US" dirty="0"/>
                  <a:t>(|</a:t>
                </a:r>
                <a:r>
                  <a:rPr lang="en-US" i="1" dirty="0"/>
                  <a:t>Et</a:t>
                </a:r>
                <a:r>
                  <a:rPr lang="en-US" dirty="0"/>
                  <a:t>|): the absolute </a:t>
                </a:r>
                <a:r>
                  <a:rPr lang="en-US" dirty="0" smtClean="0"/>
                  <a:t>difference between </a:t>
                </a:r>
                <a:r>
                  <a:rPr lang="en-US" dirty="0"/>
                  <a:t>the true value and </a:t>
                </a:r>
                <a:r>
                  <a:rPr lang="en-US" dirty="0" smtClean="0"/>
                  <a:t>the approximation</a:t>
                </a:r>
                <a:endParaRPr lang="en-US" dirty="0"/>
              </a:p>
              <a:p>
                <a:r>
                  <a:rPr lang="en-US" b="1" dirty="0">
                    <a:solidFill>
                      <a:srgbClr val="FF0000"/>
                    </a:solidFill>
                  </a:rPr>
                  <a:t>True fractional relative error</a:t>
                </a:r>
                <a:r>
                  <a:rPr lang="en-US" dirty="0"/>
                  <a:t>: the true </a:t>
                </a:r>
                <a:r>
                  <a:rPr lang="en-US" dirty="0" smtClean="0"/>
                  <a:t>error divided </a:t>
                </a:r>
                <a:r>
                  <a:rPr lang="en-US" dirty="0"/>
                  <a:t>by the true </a:t>
                </a:r>
                <a:r>
                  <a:rPr lang="en-US" dirty="0" smtClean="0"/>
                  <a:t>value</a:t>
                </a:r>
              </a:p>
              <a:p>
                <a:pPr marL="457200" lvl="1" indent="0">
                  <a:buNone/>
                </a:pPr>
                <a14:m>
                  <m:oMathPara xmlns:m="http://schemas.openxmlformats.org/officeDocument/2006/math">
                    <m:oMathParaPr>
                      <m:jc m:val="centerGroup"/>
                    </m:oMathParaPr>
                    <m:oMath xmlns:m="http://schemas.openxmlformats.org/officeDocument/2006/math">
                      <m:r>
                        <m:rPr>
                          <m:nor/>
                        </m:rPr>
                        <a:rPr lang="en-US" sz="2000" i="1">
                          <a:latin typeface="Cambria Math"/>
                          <a:cs typeface="Times New Roman" pitchFamily="18" charset="0"/>
                        </a:rPr>
                        <m:t>True</m:t>
                      </m:r>
                      <m:r>
                        <m:rPr>
                          <m:nor/>
                        </m:rPr>
                        <a:rPr lang="en-US" sz="2000" i="1">
                          <a:latin typeface="Cambria Math"/>
                          <a:cs typeface="Times New Roman" pitchFamily="18" charset="0"/>
                        </a:rPr>
                        <m:t> </m:t>
                      </m:r>
                      <m:r>
                        <m:rPr>
                          <m:nor/>
                        </m:rPr>
                        <a:rPr lang="en-US" sz="2000" i="1">
                          <a:latin typeface="Cambria Math"/>
                          <a:cs typeface="Times New Roman" pitchFamily="18" charset="0"/>
                        </a:rPr>
                        <m:t>fractional</m:t>
                      </m:r>
                      <m:r>
                        <m:rPr>
                          <m:nor/>
                        </m:rPr>
                        <a:rPr lang="en-US" sz="2000" i="1">
                          <a:latin typeface="Cambria Math"/>
                          <a:cs typeface="Times New Roman" pitchFamily="18" charset="0"/>
                        </a:rPr>
                        <m:t> </m:t>
                      </m:r>
                      <m:r>
                        <m:rPr>
                          <m:nor/>
                        </m:rPr>
                        <a:rPr lang="en-US" sz="2000" i="1">
                          <a:latin typeface="Cambria Math"/>
                          <a:cs typeface="Times New Roman" pitchFamily="18" charset="0"/>
                        </a:rPr>
                        <m:t>relative</m:t>
                      </m:r>
                      <m:r>
                        <m:rPr>
                          <m:nor/>
                        </m:rPr>
                        <a:rPr lang="en-US" sz="2000" i="1">
                          <a:latin typeface="Cambria Math"/>
                          <a:cs typeface="Times New Roman" pitchFamily="18" charset="0"/>
                        </a:rPr>
                        <m:t> </m:t>
                      </m:r>
                      <m:r>
                        <m:rPr>
                          <m:nor/>
                        </m:rPr>
                        <a:rPr lang="en-US" sz="2000" i="1">
                          <a:latin typeface="Cambria Math"/>
                          <a:cs typeface="Times New Roman" pitchFamily="18" charset="0"/>
                        </a:rPr>
                        <m:t>error</m:t>
                      </m:r>
                      <m:r>
                        <a:rPr lang="en-US" sz="2000" i="1">
                          <a:latin typeface="Cambria Math"/>
                          <a:cs typeface="Times New Roman" pitchFamily="18" charset="0"/>
                        </a:rPr>
                        <m:t>=</m:t>
                      </m:r>
                      <m:f>
                        <m:fPr>
                          <m:ctrlPr>
                            <a:rPr lang="en-US" sz="2000" i="1">
                              <a:latin typeface="Cambria Math"/>
                              <a:cs typeface="Times New Roman" pitchFamily="18" charset="0"/>
                            </a:rPr>
                          </m:ctrlPr>
                        </m:fPr>
                        <m:num>
                          <m:r>
                            <a:rPr lang="en-US" sz="2000" i="1">
                              <a:latin typeface="Cambria Math"/>
                              <a:cs typeface="Times New Roman" pitchFamily="18" charset="0"/>
                            </a:rPr>
                            <m:t>𝑇𝑟𝑢𝑒</m:t>
                          </m:r>
                          <m:r>
                            <a:rPr lang="en-US" sz="2000" i="1">
                              <a:latin typeface="Cambria Math"/>
                              <a:cs typeface="Times New Roman" pitchFamily="18" charset="0"/>
                            </a:rPr>
                            <m:t> </m:t>
                          </m:r>
                          <m:r>
                            <a:rPr lang="en-US" sz="2000" i="1">
                              <a:latin typeface="Cambria Math"/>
                              <a:cs typeface="Times New Roman" pitchFamily="18" charset="0"/>
                            </a:rPr>
                            <m:t>𝑣𝑎𝑙𝑢𝑒</m:t>
                          </m:r>
                          <m:r>
                            <a:rPr lang="en-US" sz="2000" i="1">
                              <a:latin typeface="Cambria Math"/>
                              <a:cs typeface="Times New Roman" pitchFamily="18" charset="0"/>
                            </a:rPr>
                            <m:t> − </m:t>
                          </m:r>
                          <m:r>
                            <a:rPr lang="en-US" sz="2000" i="1">
                              <a:latin typeface="Cambria Math"/>
                              <a:cs typeface="Times New Roman" pitchFamily="18" charset="0"/>
                            </a:rPr>
                            <m:t>𝑎𝑝𝑝𝑟𝑜𝑥𝑖𝑚𝑎𝑡𝑖𝑜𝑛</m:t>
                          </m:r>
                        </m:num>
                        <m:den>
                          <m:r>
                            <a:rPr lang="en-US" sz="2000" i="1">
                              <a:latin typeface="Cambria Math"/>
                              <a:cs typeface="Times New Roman" pitchFamily="18" charset="0"/>
                            </a:rPr>
                            <m:t>𝑇𝑟𝑢𝑒</m:t>
                          </m:r>
                          <m:r>
                            <a:rPr lang="en-US" sz="2000" i="1">
                              <a:latin typeface="Cambria Math"/>
                              <a:cs typeface="Times New Roman" pitchFamily="18" charset="0"/>
                            </a:rPr>
                            <m:t> </m:t>
                          </m:r>
                          <m:r>
                            <a:rPr lang="en-US" sz="2000" i="1">
                              <a:latin typeface="Cambria Math"/>
                              <a:cs typeface="Times New Roman" pitchFamily="18" charset="0"/>
                            </a:rPr>
                            <m:t>𝑉𝑎𝑙𝑢𝑒</m:t>
                          </m:r>
                        </m:den>
                      </m:f>
                    </m:oMath>
                  </m:oMathPara>
                </a14:m>
                <a:endParaRPr lang="en-US" sz="2000" i="1" dirty="0">
                  <a:latin typeface="Cambria Math"/>
                  <a:cs typeface="Times New Roman" pitchFamily="18" charset="0"/>
                </a:endParaRPr>
              </a:p>
              <a:p>
                <a:endParaRPr lang="en-US" dirty="0">
                  <a:latin typeface="Times New Roman" pitchFamily="18" charset="0"/>
                  <a:cs typeface="Times New Roman" pitchFamily="18" charset="0"/>
                </a:endParaRPr>
              </a:p>
            </p:txBody>
          </p:sp>
        </mc:Choice>
        <mc:Fallback xmlns="">
          <p:sp>
            <p:nvSpPr>
              <p:cNvPr id="4" name="Content Placeholder 2"/>
              <p:cNvSpPr>
                <a:spLocks noGrp="1" noRot="1" noChangeAspect="1" noMove="1" noResize="1" noEditPoints="1" noAdjustHandles="1" noChangeArrowheads="1" noChangeShapeType="1" noTextEdit="1"/>
              </p:cNvSpPr>
              <p:nvPr>
                <p:ph idx="1"/>
              </p:nvPr>
            </p:nvSpPr>
            <p:spPr>
              <a:xfrm>
                <a:off x="0" y="838200"/>
                <a:ext cx="9144000" cy="5287963"/>
              </a:xfrm>
              <a:blipFill rotWithShape="1">
                <a:blip r:embed="rId2"/>
                <a:stretch>
                  <a:fillRect l="-1467" t="-1499" r="-1733"/>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5</a:t>
            </a:fld>
            <a:endParaRPr lang="en-GB" dirty="0"/>
          </a:p>
        </p:txBody>
      </p:sp>
    </p:spTree>
    <p:extLst>
      <p:ext uri="{BB962C8B-B14F-4D97-AF65-F5344CB8AC3E}">
        <p14:creationId xmlns:p14="http://schemas.microsoft.com/office/powerpoint/2010/main" val="23616835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smtClean="0"/>
                  <a:t>Relative error </a:t>
                </a:r>
                <a:r>
                  <a:rPr lang="en-US" dirty="0"/>
                  <a:t>( </a:t>
                </a:r>
                <a:r>
                  <a:rPr lang="en-US" dirty="0">
                    <a:sym typeface="Symbol"/>
                  </a:rPr>
                  <a:t></a:t>
                </a:r>
                <a:r>
                  <a:rPr lang="en-US" i="1" baseline="-25000" dirty="0" smtClean="0"/>
                  <a:t>t</a:t>
                </a:r>
                <a:r>
                  <a:rPr lang="en-US" dirty="0"/>
                  <a:t>): the true fractional </a:t>
                </a:r>
                <a:r>
                  <a:rPr lang="en-US" dirty="0" smtClean="0"/>
                  <a:t>relative error </a:t>
                </a:r>
                <a:r>
                  <a:rPr lang="en-US" dirty="0"/>
                  <a:t>can be </a:t>
                </a:r>
                <a:r>
                  <a:rPr lang="en-US" dirty="0" smtClean="0"/>
                  <a:t>expressed </a:t>
                </a:r>
                <a:r>
                  <a:rPr lang="en-US" dirty="0"/>
                  <a:t>as a </a:t>
                </a:r>
                <a:r>
                  <a:rPr lang="en-US" dirty="0" smtClean="0"/>
                  <a:t>percentage</a:t>
                </a:r>
                <a:endParaRPr lang="en-US" dirty="0"/>
              </a:p>
              <a:p>
                <a:pPr marL="1608138" indent="0">
                  <a:buNone/>
                </a:pPr>
                <a14:m>
                  <m:oMath xmlns:m="http://schemas.openxmlformats.org/officeDocument/2006/math">
                    <m:r>
                      <a:rPr lang="en-US" i="1" smtClean="0">
                        <a:latin typeface="Cambria Math"/>
                        <a:ea typeface="Cambria Math"/>
                      </a:rPr>
                      <m:t>𝜀</m:t>
                    </m:r>
                    <m:r>
                      <a:rPr lang="en-US" b="0" i="1" baseline="-25000" smtClean="0">
                        <a:latin typeface="Cambria Math"/>
                        <a:ea typeface="Cambria Math"/>
                      </a:rPr>
                      <m:t>𝑡</m:t>
                    </m:r>
                  </m:oMath>
                </a14:m>
                <a:r>
                  <a:rPr lang="en-US" b="0" dirty="0" smtClean="0">
                    <a:ea typeface="Cambria Math"/>
                  </a:rPr>
                  <a:t>= </a:t>
                </a:r>
                <a14:m>
                  <m:oMath xmlns:m="http://schemas.openxmlformats.org/officeDocument/2006/math">
                    <m:f>
                      <m:fPr>
                        <m:ctrlPr>
                          <a:rPr lang="en-US" i="1">
                            <a:latin typeface="Cambria Math"/>
                            <a:cs typeface="Times New Roman" pitchFamily="18" charset="0"/>
                          </a:rPr>
                        </m:ctrlPr>
                      </m:fPr>
                      <m:num>
                        <m:r>
                          <a:rPr lang="en-US" i="1">
                            <a:latin typeface="Cambria Math"/>
                            <a:cs typeface="Times New Roman" pitchFamily="18" charset="0"/>
                          </a:rPr>
                          <m:t>𝑇𝑟𝑢𝑒</m:t>
                        </m:r>
                        <m:r>
                          <a:rPr lang="en-US" i="1">
                            <a:latin typeface="Cambria Math"/>
                            <a:cs typeface="Times New Roman" pitchFamily="18" charset="0"/>
                          </a:rPr>
                          <m:t> </m:t>
                        </m:r>
                        <m:r>
                          <a:rPr lang="en-US" i="1">
                            <a:latin typeface="Cambria Math"/>
                            <a:cs typeface="Times New Roman" pitchFamily="18" charset="0"/>
                          </a:rPr>
                          <m:t>𝑣𝑎𝑙𝑢𝑒</m:t>
                        </m:r>
                        <m:r>
                          <a:rPr lang="en-US" i="1">
                            <a:latin typeface="Cambria Math"/>
                            <a:cs typeface="Times New Roman" pitchFamily="18" charset="0"/>
                          </a:rPr>
                          <m:t> − </m:t>
                        </m:r>
                        <m:r>
                          <a:rPr lang="en-US" i="1">
                            <a:latin typeface="Cambria Math"/>
                            <a:cs typeface="Times New Roman" pitchFamily="18" charset="0"/>
                          </a:rPr>
                          <m:t>𝑎𝑝𝑝𝑟𝑜𝑥𝑖𝑚𝑎𝑡𝑖𝑜𝑛</m:t>
                        </m:r>
                      </m:num>
                      <m:den>
                        <m:r>
                          <a:rPr lang="en-US" i="1">
                            <a:latin typeface="Cambria Math"/>
                            <a:cs typeface="Times New Roman" pitchFamily="18" charset="0"/>
                          </a:rPr>
                          <m:t>𝑇𝑟𝑢𝑒</m:t>
                        </m:r>
                        <m:r>
                          <a:rPr lang="en-US" i="1">
                            <a:latin typeface="Cambria Math"/>
                            <a:cs typeface="Times New Roman" pitchFamily="18" charset="0"/>
                          </a:rPr>
                          <m:t> </m:t>
                        </m:r>
                        <m:r>
                          <a:rPr lang="en-US" i="1">
                            <a:latin typeface="Cambria Math"/>
                            <a:cs typeface="Times New Roman" pitchFamily="18" charset="0"/>
                          </a:rPr>
                          <m:t>𝑉𝑎𝑙𝑢𝑒</m:t>
                        </m:r>
                      </m:den>
                    </m:f>
                    <m:r>
                      <a:rPr lang="en-US" b="0" i="1" smtClean="0">
                        <a:latin typeface="Cambria Math"/>
                        <a:cs typeface="Times New Roman" pitchFamily="18" charset="0"/>
                      </a:rPr>
                      <m:t> 100%</m:t>
                    </m:r>
                  </m:oMath>
                </a14:m>
                <a:endParaRPr lang="en-US" b="0" dirty="0" smtClean="0">
                  <a:cs typeface="Times New Roman" pitchFamily="18" charset="0"/>
                </a:endParaRPr>
              </a:p>
              <a:p>
                <a:pPr marL="1608138" indent="0">
                  <a:buNone/>
                </a:pPr>
                <a:endParaRPr lang="en-US" b="0" dirty="0" smtClean="0">
                  <a:ea typeface="Cambria Math"/>
                </a:endParaRPr>
              </a:p>
              <a:p>
                <a:pPr marL="1608138" indent="0">
                  <a:buNone/>
                </a:pPr>
                <a:endParaRPr lang="en-US" b="0" dirty="0" smtClean="0">
                  <a:ea typeface="Cambria Math"/>
                </a:endParaRPr>
              </a:p>
              <a:p>
                <a:r>
                  <a:rPr lang="en-US"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2022" r="-889"/>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6</a:t>
            </a:fld>
            <a:endParaRPr lang="en-GB" dirty="0"/>
          </a:p>
        </p:txBody>
      </p:sp>
    </p:spTree>
    <p:extLst>
      <p:ext uri="{BB962C8B-B14F-4D97-AF65-F5344CB8AC3E}">
        <p14:creationId xmlns:p14="http://schemas.microsoft.com/office/powerpoint/2010/main" val="13544829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Error Types</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Round off error</a:t>
            </a:r>
          </a:p>
          <a:p>
            <a:r>
              <a:rPr lang="en-US" dirty="0" smtClean="0">
                <a:latin typeface="Times New Roman" pitchFamily="18" charset="0"/>
                <a:cs typeface="Times New Roman" pitchFamily="18" charset="0"/>
              </a:rPr>
              <a:t>Chopping error</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7</a:t>
            </a:fld>
            <a:endParaRPr lang="en-GB" dirty="0"/>
          </a:p>
        </p:txBody>
      </p:sp>
    </p:spTree>
    <p:extLst>
      <p:ext uri="{BB962C8B-B14F-4D97-AF65-F5344CB8AC3E}">
        <p14:creationId xmlns:p14="http://schemas.microsoft.com/office/powerpoint/2010/main" val="41956453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latin typeface="Times New Roman" pitchFamily="18" charset="0"/>
                <a:cs typeface="Times New Roman" pitchFamily="18" charset="0"/>
              </a:rPr>
              <a:t>Round off error</a:t>
            </a:r>
          </a:p>
        </p:txBody>
      </p:sp>
      <p:sp>
        <p:nvSpPr>
          <p:cNvPr id="3" name="Content Placeholder 2"/>
          <p:cNvSpPr>
            <a:spLocks noGrp="1"/>
          </p:cNvSpPr>
          <p:nvPr>
            <p:ph idx="1"/>
          </p:nvPr>
        </p:nvSpPr>
        <p:spPr>
          <a:xfrm>
            <a:off x="304800" y="1524000"/>
            <a:ext cx="8686800" cy="4038600"/>
          </a:xfrm>
        </p:spPr>
        <p:txBody>
          <a:bodyPr/>
          <a:lstStyle/>
          <a:p>
            <a:pPr algn="just"/>
            <a:r>
              <a:rPr lang="en-US" dirty="0">
                <a:latin typeface="Times New Roman" pitchFamily="18" charset="0"/>
                <a:cs typeface="Times New Roman" pitchFamily="18" charset="0"/>
              </a:rPr>
              <a:t> A round-off error</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also called rounding error</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is the difference between the calculated approximation of a number and its exact mathematical value due to rounding.</a:t>
            </a: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8</a:t>
            </a:fld>
            <a:endParaRPr lang="en-GB" dirty="0"/>
          </a:p>
        </p:txBody>
      </p:sp>
    </p:spTree>
    <p:extLst>
      <p:ext uri="{BB962C8B-B14F-4D97-AF65-F5344CB8AC3E}">
        <p14:creationId xmlns:p14="http://schemas.microsoft.com/office/powerpoint/2010/main" val="2361683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Chopping / Truncation error</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1"/>
            <a:ext cx="8229600" cy="3352800"/>
          </a:xfrm>
        </p:spPr>
        <p:txBody>
          <a:bodyPr/>
          <a:lstStyle/>
          <a:p>
            <a:pPr marL="0" indent="0" algn="just">
              <a:buNone/>
            </a:pPr>
            <a:r>
              <a:rPr lang="en-US" dirty="0">
                <a:latin typeface="Times New Roman" pitchFamily="18" charset="0"/>
                <a:cs typeface="Times New Roman" pitchFamily="18" charset="0"/>
              </a:rPr>
              <a:t>Truncation error is the difference between a truncated value and the actual value. A truncated quantity is represented by a numeral with a fixed number of allowed digits, with any excess digits "chopped off" (hence the expression "truncated").</a:t>
            </a: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9</a:t>
            </a:fld>
            <a:endParaRPr lang="en-GB" dirty="0"/>
          </a:p>
        </p:txBody>
      </p:sp>
    </p:spTree>
    <p:extLst>
      <p:ext uri="{BB962C8B-B14F-4D97-AF65-F5344CB8AC3E}">
        <p14:creationId xmlns:p14="http://schemas.microsoft.com/office/powerpoint/2010/main" val="2857400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715962"/>
          </a:xfrm>
        </p:spPr>
        <p:txBody>
          <a:bodyPr>
            <a:normAutofit fontScale="90000"/>
          </a:bodyPr>
          <a:lstStyle/>
          <a:p>
            <a:r>
              <a:rPr lang="en-US" b="1" dirty="0" smtClean="0">
                <a:solidFill>
                  <a:srgbClr val="FF0000"/>
                </a:solidFill>
                <a:latin typeface="Times New Roman" pitchFamily="18" charset="0"/>
                <a:cs typeface="Times New Roman" pitchFamily="18" charset="0"/>
              </a:rPr>
              <a:t>Chopping </a:t>
            </a:r>
            <a:r>
              <a:rPr lang="en-US" b="1" dirty="0" err="1" smtClean="0">
                <a:solidFill>
                  <a:srgbClr val="FF0000"/>
                </a:solidFill>
                <a:latin typeface="Times New Roman" pitchFamily="18" charset="0"/>
                <a:cs typeface="Times New Roman" pitchFamily="18" charset="0"/>
              </a:rPr>
              <a:t>Vs</a:t>
            </a:r>
            <a:r>
              <a:rPr lang="en-US" b="1" dirty="0" smtClean="0">
                <a:solidFill>
                  <a:srgbClr val="FF0000"/>
                </a:solidFill>
                <a:latin typeface="Times New Roman" pitchFamily="18" charset="0"/>
                <a:cs typeface="Times New Roman" pitchFamily="18" charset="0"/>
              </a:rPr>
              <a:t> Rounding</a:t>
            </a:r>
            <a:endParaRPr lang="en-US" b="1" dirty="0">
              <a:solidFill>
                <a:srgbClr val="FF0000"/>
              </a:solidFill>
              <a:latin typeface="Times New Roman" pitchFamily="18" charset="0"/>
              <a:cs typeface="Times New Roman" pitchFamily="18" charset="0"/>
            </a:endParaRPr>
          </a:p>
        </p:txBody>
      </p:sp>
      <p:pic>
        <p:nvPicPr>
          <p:cNvPr id="1026" name="Picture 2" descr="Image result for example of rounding off and chopping errors"/>
          <p:cNvPicPr>
            <a:picLocks noChangeAspect="1" noChangeArrowheads="1"/>
          </p:cNvPicPr>
          <p:nvPr/>
        </p:nvPicPr>
        <p:blipFill rotWithShape="1">
          <a:blip r:embed="rId2">
            <a:extLst>
              <a:ext uri="{28A0092B-C50C-407E-A947-70E740481C1C}">
                <a14:useLocalDpi xmlns:a14="http://schemas.microsoft.com/office/drawing/2010/main" val="0"/>
              </a:ext>
            </a:extLst>
          </a:blip>
          <a:srcRect t="12971" b="5600"/>
          <a:stretch/>
        </p:blipFill>
        <p:spPr bwMode="auto">
          <a:xfrm>
            <a:off x="366629" y="1066800"/>
            <a:ext cx="8520029" cy="541020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GB" smtClean="0"/>
              <a:t>Department of CMIS – 2020/2021</a:t>
            </a:r>
            <a:endParaRPr lang="en-GB" dirty="0"/>
          </a:p>
        </p:txBody>
      </p:sp>
      <p:sp>
        <p:nvSpPr>
          <p:cNvPr id="4" name="Slide Number Placeholder 3"/>
          <p:cNvSpPr>
            <a:spLocks noGrp="1"/>
          </p:cNvSpPr>
          <p:nvPr>
            <p:ph type="sldNum" sz="quarter" idx="12"/>
          </p:nvPr>
        </p:nvSpPr>
        <p:spPr/>
        <p:txBody>
          <a:bodyPr/>
          <a:lstStyle/>
          <a:p>
            <a:fld id="{CE45EB1B-5865-4934-8F4B-0B1146C66BF8}" type="slidenum">
              <a:rPr lang="en-GB" smtClean="0"/>
              <a:t>10</a:t>
            </a:fld>
            <a:endParaRPr lang="en-GB" dirty="0"/>
          </a:p>
        </p:txBody>
      </p:sp>
    </p:spTree>
    <p:extLst>
      <p:ext uri="{BB962C8B-B14F-4D97-AF65-F5344CB8AC3E}">
        <p14:creationId xmlns:p14="http://schemas.microsoft.com/office/powerpoint/2010/main" val="2040499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Machine Precision </a:t>
            </a:r>
            <a:endParaRPr lang="en-US" b="1" dirty="0">
              <a:solidFill>
                <a:srgbClr val="FF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smtClean="0"/>
                  <a:t>Let </a:t>
                </a:r>
                <a14:m>
                  <m:oMath xmlns:m="http://schemas.openxmlformats.org/officeDocument/2006/math">
                    <m:r>
                      <a:rPr lang="en-US" i="1">
                        <a:latin typeface="Cambria Math"/>
                      </a:rPr>
                      <m:t>𝑓𝑙</m:t>
                    </m:r>
                  </m:oMath>
                </a14:m>
                <a:r>
                  <a:rPr lang="en-US" dirty="0" smtClean="0"/>
                  <a:t> be a floating-point number system. The unit round off </a:t>
                </a:r>
                <a:r>
                  <a:rPr lang="en-US" dirty="0"/>
                  <a:t>or machine precision, denoted by </a:t>
                </a:r>
                <a:r>
                  <a:rPr lang="en-US" dirty="0" smtClean="0">
                    <a:sym typeface="Symbol"/>
                  </a:rPr>
                  <a:t></a:t>
                </a:r>
                <a:r>
                  <a:rPr lang="en-US" baseline="-25000" dirty="0" err="1" smtClean="0"/>
                  <a:t>mach</a:t>
                </a:r>
                <a:r>
                  <a:rPr lang="en-US" dirty="0"/>
                  <a:t>, is the real number that satisfies  </a:t>
                </a:r>
                <a:endParaRPr lang="en-US" dirty="0" smtClean="0"/>
              </a:p>
              <a:p>
                <a:pPr marL="0" indent="0">
                  <a:buNone/>
                </a:pPr>
                <a:r>
                  <a:rPr lang="en-US" dirty="0" smtClean="0"/>
                  <a:t>      </a:t>
                </a:r>
                <a14:m>
                  <m:oMath xmlns:m="http://schemas.openxmlformats.org/officeDocument/2006/math">
                    <m:f>
                      <m:fPr>
                        <m:ctrlPr>
                          <a:rPr lang="en-US" i="1" smtClean="0">
                            <a:latin typeface="Cambria Math"/>
                          </a:rPr>
                        </m:ctrlPr>
                      </m:fPr>
                      <m:num>
                        <m:r>
                          <a:rPr lang="en-US" b="0" i="1" smtClean="0">
                            <a:latin typeface="Cambria Math"/>
                          </a:rPr>
                          <m:t>𝑓𝑙</m:t>
                        </m:r>
                        <m:d>
                          <m:dPr>
                            <m:ctrlPr>
                              <a:rPr lang="en-US" b="0" i="1" smtClean="0">
                                <a:latin typeface="Cambria Math"/>
                              </a:rPr>
                            </m:ctrlPr>
                          </m:dPr>
                          <m:e>
                            <m:r>
                              <a:rPr lang="en-US" b="0" i="1" smtClean="0">
                                <a:latin typeface="Cambria Math"/>
                              </a:rPr>
                              <m:t>𝑥</m:t>
                            </m:r>
                          </m:e>
                        </m:d>
                        <m:r>
                          <a:rPr lang="en-US" b="0" i="1" smtClean="0">
                            <a:latin typeface="Cambria Math"/>
                          </a:rPr>
                          <m:t>−</m:t>
                        </m:r>
                        <m:r>
                          <a:rPr lang="en-US" b="0" i="1" smtClean="0">
                            <a:latin typeface="Cambria Math"/>
                          </a:rPr>
                          <m:t>𝑥</m:t>
                        </m:r>
                      </m:num>
                      <m:den>
                        <m:r>
                          <a:rPr lang="en-US" b="0" i="1" smtClean="0">
                            <a:latin typeface="Cambria Math"/>
                          </a:rPr>
                          <m:t>𝑥</m:t>
                        </m:r>
                      </m:den>
                    </m:f>
                    <m:r>
                      <a:rPr lang="en-US" b="0" i="1" smtClean="0">
                        <a:latin typeface="Cambria Math"/>
                      </a:rPr>
                      <m:t>≤</m:t>
                    </m:r>
                  </m:oMath>
                </a14:m>
                <a:r>
                  <a:rPr lang="en-US" dirty="0" smtClean="0"/>
                  <a:t> </a:t>
                </a:r>
                <a:r>
                  <a:rPr lang="en-US" dirty="0">
                    <a:sym typeface="Symbol"/>
                  </a:rPr>
                  <a:t></a:t>
                </a:r>
                <a:r>
                  <a:rPr lang="en-US" baseline="-25000" dirty="0"/>
                  <a:t>mach</a:t>
                </a:r>
                <a:endParaRPr lang="en-US" dirty="0"/>
              </a:p>
              <a:p>
                <a:endParaRPr lang="en-US" dirty="0" smtClean="0"/>
              </a:p>
              <a:p>
                <a:r>
                  <a:rPr lang="en-US" dirty="0" smtClean="0"/>
                  <a:t>for </a:t>
                </a:r>
                <a:r>
                  <a:rPr lang="en-US" dirty="0"/>
                  <a:t>any real number x such that UFL &lt; </a:t>
                </a:r>
                <a14:m>
                  <m:oMath xmlns:m="http://schemas.openxmlformats.org/officeDocument/2006/math">
                    <m:r>
                      <a:rPr lang="en-US" i="1">
                        <a:latin typeface="Cambria Math"/>
                      </a:rPr>
                      <m:t>𝑥</m:t>
                    </m:r>
                  </m:oMath>
                </a14:m>
                <a:r>
                  <a:rPr lang="en-US" dirty="0"/>
                  <a:t> &lt; OFL. </a:t>
                </a:r>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617" r="-177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11</a:t>
            </a:fld>
            <a:endParaRPr lang="en-GB" dirty="0"/>
          </a:p>
        </p:txBody>
      </p:sp>
    </p:spTree>
    <p:extLst>
      <p:ext uri="{BB962C8B-B14F-4D97-AF65-F5344CB8AC3E}">
        <p14:creationId xmlns:p14="http://schemas.microsoft.com/office/powerpoint/2010/main" val="3522626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Round off </a:t>
            </a:r>
            <a:r>
              <a:rPr lang="en-US" b="1" dirty="0">
                <a:solidFill>
                  <a:srgbClr val="FF0000"/>
                </a:solidFill>
                <a:latin typeface="Times New Roman" pitchFamily="18" charset="0"/>
                <a:cs typeface="Times New Roman" pitchFamily="18" charset="0"/>
              </a:rPr>
              <a:t>Errors with Arithmetic Manipulations</a:t>
            </a:r>
          </a:p>
        </p:txBody>
      </p:sp>
      <p:sp>
        <p:nvSpPr>
          <p:cNvPr id="3" name="Content Placeholder 2"/>
          <p:cNvSpPr>
            <a:spLocks noGrp="1"/>
          </p:cNvSpPr>
          <p:nvPr>
            <p:ph idx="1"/>
          </p:nvPr>
        </p:nvSpPr>
        <p:spPr/>
        <p:txBody>
          <a:bodyPr/>
          <a:lstStyle/>
          <a:p>
            <a:r>
              <a:rPr lang="en-US" dirty="0" smtClean="0"/>
              <a:t>Round off </a:t>
            </a:r>
            <a:r>
              <a:rPr lang="en-US" dirty="0"/>
              <a:t>error can happen in several </a:t>
            </a:r>
            <a:r>
              <a:rPr lang="en-US" dirty="0" smtClean="0"/>
              <a:t>circumstances other </a:t>
            </a:r>
            <a:r>
              <a:rPr lang="en-US" dirty="0"/>
              <a:t>than just storing numbers - for example:</a:t>
            </a:r>
          </a:p>
          <a:p>
            <a:pPr marL="738188" indent="-738188" algn="just">
              <a:buNone/>
            </a:pPr>
            <a:r>
              <a:rPr lang="en-US" dirty="0" smtClean="0"/>
              <a:t>     – </a:t>
            </a:r>
            <a:r>
              <a:rPr lang="en-US" b="1" i="1" dirty="0"/>
              <a:t>Large computations </a:t>
            </a:r>
            <a:r>
              <a:rPr lang="en-US" dirty="0"/>
              <a:t>- if a process performs a large number </a:t>
            </a:r>
            <a:r>
              <a:rPr lang="en-US" dirty="0" smtClean="0"/>
              <a:t>of computations</a:t>
            </a:r>
            <a:r>
              <a:rPr lang="en-US" dirty="0"/>
              <a:t>, </a:t>
            </a:r>
            <a:r>
              <a:rPr lang="en-US" dirty="0" smtClean="0"/>
              <a:t>round off </a:t>
            </a:r>
            <a:r>
              <a:rPr lang="en-US" dirty="0"/>
              <a:t>errors may build up to become significant</a:t>
            </a: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12</a:t>
            </a:fld>
            <a:endParaRPr lang="en-GB" dirty="0"/>
          </a:p>
        </p:txBody>
      </p:sp>
    </p:spTree>
    <p:extLst>
      <p:ext uri="{BB962C8B-B14F-4D97-AF65-F5344CB8AC3E}">
        <p14:creationId xmlns:p14="http://schemas.microsoft.com/office/powerpoint/2010/main" val="2255472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Arithmetic Manipulation </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b="1" i="1" dirty="0"/>
              <a:t>Adding a Large and a Small Number </a:t>
            </a:r>
            <a:r>
              <a:rPr lang="en-US" dirty="0"/>
              <a:t>- Since the </a:t>
            </a:r>
            <a:r>
              <a:rPr lang="en-US" dirty="0" smtClean="0"/>
              <a:t>small number’s </a:t>
            </a:r>
            <a:r>
              <a:rPr lang="en-US" dirty="0"/>
              <a:t>mantissa is shifted to the right to be the same scale </a:t>
            </a:r>
            <a:r>
              <a:rPr lang="en-US" dirty="0" smtClean="0"/>
              <a:t>as the </a:t>
            </a:r>
            <a:r>
              <a:rPr lang="en-US" dirty="0"/>
              <a:t>large number, </a:t>
            </a:r>
            <a:r>
              <a:rPr lang="en-US" dirty="0" smtClean="0"/>
              <a:t>digits </a:t>
            </a:r>
            <a:r>
              <a:rPr lang="en-US" dirty="0"/>
              <a:t>are </a:t>
            </a:r>
            <a:r>
              <a:rPr lang="en-US" dirty="0" smtClean="0"/>
              <a:t>lost</a:t>
            </a:r>
          </a:p>
          <a:p>
            <a:pPr algn="just"/>
            <a:r>
              <a:rPr lang="en-US" dirty="0" smtClean="0">
                <a:latin typeface="Times New Roman" pitchFamily="18" charset="0"/>
                <a:cs typeface="Times New Roman" pitchFamily="18" charset="0"/>
              </a:rPr>
              <a:t>Let us add 0.001+4000 represented with 4-digit mantissa and 1-digit exponent </a:t>
            </a:r>
          </a:p>
          <a:p>
            <a:pPr algn="just"/>
            <a:r>
              <a:rPr lang="en-US" dirty="0" smtClean="0">
                <a:latin typeface="Times New Roman" pitchFamily="18" charset="0"/>
                <a:cs typeface="Times New Roman" pitchFamily="18" charset="0"/>
              </a:rPr>
              <a:t>4x10</a:t>
            </a:r>
            <a:r>
              <a:rPr lang="en-US" baseline="30000" dirty="0" smtClean="0">
                <a:latin typeface="Times New Roman" pitchFamily="18" charset="0"/>
                <a:cs typeface="Times New Roman" pitchFamily="18" charset="0"/>
              </a:rPr>
              <a:t>3  </a:t>
            </a:r>
            <a:r>
              <a:rPr lang="en-US" dirty="0" smtClean="0">
                <a:latin typeface="Times New Roman" pitchFamily="18" charset="0"/>
                <a:cs typeface="Times New Roman" pitchFamily="18" charset="0"/>
              </a:rPr>
              <a:t>+ 0.000001x10</a:t>
            </a:r>
            <a:r>
              <a:rPr lang="en-US" baseline="30000" dirty="0" smtClean="0">
                <a:latin typeface="Times New Roman" pitchFamily="18" charset="0"/>
                <a:cs typeface="Times New Roman" pitchFamily="18" charset="0"/>
              </a:rPr>
              <a:t>3 </a:t>
            </a:r>
            <a:r>
              <a:rPr lang="en-US" dirty="0" smtClean="0">
                <a:latin typeface="Times New Roman" pitchFamily="18" charset="0"/>
                <a:cs typeface="Times New Roman" pitchFamily="18" charset="0"/>
              </a:rPr>
              <a:t> = 4.000001x10</a:t>
            </a:r>
            <a:r>
              <a:rPr lang="en-US" baseline="30000" dirty="0" smtClean="0">
                <a:latin typeface="Times New Roman" pitchFamily="18" charset="0"/>
                <a:cs typeface="Times New Roman" pitchFamily="18" charset="0"/>
              </a:rPr>
              <a:t>3</a:t>
            </a:r>
          </a:p>
          <a:p>
            <a:pPr algn="just"/>
            <a:r>
              <a:rPr lang="en-US" baseline="30000" dirty="0">
                <a:latin typeface="Times New Roman" pitchFamily="18" charset="0"/>
                <a:cs typeface="Times New Roman" pitchFamily="18" charset="0"/>
              </a:rPr>
              <a:t> </a:t>
            </a:r>
            <a:r>
              <a:rPr lang="en-US" baseline="30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4.000 x10</a:t>
            </a:r>
            <a:r>
              <a:rPr lang="en-US" baseline="30000" dirty="0" smtClean="0">
                <a:latin typeface="Times New Roman" pitchFamily="18" charset="0"/>
                <a:cs typeface="Times New Roman" pitchFamily="18" charset="0"/>
              </a:rPr>
              <a:t>3</a:t>
            </a:r>
            <a:endParaRPr lang="en-US" baseline="30000"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13</a:t>
            </a:fld>
            <a:endParaRPr lang="en-GB" dirty="0"/>
          </a:p>
        </p:txBody>
      </p:sp>
    </p:spTree>
    <p:extLst>
      <p:ext uri="{BB962C8B-B14F-4D97-AF65-F5344CB8AC3E}">
        <p14:creationId xmlns:p14="http://schemas.microsoft.com/office/powerpoint/2010/main" val="3522626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FF0000"/>
                </a:solidFill>
                <a:latin typeface="Times New Roman" pitchFamily="18" charset="0"/>
                <a:cs typeface="Times New Roman" pitchFamily="18" charset="0"/>
              </a:rPr>
              <a:t>Well-posed problems</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According </a:t>
            </a:r>
            <a:r>
              <a:rPr lang="en-US" dirty="0">
                <a:latin typeface="Times New Roman" pitchFamily="18" charset="0"/>
                <a:cs typeface="Times New Roman" pitchFamily="18" charset="0"/>
              </a:rPr>
              <a:t>to </a:t>
            </a:r>
            <a:r>
              <a:rPr lang="en-US" dirty="0" err="1">
                <a:latin typeface="Times New Roman" pitchFamily="18" charset="0"/>
                <a:cs typeface="Times New Roman" pitchFamily="18" charset="0"/>
              </a:rPr>
              <a:t>Hadamard</a:t>
            </a:r>
            <a:r>
              <a:rPr lang="en-US" dirty="0">
                <a:latin typeface="Times New Roman" pitchFamily="18" charset="0"/>
                <a:cs typeface="Times New Roman" pitchFamily="18" charset="0"/>
              </a:rPr>
              <a:t>, a problem is well-posed (or correctly-set) if </a:t>
            </a:r>
            <a:endParaRPr lang="en-US" dirty="0" smtClean="0">
              <a:latin typeface="Times New Roman" pitchFamily="18" charset="0"/>
              <a:cs typeface="Times New Roman" pitchFamily="18" charset="0"/>
            </a:endParaRPr>
          </a:p>
          <a:p>
            <a:pPr marL="971550" lvl="1" indent="-514350" algn="just">
              <a:buFont typeface="+mj-lt"/>
              <a:buAutoNum type="alphaLcPeriod"/>
            </a:pP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has a solution, </a:t>
            </a:r>
            <a:endParaRPr lang="en-US" dirty="0" smtClean="0">
              <a:latin typeface="Times New Roman" pitchFamily="18" charset="0"/>
              <a:cs typeface="Times New Roman" pitchFamily="18" charset="0"/>
            </a:endParaRPr>
          </a:p>
          <a:p>
            <a:pPr marL="971550" lvl="1" indent="-514350" algn="just">
              <a:buFont typeface="+mj-lt"/>
              <a:buAutoNum type="alphaL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solution is unique, </a:t>
            </a:r>
          </a:p>
          <a:p>
            <a:pPr marL="971550" lvl="1" indent="-514350" algn="just">
              <a:buFont typeface="+mj-lt"/>
              <a:buAutoNum type="alphaL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solution depends continuously on data and parameters.</a:t>
            </a: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14</a:t>
            </a:fld>
            <a:endParaRPr lang="en-GB" dirty="0"/>
          </a:p>
        </p:txBody>
      </p:sp>
    </p:spTree>
    <p:extLst>
      <p:ext uri="{BB962C8B-B14F-4D97-AF65-F5344CB8AC3E}">
        <p14:creationId xmlns:p14="http://schemas.microsoft.com/office/powerpoint/2010/main" val="28739913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Forward Error and Backward Error</a:t>
            </a:r>
            <a:endParaRPr lang="en-US" b="1" dirty="0">
              <a:solidFill>
                <a:srgbClr val="FF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229600" cy="4724400"/>
              </a:xfrm>
            </p:spPr>
            <p:txBody>
              <a:bodyPr>
                <a:normAutofit fontScale="77500" lnSpcReduction="20000"/>
              </a:bodyPr>
              <a:lstStyle/>
              <a:p>
                <a:pPr algn="just"/>
                <a:r>
                  <a:rPr lang="en-US" dirty="0" smtClean="0">
                    <a:latin typeface="Times New Roman" pitchFamily="18" charset="0"/>
                    <a:cs typeface="Times New Roman" pitchFamily="18" charset="0"/>
                  </a:rPr>
                  <a:t>Consider computing the quantity y = f(x). If we can only compute an approximation of y, which we denote as </a:t>
                </a:r>
                <a14:m>
                  <m:oMath xmlns:m="http://schemas.openxmlformats.org/officeDocument/2006/math">
                    <m:acc>
                      <m:accPr>
                        <m:chr m:val="̅"/>
                        <m:ctrlPr>
                          <a:rPr lang="en-US" i="1">
                            <a:latin typeface="Cambria Math"/>
                            <a:cs typeface="Times New Roman" pitchFamily="18" charset="0"/>
                          </a:rPr>
                        </m:ctrlPr>
                      </m:accPr>
                      <m:e>
                        <m:r>
                          <a:rPr lang="en-US" i="1">
                            <a:latin typeface="Cambria Math"/>
                            <a:cs typeface="Times New Roman" pitchFamily="18" charset="0"/>
                          </a:rPr>
                          <m:t>𝑦</m:t>
                        </m:r>
                      </m:e>
                    </m:acc>
                  </m:oMath>
                </a14:m>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then we usually discuss two ways to measure the error associated with this computation. </a:t>
                </a:r>
                <a:endParaRPr lang="en-US" dirty="0" smtClean="0">
                  <a:latin typeface="Times New Roman" pitchFamily="18" charset="0"/>
                  <a:cs typeface="Times New Roman" pitchFamily="18" charset="0"/>
                </a:endParaRPr>
              </a:p>
              <a:p>
                <a:pPr algn="just"/>
                <a:r>
                  <a:rPr lang="en-US" b="1" dirty="0" smtClean="0">
                    <a:solidFill>
                      <a:srgbClr val="FF0000"/>
                    </a:solidFill>
                    <a:latin typeface="Times New Roman" pitchFamily="18" charset="0"/>
                    <a:cs typeface="Times New Roman" pitchFamily="18" charset="0"/>
                  </a:rPr>
                  <a:t>Forward </a:t>
                </a:r>
                <a:r>
                  <a:rPr lang="en-US" b="1" dirty="0">
                    <a:solidFill>
                      <a:srgbClr val="FF0000"/>
                    </a:solidFill>
                    <a:latin typeface="Times New Roman" pitchFamily="18" charset="0"/>
                    <a:cs typeface="Times New Roman" pitchFamily="18" charset="0"/>
                  </a:rPr>
                  <a:t>Error.</a:t>
                </a:r>
                <a:r>
                  <a:rPr lang="en-US" dirty="0">
                    <a:latin typeface="Times New Roman" pitchFamily="18" charset="0"/>
                    <a:cs typeface="Times New Roman" pitchFamily="18" charset="0"/>
                  </a:rPr>
                  <a:t> The forward error is a measure of the difference between the approximation </a:t>
                </a:r>
                <a14:m>
                  <m:oMath xmlns:m="http://schemas.openxmlformats.org/officeDocument/2006/math">
                    <m:acc>
                      <m:accPr>
                        <m:chr m:val="̅"/>
                        <m:ctrlPr>
                          <a:rPr lang="en-US" i="1">
                            <a:latin typeface="Cambria Math"/>
                            <a:cs typeface="Times New Roman" pitchFamily="18" charset="0"/>
                          </a:rPr>
                        </m:ctrlPr>
                      </m:accPr>
                      <m:e>
                        <m:r>
                          <a:rPr lang="en-US" i="1">
                            <a:latin typeface="Cambria Math"/>
                            <a:cs typeface="Times New Roman" pitchFamily="18" charset="0"/>
                          </a:rPr>
                          <m:t>𝑦</m:t>
                        </m:r>
                      </m:e>
                    </m:acc>
                  </m:oMath>
                </a14:m>
                <a:r>
                  <a:rPr lang="en-US" dirty="0">
                    <a:latin typeface="Times New Roman" pitchFamily="18" charset="0"/>
                    <a:cs typeface="Times New Roman" pitchFamily="18" charset="0"/>
                  </a:rPr>
                  <a:t> and the true value y. That is,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absolute) forward error: </a:t>
                </a:r>
                <a:r>
                  <a:rPr lang="en-US" dirty="0" smtClean="0">
                    <a:latin typeface="Times New Roman" pitchFamily="18" charset="0"/>
                    <a:cs typeface="Times New Roman" pitchFamily="18" charset="0"/>
                  </a:rPr>
                  <a:t>|</a:t>
                </a:r>
                <a14:m>
                  <m:oMath xmlns:m="http://schemas.openxmlformats.org/officeDocument/2006/math">
                    <m:acc>
                      <m:accPr>
                        <m:chr m:val="̅"/>
                        <m:ctrlPr>
                          <a:rPr lang="en-US" i="1" smtClean="0">
                            <a:latin typeface="Cambria Math"/>
                            <a:cs typeface="Times New Roman" pitchFamily="18" charset="0"/>
                          </a:rPr>
                        </m:ctrlPr>
                      </m:accPr>
                      <m:e>
                        <m:r>
                          <a:rPr lang="en-US" b="0" i="1" smtClean="0">
                            <a:latin typeface="Cambria Math"/>
                            <a:cs typeface="Times New Roman" pitchFamily="18" charset="0"/>
                          </a:rPr>
                          <m:t>𝑦</m:t>
                        </m:r>
                      </m:e>
                    </m:acc>
                  </m:oMath>
                </a14:m>
                <a:r>
                  <a:rPr lang="en-US" dirty="0">
                    <a:latin typeface="Times New Roman" pitchFamily="18" charset="0"/>
                    <a:cs typeface="Times New Roman" pitchFamily="18" charset="0"/>
                  </a:rPr>
                  <a:t> − y| </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relative) forward error: |</a:t>
                </a:r>
                <a14:m>
                  <m:oMath xmlns:m="http://schemas.openxmlformats.org/officeDocument/2006/math">
                    <m:acc>
                      <m:accPr>
                        <m:chr m:val="̅"/>
                        <m:ctrlPr>
                          <a:rPr lang="en-US" i="1">
                            <a:latin typeface="Cambria Math"/>
                            <a:cs typeface="Times New Roman" pitchFamily="18" charset="0"/>
                          </a:rPr>
                        </m:ctrlPr>
                      </m:accPr>
                      <m:e>
                        <m:r>
                          <a:rPr lang="en-US" i="1">
                            <a:latin typeface="Cambria Math"/>
                            <a:cs typeface="Times New Roman" pitchFamily="18" charset="0"/>
                          </a:rPr>
                          <m:t>𝑦</m:t>
                        </m:r>
                      </m:e>
                    </m:acc>
                  </m:oMath>
                </a14:m>
                <a:r>
                  <a:rPr lang="en-US" dirty="0">
                    <a:latin typeface="Times New Roman" pitchFamily="18" charset="0"/>
                    <a:cs typeface="Times New Roman" pitchFamily="18" charset="0"/>
                  </a:rPr>
                  <a:t> − y</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y|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forward error is a natural quantity to measure, but usually (since we don’t know the true y) we can only get an upper bound on this error. Moreover, it can be very difficult to get tight upper bounds on the forward error.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229600" cy="4724400"/>
              </a:xfrm>
              <a:blipFill rotWithShape="1">
                <a:blip r:embed="rId2"/>
                <a:stretch>
                  <a:fillRect l="-1037" t="-2581" r="-1185"/>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15</a:t>
            </a:fld>
            <a:endParaRPr lang="en-GB" dirty="0"/>
          </a:p>
        </p:txBody>
      </p:sp>
    </p:spTree>
    <p:extLst>
      <p:ext uri="{BB962C8B-B14F-4D97-AF65-F5344CB8AC3E}">
        <p14:creationId xmlns:p14="http://schemas.microsoft.com/office/powerpoint/2010/main" val="36604420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itchFamily="18" charset="0"/>
                <a:cs typeface="Times New Roman" pitchFamily="18" charset="0"/>
              </a:rPr>
              <a:t>Backward Error</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lgn="just">
                  <a:buNone/>
                </a:pPr>
                <a:r>
                  <a:rPr lang="en-US" dirty="0" smtClean="0">
                    <a:latin typeface="Times New Roman" pitchFamily="18" charset="0"/>
                    <a:cs typeface="Times New Roman" pitchFamily="18" charset="0"/>
                  </a:rPr>
                  <a:t>Here </a:t>
                </a:r>
                <a:r>
                  <a:rPr lang="en-US" dirty="0">
                    <a:latin typeface="Times New Roman" pitchFamily="18" charset="0"/>
                    <a:cs typeface="Times New Roman" pitchFamily="18" charset="0"/>
                  </a:rPr>
                  <a:t>we ask the question: For what set of data have we actually solved the problem? Specifically, we would like to find the smallest ∆x such that</a:t>
                </a:r>
              </a:p>
              <a:p>
                <a:pPr marL="457200" lvl="1" indent="0">
                  <a:buNone/>
                </a:pPr>
                <a14:m>
                  <m:oMath xmlns:m="http://schemas.openxmlformats.org/officeDocument/2006/math">
                    <m:acc>
                      <m:accPr>
                        <m:chr m:val="̅"/>
                        <m:ctrlPr>
                          <a:rPr lang="en-US" i="1">
                            <a:latin typeface="Cambria Math"/>
                            <a:cs typeface="Times New Roman" pitchFamily="18" charset="0"/>
                          </a:rPr>
                        </m:ctrlPr>
                      </m:accPr>
                      <m:e>
                        <m:r>
                          <a:rPr lang="en-US" i="1">
                            <a:latin typeface="Cambria Math"/>
                            <a:cs typeface="Times New Roman" pitchFamily="18" charset="0"/>
                          </a:rPr>
                          <m:t>𝑦</m:t>
                        </m:r>
                      </m:e>
                    </m:acc>
                  </m:oMath>
                </a14:m>
                <a:r>
                  <a:rPr lang="en-US" dirty="0"/>
                  <a:t> = f(x + ∆x</a:t>
                </a:r>
                <a:r>
                  <a:rPr lang="en-US" dirty="0" smtClean="0"/>
                  <a:t>).</a:t>
                </a:r>
              </a:p>
              <a:p>
                <a:pPr marL="457200" lvl="1" indent="0">
                  <a:buNone/>
                </a:pPr>
                <a:endParaRPr lang="en-US" dirty="0"/>
              </a:p>
              <a:p>
                <a:pPr marL="0" lvl="1" indent="0" algn="just">
                  <a:buNone/>
                </a:pPr>
                <a:r>
                  <a:rPr lang="en-US" sz="3200" dirty="0">
                    <a:latin typeface="Times New Roman" pitchFamily="18" charset="0"/>
                    <a:cs typeface="Times New Roman" pitchFamily="18" charset="0"/>
                  </a:rPr>
                  <a:t>Here we mean that </a:t>
                </a:r>
                <a14:m>
                  <m:oMath xmlns:m="http://schemas.openxmlformats.org/officeDocument/2006/math">
                    <m:acc>
                      <m:accPr>
                        <m:chr m:val="̅"/>
                        <m:ctrlPr>
                          <a:rPr lang="en-US" sz="3200" i="1">
                            <a:latin typeface="Cambria Math"/>
                            <a:cs typeface="Times New Roman" pitchFamily="18" charset="0"/>
                          </a:rPr>
                        </m:ctrlPr>
                      </m:accPr>
                      <m:e>
                        <m:r>
                          <a:rPr lang="en-US" sz="3200" i="1">
                            <a:latin typeface="Cambria Math"/>
                            <a:cs typeface="Times New Roman" pitchFamily="18" charset="0"/>
                          </a:rPr>
                          <m:t>𝑦</m:t>
                        </m:r>
                      </m:e>
                    </m:acc>
                  </m:oMath>
                </a14:m>
                <a:r>
                  <a:rPr lang="en-US" sz="3200" dirty="0">
                    <a:latin typeface="Times New Roman" pitchFamily="18" charset="0"/>
                    <a:cs typeface="Times New Roman" pitchFamily="18" charset="0"/>
                  </a:rPr>
                  <a:t> is the exact value of f(x+∆x). The value </a:t>
                </a:r>
                <a:r>
                  <a:rPr lang="en-US" sz="3200" dirty="0" smtClean="0">
                    <a:latin typeface="Times New Roman" pitchFamily="18" charset="0"/>
                    <a:cs typeface="Times New Roman" pitchFamily="18" charset="0"/>
                  </a:rPr>
                  <a:t>|</a:t>
                </a:r>
                <a:r>
                  <a:rPr lang="en-US" sz="3200" dirty="0">
                    <a:latin typeface="Times New Roman" pitchFamily="18" charset="0"/>
                    <a:cs typeface="Times New Roman" pitchFamily="18" charset="0"/>
                  </a:rPr>
                  <a:t>∆x|, or |∆x</a:t>
                </a:r>
                <a:r>
                  <a:rPr lang="en-US" sz="3200" dirty="0" smtClean="0">
                    <a:latin typeface="Times New Roman" pitchFamily="18" charset="0"/>
                    <a:cs typeface="Times New Roman" pitchFamily="18" charset="0"/>
                  </a:rPr>
                  <a:t>|/|</a:t>
                </a:r>
                <a:r>
                  <a:rPr lang="en-US" sz="3200" dirty="0">
                    <a:latin typeface="Times New Roman" pitchFamily="18" charset="0"/>
                    <a:cs typeface="Times New Roman" pitchFamily="18" charset="0"/>
                  </a:rPr>
                  <a:t>x| is called the backward error.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2965" r="-1852"/>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16</a:t>
            </a:fld>
            <a:endParaRPr lang="en-GB" dirty="0"/>
          </a:p>
        </p:txBody>
      </p:sp>
    </p:spTree>
    <p:extLst>
      <p:ext uri="{BB962C8B-B14F-4D97-AF65-F5344CB8AC3E}">
        <p14:creationId xmlns:p14="http://schemas.microsoft.com/office/powerpoint/2010/main" val="3793820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itchFamily="18" charset="0"/>
                <a:cs typeface="Times New Roman" pitchFamily="18" charset="0"/>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Suppose </a:t>
                </a:r>
                <a:r>
                  <a:rPr lang="en-US" dirty="0">
                    <a:latin typeface="Times New Roman" pitchFamily="18" charset="0"/>
                    <a:cs typeface="Times New Roman" pitchFamily="18" charset="0"/>
                  </a:rPr>
                  <a:t>we want to compute y = √ 2, and we obtain the approximation </a:t>
                </a:r>
                <a:endParaRPr lang="en-US" dirty="0" smtClean="0">
                  <a:latin typeface="Times New Roman" pitchFamily="18" charset="0"/>
                  <a:cs typeface="Times New Roman" pitchFamily="18" charset="0"/>
                </a:endParaRPr>
              </a:p>
              <a:p>
                <a:pPr marL="457200" lvl="1" indent="0">
                  <a:buNone/>
                </a:pPr>
                <a:r>
                  <a:rPr lang="en-US" dirty="0" smtClean="0">
                    <a:cs typeface="Times New Roman" pitchFamily="18" charset="0"/>
                  </a:rPr>
                  <a:t>    </a:t>
                </a:r>
                <a14:m>
                  <m:oMath xmlns:m="http://schemas.openxmlformats.org/officeDocument/2006/math">
                    <m:acc>
                      <m:accPr>
                        <m:chr m:val="̅"/>
                        <m:ctrlPr>
                          <a:rPr lang="en-US" i="1">
                            <a:latin typeface="Cambria Math"/>
                            <a:cs typeface="Times New Roman" pitchFamily="18" charset="0"/>
                          </a:rPr>
                        </m:ctrlPr>
                      </m:accPr>
                      <m:e>
                        <m:r>
                          <a:rPr lang="en-US" i="1">
                            <a:latin typeface="Cambria Math"/>
                            <a:cs typeface="Times New Roman" pitchFamily="18" charset="0"/>
                          </a:rPr>
                          <m:t>𝑦</m:t>
                        </m:r>
                      </m:e>
                    </m:acc>
                  </m:oMath>
                </a14:m>
                <a:r>
                  <a:rPr lang="en-US" dirty="0">
                    <a:latin typeface="Times New Roman" pitchFamily="18" charset="0"/>
                    <a:cs typeface="Times New Roman" pitchFamily="18" charset="0"/>
                  </a:rPr>
                  <a:t> = 1.4. Then • </a:t>
                </a:r>
                <a:endParaRPr lang="en-US" dirty="0" smtClean="0">
                  <a:latin typeface="Times New Roman" pitchFamily="18" charset="0"/>
                  <a:cs typeface="Times New Roman" pitchFamily="18" charset="0"/>
                </a:endParaRPr>
              </a:p>
              <a:p>
                <a:pPr lvl="2"/>
                <a:r>
                  <a:rPr lang="en-US" dirty="0" smtClean="0">
                    <a:latin typeface="Times New Roman" pitchFamily="18" charset="0"/>
                    <a:cs typeface="Times New Roman" pitchFamily="18" charset="0"/>
                  </a:rPr>
                  <a:t> Forward </a:t>
                </a:r>
                <a:r>
                  <a:rPr lang="en-US" dirty="0">
                    <a:latin typeface="Times New Roman" pitchFamily="18" charset="0"/>
                    <a:cs typeface="Times New Roman" pitchFamily="18" charset="0"/>
                  </a:rPr>
                  <a:t>error: |∆y| = |</a:t>
                </a:r>
                <a14:m>
                  <m:oMath xmlns:m="http://schemas.openxmlformats.org/officeDocument/2006/math">
                    <m:acc>
                      <m:accPr>
                        <m:chr m:val="̅"/>
                        <m:ctrlPr>
                          <a:rPr lang="en-US" i="1">
                            <a:latin typeface="Cambria Math"/>
                            <a:cs typeface="Times New Roman" pitchFamily="18" charset="0"/>
                          </a:rPr>
                        </m:ctrlPr>
                      </m:accPr>
                      <m:e>
                        <m:r>
                          <a:rPr lang="en-US" i="1">
                            <a:latin typeface="Cambria Math"/>
                            <a:cs typeface="Times New Roman" pitchFamily="18" charset="0"/>
                          </a:rPr>
                          <m:t>𝑦</m:t>
                        </m:r>
                      </m:e>
                    </m:acc>
                  </m:oMath>
                </a14:m>
                <a:r>
                  <a:rPr lang="en-US" dirty="0">
                    <a:latin typeface="Times New Roman" pitchFamily="18" charset="0"/>
                    <a:cs typeface="Times New Roman" pitchFamily="18" charset="0"/>
                  </a:rPr>
                  <a:t> − y</a:t>
                </a:r>
                <a:r>
                  <a:rPr lang="en-US" dirty="0" smtClean="0">
                    <a:latin typeface="Times New Roman" pitchFamily="18" charset="0"/>
                    <a:cs typeface="Times New Roman" pitchFamily="18" charset="0"/>
                  </a:rPr>
                  <a:t>| </a:t>
                </a:r>
              </a:p>
              <a:p>
                <a:pPr marL="914400" lvl="2"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1.4 − 1.41421 · · · | ≈ 0.0142. • Backward error: Note that </a:t>
                </a:r>
                <a:endParaRPr lang="en-US" dirty="0" smtClean="0">
                  <a:latin typeface="Times New Roman" pitchFamily="18" charset="0"/>
                  <a:cs typeface="Times New Roman" pitchFamily="18" charset="0"/>
                </a:endParaRPr>
              </a:p>
              <a:p>
                <a:pPr marL="914400" lvl="2"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14:m>
                  <m:oMath xmlns:m="http://schemas.openxmlformats.org/officeDocument/2006/math">
                    <m:rad>
                      <m:radPr>
                        <m:degHide m:val="on"/>
                        <m:ctrlPr>
                          <a:rPr lang="en-US" i="1" dirty="0" smtClean="0">
                            <a:latin typeface="Cambria Math"/>
                            <a:cs typeface="Times New Roman" pitchFamily="18" charset="0"/>
                          </a:rPr>
                        </m:ctrlPr>
                      </m:radPr>
                      <m:deg/>
                      <m:e>
                        <m:r>
                          <a:rPr lang="en-US" i="1" dirty="0">
                            <a:latin typeface="Cambria Math"/>
                            <a:cs typeface="Times New Roman" pitchFamily="18" charset="0"/>
                          </a:rPr>
                          <m:t>1.96</m:t>
                        </m:r>
                      </m:e>
                    </m:rad>
                  </m:oMath>
                </a14:m>
                <a:r>
                  <a:rPr lang="en-US" dirty="0">
                    <a:latin typeface="Times New Roman" pitchFamily="18" charset="0"/>
                    <a:cs typeface="Times New Roman" pitchFamily="18" charset="0"/>
                  </a:rPr>
                  <a:t> = 1.4, so |∆x| = |2 − 1.96| = 0.04.</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887"/>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17</a:t>
            </a:fld>
            <a:endParaRPr lang="en-GB" dirty="0"/>
          </a:p>
        </p:txBody>
      </p:sp>
    </p:spTree>
    <p:extLst>
      <p:ext uri="{BB962C8B-B14F-4D97-AF65-F5344CB8AC3E}">
        <p14:creationId xmlns:p14="http://schemas.microsoft.com/office/powerpoint/2010/main" val="2642870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latin typeface="Times New Roman" panose="02020603050405020304" pitchFamily="18" charset="0"/>
                <a:cs typeface="Times New Roman" panose="02020603050405020304" pitchFamily="18" charset="0"/>
              </a:rPr>
              <a:t>Conditioning (or sensitivity of a problem</a:t>
            </a:r>
            <a:r>
              <a:rPr lang="en-GB" b="1" dirty="0" smtClean="0">
                <a:solidFill>
                  <a:srgbClr val="FF0000"/>
                </a:solidFill>
                <a:latin typeface="Times New Roman" panose="02020603050405020304" pitchFamily="18" charset="0"/>
                <a:cs typeface="Times New Roman" panose="02020603050405020304" pitchFamily="18" charset="0"/>
              </a:rPr>
              <a:t>)</a:t>
            </a:r>
            <a:endParaRPr lang="en-GB"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1"/>
            <a:ext cx="8001000" cy="1066800"/>
          </a:xfrm>
        </p:spPr>
        <p:txBody>
          <a:bodyPr/>
          <a:lstStyle/>
          <a:p>
            <a:r>
              <a:rPr lang="en-GB" dirty="0"/>
              <a:t>A mathematical problem with input x and output y = f(x) is:</a:t>
            </a:r>
          </a:p>
          <a:p>
            <a:endParaRPr lang="en-GB" dirty="0"/>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18</a:t>
            </a:fld>
            <a:endParaRPr lang="en-GB" dirty="0"/>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257" t="23940" r="23865" b="12904"/>
          <a:stretch/>
        </p:blipFill>
        <p:spPr bwMode="auto">
          <a:xfrm>
            <a:off x="2895600" y="2669458"/>
            <a:ext cx="5410201" cy="3703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0593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 Well conditioned if small changes in x lead to small changes in y.</a:t>
            </a:r>
          </a:p>
          <a:p>
            <a:r>
              <a:rPr lang="en-GB" dirty="0"/>
              <a:t> Ill-conditioned if small changes in x can lead to large changes in y.</a:t>
            </a:r>
          </a:p>
          <a:p>
            <a:r>
              <a:rPr lang="en-GB" dirty="0"/>
              <a:t>How can we measure conditioning?</a:t>
            </a:r>
          </a:p>
          <a:p>
            <a:endParaRPr lang="en-GB" dirty="0"/>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19</a:t>
            </a:fld>
            <a:endParaRPr lang="en-GB" dirty="0"/>
          </a:p>
        </p:txBody>
      </p:sp>
    </p:spTree>
    <p:extLst>
      <p:ext uri="{BB962C8B-B14F-4D97-AF65-F5344CB8AC3E}">
        <p14:creationId xmlns:p14="http://schemas.microsoft.com/office/powerpoint/2010/main" val="4173175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20</a:t>
            </a:fld>
            <a:endParaRPr lang="en-GB"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093" t="36459" r="36336" b="31771"/>
          <a:stretch/>
        </p:blipFill>
        <p:spPr bwMode="auto">
          <a:xfrm>
            <a:off x="811161" y="914400"/>
            <a:ext cx="6946000" cy="4669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7987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21</a:t>
            </a:fld>
            <a:endParaRPr lang="en-GB"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718" t="37917" r="29722" b="32661"/>
          <a:stretch/>
        </p:blipFill>
        <p:spPr bwMode="auto">
          <a:xfrm>
            <a:off x="304800" y="609600"/>
            <a:ext cx="8382697"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0099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latin typeface="Times New Roman" panose="02020603050405020304" pitchFamily="18" charset="0"/>
                <a:cs typeface="Times New Roman" panose="02020603050405020304" pitchFamily="18" charset="0"/>
              </a:rPr>
              <a:t>Stability (or sensitivity of an algorithm</a:t>
            </a:r>
            <a:r>
              <a:rPr lang="en-GB" b="1" dirty="0" smtClean="0">
                <a:solidFill>
                  <a:srgbClr val="FF0000"/>
                </a:solidFill>
                <a:latin typeface="Times New Roman" panose="02020603050405020304" pitchFamily="18" charset="0"/>
                <a:cs typeface="Times New Roman" panose="02020603050405020304" pitchFamily="18" charset="0"/>
              </a:rPr>
              <a:t>)</a:t>
            </a:r>
            <a:endParaRPr lang="en-GB"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GB" dirty="0">
                <a:latin typeface="Times New Roman" panose="02020603050405020304" pitchFamily="18" charset="0"/>
                <a:cs typeface="Times New Roman" panose="02020603050405020304" pitchFamily="18" charset="0"/>
              </a:rPr>
              <a:t>An algorithm is stable if the result it produces is relatively insensitive to errors made during </a:t>
            </a:r>
            <a:r>
              <a:rPr lang="en-GB" dirty="0" smtClean="0">
                <a:latin typeface="Times New Roman" panose="02020603050405020304" pitchFamily="18" charset="0"/>
                <a:cs typeface="Times New Roman" panose="02020603050405020304" pitchFamily="18" charset="0"/>
              </a:rPr>
              <a:t>the computations</a:t>
            </a:r>
            <a:r>
              <a:rPr lang="en-GB" dirty="0">
                <a:latin typeface="Times New Roman" panose="02020603050405020304" pitchFamily="18" charset="0"/>
                <a:cs typeface="Times New Roman" panose="02020603050405020304" pitchFamily="18" charset="0"/>
              </a:rPr>
              <a:t>. That is, the result it produces is the exact solution of a nearby problem.</a:t>
            </a:r>
          </a:p>
          <a:p>
            <a:r>
              <a:rPr lang="en-GB" dirty="0" smtClean="0">
                <a:latin typeface="Times New Roman" panose="02020603050405020304" pitchFamily="18" charset="0"/>
                <a:cs typeface="Times New Roman" panose="02020603050405020304" pitchFamily="18" charset="0"/>
              </a:rPr>
              <a:t>Stability </a:t>
            </a:r>
            <a:r>
              <a:rPr lang="en-GB" dirty="0">
                <a:latin typeface="Times New Roman" panose="02020603050405020304" pitchFamily="18" charset="0"/>
                <a:cs typeface="Times New Roman" panose="02020603050405020304" pitchFamily="18" charset="0"/>
              </a:rPr>
              <a:t>of an algorithm does not guarantee an accurate computed solution. </a:t>
            </a:r>
            <a:r>
              <a:rPr lang="en-GB" dirty="0" smtClean="0">
                <a:latin typeface="Times New Roman" panose="02020603050405020304" pitchFamily="18" charset="0"/>
                <a:cs typeface="Times New Roman" panose="02020603050405020304" pitchFamily="18" charset="0"/>
              </a:rPr>
              <a:t>Accuracy depends </a:t>
            </a:r>
            <a:r>
              <a:rPr lang="en-GB" dirty="0">
                <a:latin typeface="Times New Roman" panose="02020603050405020304" pitchFamily="18" charset="0"/>
                <a:cs typeface="Times New Roman" panose="02020603050405020304" pitchFamily="18" charset="0"/>
              </a:rPr>
              <a:t>on conditioning of the problem and stability of an </a:t>
            </a:r>
            <a:r>
              <a:rPr lang="en-GB" dirty="0" smtClean="0">
                <a:latin typeface="Times New Roman" panose="02020603050405020304" pitchFamily="18" charset="0"/>
                <a:cs typeface="Times New Roman" panose="02020603050405020304" pitchFamily="18" charset="0"/>
              </a:rPr>
              <a:t>algorithm</a:t>
            </a:r>
            <a:endParaRPr lang="en-GB"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22</a:t>
            </a:fld>
            <a:endParaRPr lang="en-GB" dirty="0"/>
          </a:p>
        </p:txBody>
      </p:sp>
    </p:spTree>
    <p:extLst>
      <p:ext uri="{BB962C8B-B14F-4D97-AF65-F5344CB8AC3E}">
        <p14:creationId xmlns:p14="http://schemas.microsoft.com/office/powerpoint/2010/main" val="2929305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
        <p:nvSpPr>
          <p:cNvPr id="4" name="Footer Placeholder 3"/>
          <p:cNvSpPr>
            <a:spLocks noGrp="1"/>
          </p:cNvSpPr>
          <p:nvPr>
            <p:ph type="ftr" sz="quarter" idx="11"/>
          </p:nvPr>
        </p:nvSpPr>
        <p:spPr/>
        <p:txBody>
          <a:bodyPr/>
          <a:lstStyle/>
          <a:p>
            <a:r>
              <a:rPr lang="en-GB" smtClean="0"/>
              <a:t>Department of CMIS – 2020/2021</a:t>
            </a:r>
            <a:endParaRPr lang="en-GB" dirty="0"/>
          </a:p>
        </p:txBody>
      </p:sp>
      <p:sp>
        <p:nvSpPr>
          <p:cNvPr id="5" name="Slide Number Placeholder 4"/>
          <p:cNvSpPr>
            <a:spLocks noGrp="1"/>
          </p:cNvSpPr>
          <p:nvPr>
            <p:ph type="sldNum" sz="quarter" idx="12"/>
          </p:nvPr>
        </p:nvSpPr>
        <p:spPr/>
        <p:txBody>
          <a:bodyPr/>
          <a:lstStyle/>
          <a:p>
            <a:fld id="{CE45EB1B-5865-4934-8F4B-0B1146C66BF8}" type="slidenum">
              <a:rPr lang="en-GB" smtClean="0"/>
              <a:t>23</a:t>
            </a:fld>
            <a:endParaRPr lang="en-GB" dirty="0"/>
          </a:p>
        </p:txBody>
      </p:sp>
    </p:spTree>
    <p:extLst>
      <p:ext uri="{BB962C8B-B14F-4D97-AF65-F5344CB8AC3E}">
        <p14:creationId xmlns:p14="http://schemas.microsoft.com/office/powerpoint/2010/main" val="2488197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1739</TotalTime>
  <Words>1137</Words>
  <Application>Microsoft Office PowerPoint</Application>
  <PresentationFormat>On-screen Show (4:3)</PresentationFormat>
  <Paragraphs>127</Paragraphs>
  <Slides>23</Slides>
  <Notes>1</Notes>
  <HiddenSlides>2</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CMIS 3142 - Computational Methods</vt:lpstr>
      <vt:lpstr>PowerPoint Presentation</vt:lpstr>
      <vt:lpstr>Error Analysis </vt:lpstr>
      <vt:lpstr>Accuracy and Precision </vt:lpstr>
      <vt:lpstr>Error</vt:lpstr>
      <vt:lpstr>PowerPoint Presentation</vt:lpstr>
      <vt:lpstr>Error Types</vt:lpstr>
      <vt:lpstr>Round off error</vt:lpstr>
      <vt:lpstr>Chopping / Truncation error</vt:lpstr>
      <vt:lpstr>Chopping Vs Rounding</vt:lpstr>
      <vt:lpstr>Machine Precision </vt:lpstr>
      <vt:lpstr>Round off Errors with Arithmetic Manipulations</vt:lpstr>
      <vt:lpstr>Arithmetic Manipulation </vt:lpstr>
      <vt:lpstr>Well-posed problems</vt:lpstr>
      <vt:lpstr>Forward Error and Backward Error</vt:lpstr>
      <vt:lpstr>Backward Error</vt:lpstr>
      <vt:lpstr>Example</vt:lpstr>
      <vt:lpstr>Conditioning (or sensitivity of a problem)</vt:lpstr>
      <vt:lpstr>PowerPoint Presentation</vt:lpstr>
      <vt:lpstr>PowerPoint Presentation</vt:lpstr>
      <vt:lpstr>PowerPoint Presentation</vt:lpstr>
      <vt:lpstr>Stability (or sensitivity of an algorithm)</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Arul</dc:creator>
  <cp:lastModifiedBy>Arul</cp:lastModifiedBy>
  <cp:revision>91</cp:revision>
  <dcterms:created xsi:type="dcterms:W3CDTF">2017-01-01T04:46:10Z</dcterms:created>
  <dcterms:modified xsi:type="dcterms:W3CDTF">2023-02-13T02:41:11Z</dcterms:modified>
</cp:coreProperties>
</file>