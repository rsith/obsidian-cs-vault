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7" r:id="rId2"/>
    <p:sldId id="321" r:id="rId3"/>
    <p:sldId id="258" r:id="rId4"/>
    <p:sldId id="259" r:id="rId5"/>
    <p:sldId id="260" r:id="rId6"/>
    <p:sldId id="261" r:id="rId7"/>
    <p:sldId id="262" r:id="rId8"/>
    <p:sldId id="263" r:id="rId9"/>
    <p:sldId id="299" r:id="rId10"/>
    <p:sldId id="300" r:id="rId11"/>
    <p:sldId id="301" r:id="rId12"/>
    <p:sldId id="302" r:id="rId13"/>
    <p:sldId id="322" r:id="rId14"/>
    <p:sldId id="303" r:id="rId15"/>
    <p:sldId id="304" r:id="rId16"/>
    <p:sldId id="305" r:id="rId17"/>
    <p:sldId id="315" r:id="rId18"/>
    <p:sldId id="306" r:id="rId19"/>
    <p:sldId id="307" r:id="rId20"/>
    <p:sldId id="308" r:id="rId21"/>
    <p:sldId id="323" r:id="rId22"/>
    <p:sldId id="324" r:id="rId23"/>
    <p:sldId id="309" r:id="rId24"/>
    <p:sldId id="310" r:id="rId25"/>
    <p:sldId id="311" r:id="rId26"/>
    <p:sldId id="312" r:id="rId27"/>
    <p:sldId id="313" r:id="rId28"/>
    <p:sldId id="291" r:id="rId29"/>
    <p:sldId id="292" r:id="rId30"/>
    <p:sldId id="294" r:id="rId31"/>
    <p:sldId id="316" r:id="rId32"/>
    <p:sldId id="317" r:id="rId33"/>
    <p:sldId id="318" r:id="rId34"/>
    <p:sldId id="319" r:id="rId35"/>
    <p:sldId id="32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E2E65-1E24-44D3-AE93-934F1F870760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5A41E-42B9-4488-AF36-EB08D8E3C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12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9702B6-5FEB-4909-A0A2-85228032B952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1E619E0E-6A4A-44F9-BFF8-D099D401D5BF}" type="datetimeFigureOut">
              <a:rPr lang="en-GB" smtClean="0"/>
              <a:pPr/>
              <a:t>09/11/2023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mtClean="0"/>
              <a:t>Department of CMIS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608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CBAC72C-66A4-4DDE-B5AB-664373F0C9CC}" type="slidenum">
              <a:rPr lang="en-US">
                <a:latin typeface="Times New Roman" pitchFamily="18" charset="0"/>
              </a:rPr>
              <a:pPr/>
              <a:t>9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F70AF24-1C22-48DE-8C1A-6B6FCB196E22}" type="slidenum">
              <a:rPr lang="en-US">
                <a:latin typeface="Times New Roman" pitchFamily="18" charset="0"/>
              </a:rPr>
              <a:pPr/>
              <a:t>10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0587397-FEB1-4362-AD24-E39B63CDA67E}" type="slidenum">
              <a:rPr lang="en-US">
                <a:latin typeface="Times New Roman" pitchFamily="18" charset="0"/>
              </a:rPr>
              <a:pPr/>
              <a:t>11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B33AC46-E176-49F5-8DA1-F0CCDC672E57}" type="slidenum">
              <a:rPr lang="en-US">
                <a:latin typeface="Times New Roman" pitchFamily="18" charset="0"/>
              </a:rPr>
              <a:pPr/>
              <a:t>12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09C6827-CFC7-494E-82DA-7ABF0BCCA007}" type="slidenum">
              <a:rPr lang="en-US">
                <a:latin typeface="Times New Roman" pitchFamily="18" charset="0"/>
              </a:rPr>
              <a:pPr/>
              <a:t>14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B3278A4-8780-4FA8-8A00-20AB067D2FF0}" type="slidenum">
              <a:rPr lang="en-US">
                <a:latin typeface="Times New Roman" pitchFamily="18" charset="0"/>
              </a:rPr>
              <a:pPr/>
              <a:t>15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0534958-91F0-45D2-8A9B-D94E96A4CE82}" type="slidenum">
              <a:rPr lang="en-US">
                <a:latin typeface="Times New Roman" pitchFamily="18" charset="0"/>
              </a:rPr>
              <a:pPr/>
              <a:t>16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mtClean="0"/>
              <a:t>Actual exponent = 5 = E – 127</a:t>
            </a:r>
          </a:p>
          <a:p>
            <a:r>
              <a:rPr lang="en-US" smtClean="0"/>
              <a:t>E = 5 + 127 = 132</a:t>
            </a:r>
          </a:p>
          <a:p>
            <a:r>
              <a:rPr lang="en-US" smtClean="0"/>
              <a:t>Convert 132</a:t>
            </a:r>
            <a:r>
              <a:rPr lang="en-US" baseline="-25000" smtClean="0"/>
              <a:t>10</a:t>
            </a:r>
            <a:r>
              <a:rPr lang="en-US" smtClean="0"/>
              <a:t> to binary =&gt; 10000100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A8E62C8-070C-4BA3-A03E-A819D31D7A22}" type="slidenum">
              <a:rPr lang="en-US">
                <a:latin typeface="Times New Roman" pitchFamily="18" charset="0"/>
              </a:rPr>
              <a:pPr/>
              <a:t>18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DEE9973-0A36-4470-A997-9D9E31E4FA10}" type="slidenum">
              <a:rPr lang="en-US">
                <a:latin typeface="Times New Roman" pitchFamily="18" charset="0"/>
              </a:rPr>
              <a:pPr/>
              <a:t>23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B7B758D-7725-47C6-AE78-DC6058EEFCB5}" type="slidenum">
              <a:rPr lang="en-US">
                <a:latin typeface="Times New Roman" pitchFamily="18" charset="0"/>
              </a:rPr>
              <a:pPr/>
              <a:t>24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C629F85-1EE7-4654-9706-791FDFCF6243}" type="slidenum">
              <a:rPr lang="en-US">
                <a:latin typeface="Times New Roman" pitchFamily="18" charset="0"/>
              </a:rPr>
              <a:pPr/>
              <a:t>25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8B77F8A-99D7-4CDC-9ECA-50D12BD11716}" type="slidenum">
              <a:rPr lang="en-US">
                <a:latin typeface="Times New Roman" pitchFamily="18" charset="0"/>
              </a:rPr>
              <a:pPr/>
              <a:t>26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4274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4274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4274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4274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3D583AD-0F17-4F93-AB2A-18EC01C52726}" type="slidenum">
              <a:rPr lang="en-US">
                <a:latin typeface="Times New Roman" pitchFamily="18" charset="0"/>
              </a:rPr>
              <a:pPr/>
              <a:t>27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0F0-AADE-4F08-A1F1-53AD1105060F}" type="datetime1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9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1A5F-48B9-49FE-83D8-AB80EFFF30DE}" type="datetime1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84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824CD-3A1A-4281-9397-4A4C0EAA8135}" type="datetime1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95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D248-0E28-4C78-9188-AC107B721164}" type="datetime1">
              <a:rPr lang="en-GB" smtClean="0"/>
              <a:t>09/11/2023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68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8D91-BB9D-490B-8387-10E6F4202FDB}" type="datetime1">
              <a:rPr lang="en-GB" smtClean="0"/>
              <a:t>09/11/2023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28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D763-D887-462C-AF3A-5ECA5621EE6A}" type="datetime1">
              <a:rPr lang="en-GB" smtClean="0"/>
              <a:t>09/11/2023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19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99B0C-B14B-425B-ABAC-C5BA817A97F7}" type="datetime1">
              <a:rPr lang="en-GB" smtClean="0"/>
              <a:t>09/11/2023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00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02FF-5E04-4787-8EDA-DCF4C925C7D3}" type="datetime1">
              <a:rPr lang="en-GB" smtClean="0"/>
              <a:t>09/11/2023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39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682F1-A277-4E5C-BDED-452FF1AB18FE}" type="datetime1">
              <a:rPr lang="en-GB" smtClean="0"/>
              <a:t>09/11/2023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13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57E87-ED73-482A-9D50-36817739B466}" type="datetime1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4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8EAA-5CBC-42A1-9E8E-9296B31FEEB2}" type="datetime1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714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082EA-2E0C-426F-A452-E92BE42C31BA}" type="datetime1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5EB1B-5865-4934-8F4B-0B1146C66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304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1219200"/>
            <a:ext cx="7772400" cy="1470025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FF0000"/>
                </a:solidFill>
                <a:latin typeface="Times New Roman" pitchFamily="18" charset="0"/>
              </a:rPr>
              <a:t>CMIS 3142 - Computational Methods</a:t>
            </a:r>
            <a:endParaRPr lang="en-GB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6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CMIS – 2021</a:t>
            </a:r>
            <a:endParaRPr lang="en-GB" sz="16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1C82-76A8-4956-BD1E-EECB160EC9AA}" type="slidenum">
              <a:rPr lang="en-GB" sz="1800" smtClean="0">
                <a:solidFill>
                  <a:srgbClr val="C00000"/>
                </a:solidFill>
              </a:rPr>
              <a:pPr/>
              <a:t>1</a:t>
            </a:fld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5000" y="2895600"/>
            <a:ext cx="571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 Arudchelvam</a:t>
            </a:r>
          </a:p>
          <a:p>
            <a:r>
              <a:rPr lang="en-GB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CMIS,</a:t>
            </a:r>
          </a:p>
          <a:p>
            <a:r>
              <a:rPr lang="en-GB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Applied Sciences,</a:t>
            </a:r>
          </a:p>
          <a:p>
            <a:r>
              <a:rPr lang="en-GB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Wayamba University of Sri Lanka</a:t>
            </a:r>
            <a:endParaRPr lang="en-GB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57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Time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Monday 8.30 a.m.</a:t>
            </a:r>
          </a:p>
          <a:p>
            <a:r>
              <a:rPr lang="en-US" dirty="0" smtClean="0"/>
              <a:t>Thursday 3.30 p.m.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702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smtClean="0">
                <a:solidFill>
                  <a:srgbClr val="FF0000"/>
                </a:solidFill>
                <a:latin typeface="Times New Roman" pitchFamily="18" charset="0"/>
              </a:rPr>
              <a:t>References</a:t>
            </a:r>
            <a:endParaRPr lang="en-GB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Jennings, A.,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computation for engineers and scientists</a:t>
            </a:r>
            <a:r>
              <a:rPr lang="en-US" dirty="0"/>
              <a:t>, John Willey, London, 1977.</a:t>
            </a:r>
          </a:p>
          <a:p>
            <a:pPr lvl="0"/>
            <a:r>
              <a:rPr lang="en-US" dirty="0"/>
              <a:t>E. </a:t>
            </a:r>
            <a:r>
              <a:rPr lang="en-US" dirty="0" err="1"/>
              <a:t>Kreyszig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Advanced Engineering Mathematics</a:t>
            </a:r>
            <a:r>
              <a:rPr lang="en-US" dirty="0"/>
              <a:t>, John Willey &amp; Sons, Inc., Singapore, 1999. </a:t>
            </a:r>
          </a:p>
          <a:p>
            <a:pPr lvl="0"/>
            <a:r>
              <a:rPr lang="en-US" dirty="0" err="1"/>
              <a:t>Hoole</a:t>
            </a:r>
            <a:r>
              <a:rPr lang="en-US" dirty="0"/>
              <a:t>, S.R.H., </a:t>
            </a:r>
            <a:r>
              <a:rPr lang="en-US" i="1" dirty="0">
                <a:solidFill>
                  <a:srgbClr val="FF0000"/>
                </a:solidFill>
              </a:rPr>
              <a:t>Computer Aided Analysis and Design of Electromagnetic Devices</a:t>
            </a:r>
            <a:r>
              <a:rPr lang="en-US" dirty="0"/>
              <a:t>, Elsevier, New York, 1989. 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28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smtClean="0">
                <a:solidFill>
                  <a:srgbClr val="FF0000"/>
                </a:solidFill>
                <a:latin typeface="Times New Roman" pitchFamily="18" charset="0"/>
              </a:rPr>
              <a:t>Evaluations</a:t>
            </a:r>
            <a:endParaRPr lang="en-GB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048000"/>
          </a:xfrm>
        </p:spPr>
        <p:txBody>
          <a:bodyPr/>
          <a:lstStyle/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effectLst/>
                <a:latin typeface="Times New Roman"/>
                <a:ea typeface="Times New Roman"/>
              </a:rPr>
              <a:t>Continuous Assessments			30%</a:t>
            </a:r>
          </a:p>
          <a:p>
            <a:pPr marL="628650" lvl="1" indent="-228600">
              <a:spcBef>
                <a:spcPts val="0"/>
              </a:spcBef>
            </a:pPr>
            <a:r>
              <a:rPr lang="en-US" dirty="0" smtClean="0">
                <a:solidFill>
                  <a:srgbClr val="C00000"/>
                </a:solidFill>
                <a:latin typeface="Times New Roman"/>
                <a:ea typeface="Times New Roman"/>
              </a:rPr>
              <a:t>Assignments</a:t>
            </a:r>
          </a:p>
          <a:p>
            <a:pPr marL="628650" lvl="1" indent="-228600">
              <a:spcBef>
                <a:spcPts val="0"/>
              </a:spcBef>
            </a:pPr>
            <a:r>
              <a:rPr lang="en-US" dirty="0" smtClean="0">
                <a:solidFill>
                  <a:srgbClr val="C00000"/>
                </a:solidFill>
                <a:latin typeface="Times New Roman"/>
                <a:ea typeface="Times New Roman"/>
              </a:rPr>
              <a:t>Spot exams</a:t>
            </a:r>
          </a:p>
          <a:p>
            <a:pPr marL="628650" lvl="1" indent="-228600">
              <a:spcBef>
                <a:spcPts val="0"/>
              </a:spcBef>
            </a:pPr>
            <a:r>
              <a:rPr lang="en-US" dirty="0" smtClean="0">
                <a:solidFill>
                  <a:srgbClr val="C00000"/>
                </a:solidFill>
                <a:effectLst/>
                <a:latin typeface="Times New Roman"/>
                <a:ea typeface="Times New Roman"/>
              </a:rPr>
              <a:t>Mid exams</a:t>
            </a:r>
          </a:p>
          <a:p>
            <a:pPr marL="628650" lvl="1" indent="-228600">
              <a:spcBef>
                <a:spcPts val="0"/>
              </a:spcBef>
            </a:pPr>
            <a:endParaRPr lang="en-US" dirty="0" smtClean="0">
              <a:effectLst/>
              <a:latin typeface="Times New Roman"/>
              <a:ea typeface="Times New Roman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effectLst/>
                <a:latin typeface="Times New Roman"/>
                <a:ea typeface="Times New Roman"/>
              </a:rPr>
              <a:t>Semester-End Theory Examination	70%</a:t>
            </a:r>
            <a:endParaRPr lang="en-US" sz="3600" dirty="0" smtClean="0">
              <a:effectLst/>
              <a:latin typeface="Times New Roman"/>
              <a:ea typeface="Times New Roman"/>
            </a:endParaRP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38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i="1" dirty="0">
                <a:latin typeface="Times New Roman" pitchFamily="18" charset="0"/>
                <a:cs typeface="Times New Roman" pitchFamily="18" charset="0"/>
              </a:rPr>
              <a:t>Data Representation and Computational Error: </a:t>
            </a:r>
            <a:endParaRPr lang="en-US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Floating-point numbers, rounding rules, machine precision, floating-point arithmetic; well-posed problems, problems vs. algorithms, data error vs. computational error, forward error vs. backward error, conditioning of a problem, stability of an algorithm.</a:t>
            </a:r>
          </a:p>
          <a:p>
            <a:pPr lvl="0"/>
            <a:r>
              <a:rPr lang="en-US" i="1" dirty="0">
                <a:latin typeface="Times New Roman" pitchFamily="18" charset="0"/>
                <a:cs typeface="Times New Roman" pitchFamily="18" charset="0"/>
              </a:rPr>
              <a:t>System of Linear Equations: </a:t>
            </a:r>
            <a:endParaRPr lang="en-US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Programming aspects for different types of matrices such as full matrix, symmetric matrix, sparse matrix, symmetric sparse matrix, row vector, column vector.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Program Design for matrices and other relevant Operations, SOR (Successive over relaxation Method),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Cholesky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Method, ICCG (Incomplete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Choleski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Conjugate Gradient method).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Program design for different problems using matrices</a:t>
            </a:r>
          </a:p>
          <a:p>
            <a:pPr lvl="0" algn="just"/>
            <a:r>
              <a:rPr lang="en-US" i="1" dirty="0">
                <a:latin typeface="Times New Roman" pitchFamily="18" charset="0"/>
                <a:cs typeface="Times New Roman" pitchFamily="18" charset="0"/>
              </a:rPr>
              <a:t>Fixed point iteration, Jacobian Matrix, Finite Difference Method</a:t>
            </a:r>
            <a:endParaRPr lang="en-US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Areas to be covered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44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Aims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352800"/>
          </a:xfrm>
        </p:spPr>
        <p:txBody>
          <a:bodyPr>
            <a:normAutofit/>
          </a:bodyPr>
          <a:lstStyle/>
          <a:p>
            <a:pPr marL="339725" lv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knowledge on numerical methods for Computational science and program design to solve real world problems using numerical methods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78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Intended Learning Outcomes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successful completion of this course module, students should be able to: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Interpret/illustrate data representation and computational errors,</a:t>
            </a:r>
            <a:endParaRPr lang="en-US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basics and methods to solve systems of linear equations,</a:t>
            </a:r>
            <a:endParaRPr lang="en-US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Solve given real world problems using numerical methods</a:t>
            </a:r>
            <a:endParaRPr lang="en-US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ways of solving problems using numerical methods</a:t>
            </a:r>
            <a:endParaRPr lang="en-US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Compile/arrange all possible alternative solutions</a:t>
            </a:r>
            <a:endParaRPr lang="en-US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design from each solution</a:t>
            </a:r>
            <a:endParaRPr lang="en-US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all the alternative solutions and recommend the best solution</a:t>
            </a:r>
            <a:endParaRPr lang="en-US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43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9800"/>
            <a:ext cx="8229600" cy="1143000"/>
          </a:xfrm>
        </p:spPr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Floating point Numbers 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358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AutoShap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Floating point numbers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sz="quarter"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buNone/>
            </a:pPr>
            <a:endParaRPr lang="en-US" sz="4400" dirty="0">
              <a:latin typeface="+mj-lt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buNone/>
            </a:pPr>
            <a:r>
              <a:rPr lang="en-US" sz="4400" dirty="0">
                <a:latin typeface="+mj-lt"/>
                <a:ea typeface="+mj-ea"/>
                <a:cs typeface="+mj-cs"/>
              </a:rPr>
              <a:t>Binary representation of fractional numbers</a:t>
            </a:r>
          </a:p>
          <a:p>
            <a:pPr algn="ctr">
              <a:spcBef>
                <a:spcPct val="0"/>
              </a:spcBef>
              <a:buNone/>
            </a:pPr>
            <a:endParaRPr lang="en-US" sz="4400" dirty="0">
              <a:latin typeface="+mj-lt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buNone/>
            </a:pPr>
            <a:r>
              <a:rPr lang="en-US" sz="4400" dirty="0">
                <a:latin typeface="+mj-lt"/>
                <a:ea typeface="+mj-ea"/>
                <a:cs typeface="+mj-cs"/>
              </a:rPr>
              <a:t>IEEE 754 standard</a:t>
            </a:r>
          </a:p>
          <a:p>
            <a:pPr algn="ctr">
              <a:spcBef>
                <a:spcPct val="0"/>
              </a:spcBef>
              <a:buNone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409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4637C9F-744C-4846-9E8F-C5349773B3A0}" type="slidenum">
              <a:rPr lang="en-US">
                <a:solidFill>
                  <a:schemeClr val="bg1"/>
                </a:solidFill>
              </a:rPr>
              <a:pPr/>
              <a:t>9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40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Binary  Decimal conversion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23.47 = 2</a:t>
            </a:r>
            <a:r>
              <a:rPr lang="en-US" dirty="0" smtClean="0">
                <a:cs typeface="Arial" charset="0"/>
              </a:rPr>
              <a:t>×10</a:t>
            </a:r>
            <a:r>
              <a:rPr lang="en-US" baseline="30000" dirty="0" smtClean="0">
                <a:cs typeface="Arial" charset="0"/>
              </a:rPr>
              <a:t>1</a:t>
            </a:r>
            <a:r>
              <a:rPr lang="en-US" dirty="0" smtClean="0">
                <a:cs typeface="Arial" charset="0"/>
              </a:rPr>
              <a:t> + 3×10</a:t>
            </a:r>
            <a:r>
              <a:rPr lang="en-US" baseline="30000" dirty="0" smtClean="0">
                <a:cs typeface="Arial" charset="0"/>
              </a:rPr>
              <a:t>0</a:t>
            </a:r>
            <a:r>
              <a:rPr lang="en-US" dirty="0" smtClean="0">
                <a:cs typeface="Arial" charset="0"/>
              </a:rPr>
              <a:t> + 4×10</a:t>
            </a:r>
            <a:r>
              <a:rPr lang="en-US" baseline="30000" dirty="0" smtClean="0">
                <a:cs typeface="Arial" charset="0"/>
              </a:rPr>
              <a:t>-1</a:t>
            </a:r>
            <a:r>
              <a:rPr lang="en-US" dirty="0" smtClean="0">
                <a:cs typeface="Arial" charset="0"/>
              </a:rPr>
              <a:t> + 7×10</a:t>
            </a:r>
            <a:r>
              <a:rPr lang="en-US" baseline="30000" dirty="0" smtClean="0">
                <a:cs typeface="Arial" charset="0"/>
              </a:rPr>
              <a:t>-2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cs typeface="Arial" charset="0"/>
              </a:rPr>
              <a:t>      decimal point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10.01</a:t>
            </a:r>
            <a:r>
              <a:rPr lang="en-US" baseline="-25000" dirty="0" smtClean="0"/>
              <a:t>two</a:t>
            </a:r>
            <a:r>
              <a:rPr lang="en-US" dirty="0" smtClean="0"/>
              <a:t> = 1</a:t>
            </a:r>
            <a:r>
              <a:rPr lang="en-US" dirty="0" smtClean="0">
                <a:cs typeface="Arial" charset="0"/>
              </a:rPr>
              <a:t>×2</a:t>
            </a:r>
            <a:r>
              <a:rPr lang="en-US" baseline="30000" dirty="0" smtClean="0">
                <a:cs typeface="Arial" charset="0"/>
              </a:rPr>
              <a:t>1</a:t>
            </a:r>
            <a:r>
              <a:rPr lang="en-US" dirty="0" smtClean="0">
                <a:cs typeface="Arial" charset="0"/>
              </a:rPr>
              <a:t> + 0×2</a:t>
            </a:r>
            <a:r>
              <a:rPr lang="en-US" baseline="30000" dirty="0" smtClean="0">
                <a:cs typeface="Arial" charset="0"/>
              </a:rPr>
              <a:t>0</a:t>
            </a:r>
            <a:r>
              <a:rPr lang="en-US" dirty="0" smtClean="0">
                <a:cs typeface="Arial" charset="0"/>
              </a:rPr>
              <a:t> + 0×2</a:t>
            </a:r>
            <a:r>
              <a:rPr lang="en-US" baseline="30000" dirty="0" smtClean="0">
                <a:cs typeface="Arial" charset="0"/>
              </a:rPr>
              <a:t>-1</a:t>
            </a:r>
            <a:r>
              <a:rPr lang="en-US" dirty="0" smtClean="0">
                <a:cs typeface="Arial" charset="0"/>
              </a:rPr>
              <a:t> + 1×2</a:t>
            </a:r>
            <a:r>
              <a:rPr lang="en-US" baseline="30000" dirty="0" smtClean="0">
                <a:cs typeface="Arial" charset="0"/>
              </a:rPr>
              <a:t>-2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cs typeface="Arial" charset="0"/>
              </a:rPr>
              <a:t>      binary point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cs typeface="Arial" charset="0"/>
              </a:rPr>
              <a:t>		= </a:t>
            </a:r>
            <a:r>
              <a:rPr lang="en-US" dirty="0" smtClean="0"/>
              <a:t>1</a:t>
            </a:r>
            <a:r>
              <a:rPr lang="en-US" dirty="0" smtClean="0">
                <a:cs typeface="Arial" charset="0"/>
              </a:rPr>
              <a:t>×2   + 0×1  + 0×½   + 1×¼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cs typeface="Arial" charset="0"/>
              </a:rPr>
              <a:t>		= 2 + 0.25 = 2.25</a:t>
            </a:r>
            <a:endParaRPr lang="en-US" baseline="30000" dirty="0" smtClean="0"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cs typeface="Arial" charset="0"/>
            </a:endParaRPr>
          </a:p>
        </p:txBody>
      </p:sp>
      <p:sp>
        <p:nvSpPr>
          <p:cNvPr id="512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87C022DE-25B7-409F-934F-FF7BE920D6BF}" type="slidenum">
              <a:rPr lang="en-US">
                <a:solidFill>
                  <a:schemeClr val="bg1"/>
                </a:solidFill>
              </a:rPr>
              <a:pPr/>
              <a:t>10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7412" name="Line 4"/>
          <p:cNvSpPr>
            <a:spLocks noChangeShapeType="1"/>
          </p:cNvSpPr>
          <p:nvPr/>
        </p:nvSpPr>
        <p:spPr bwMode="auto">
          <a:xfrm flipV="1">
            <a:off x="1066800" y="2133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 flipV="1">
            <a:off x="990600" y="384195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2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17412" grpId="0" animBg="1"/>
      <p:bldP spid="174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Decimal </a:t>
            </a:r>
            <a:r>
              <a:rPr lang="en-US" smtClean="0">
                <a:sym typeface="Wingdings" pitchFamily="2" charset="2"/>
              </a:rPr>
              <a:t> Binary conversion</a:t>
            </a:r>
            <a:endParaRPr lang="en-US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Write number as sum of powers of 2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/>
              <a:t>	0.8125 = 0.5 + 0.25 + 0.0625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/>
              <a:t>                = 2</a:t>
            </a:r>
            <a:r>
              <a:rPr lang="en-US" sz="2400" baseline="30000" dirty="0" smtClean="0"/>
              <a:t>-1</a:t>
            </a:r>
            <a:r>
              <a:rPr lang="en-US" sz="2400" dirty="0" smtClean="0"/>
              <a:t> + 2</a:t>
            </a:r>
            <a:r>
              <a:rPr lang="en-US" sz="2400" baseline="30000" dirty="0" smtClean="0"/>
              <a:t>-2</a:t>
            </a:r>
            <a:r>
              <a:rPr lang="en-US" sz="2400" dirty="0" smtClean="0"/>
              <a:t> + 2</a:t>
            </a:r>
            <a:r>
              <a:rPr lang="en-US" sz="2400" baseline="30000" dirty="0" smtClean="0"/>
              <a:t>-4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aseline="30000" dirty="0" smtClean="0"/>
              <a:t>                        </a:t>
            </a:r>
            <a:r>
              <a:rPr lang="en-US" sz="2400" dirty="0" smtClean="0"/>
              <a:t>= 0.1101</a:t>
            </a:r>
            <a:r>
              <a:rPr lang="en-US" sz="2400" baseline="-25000" dirty="0" smtClean="0"/>
              <a:t>two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Algorithm: Repeatedly multiply fraction by two until fraction becomes zero.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/>
              <a:t>	0.8125 </a:t>
            </a:r>
            <a:r>
              <a:rPr lang="en-US" sz="2400" dirty="0" smtClean="0">
                <a:sym typeface="Wingdings" pitchFamily="2" charset="2"/>
              </a:rPr>
              <a:t> 1.625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sym typeface="Wingdings" pitchFamily="2" charset="2"/>
              </a:rPr>
              <a:t>	0.625    1.25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sym typeface="Wingdings" pitchFamily="2" charset="2"/>
              </a:rPr>
              <a:t>	0.25      0.5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/>
              <a:t>	0.5	     </a:t>
            </a:r>
            <a:r>
              <a:rPr lang="en-US" sz="2400" dirty="0" smtClean="0">
                <a:sym typeface="Wingdings" pitchFamily="2" charset="2"/>
              </a:rPr>
              <a:t> 1.0</a:t>
            </a:r>
            <a:endParaRPr lang="en-US" sz="2400" dirty="0" smtClean="0"/>
          </a:p>
        </p:txBody>
      </p:sp>
      <p:sp>
        <p:nvSpPr>
          <p:cNvPr id="614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DF773E6-B2E1-42B2-B87B-13981EFCFAD1}" type="slidenum">
              <a:rPr lang="en-US">
                <a:solidFill>
                  <a:schemeClr val="bg1"/>
                </a:solidFill>
              </a:rPr>
              <a:pPr/>
              <a:t>11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2133600" y="3581400"/>
            <a:ext cx="228600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17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184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Beware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dirty="0" smtClean="0"/>
              <a:t>Finite decimal digits </a:t>
            </a:r>
            <a:r>
              <a:rPr lang="en-US" dirty="0" smtClean="0">
                <a:sym typeface="Wingdings" pitchFamily="2" charset="2"/>
              </a:rPr>
              <a:t> finite binary digits</a:t>
            </a:r>
          </a:p>
          <a:p>
            <a:pPr eaLnBrk="1" hangingPunct="1"/>
            <a:r>
              <a:rPr lang="en-US" dirty="0" smtClean="0">
                <a:sym typeface="Wingdings" pitchFamily="2" charset="2"/>
              </a:rPr>
              <a:t>Example: 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0.1</a:t>
            </a:r>
            <a:r>
              <a:rPr lang="en-US" baseline="-25000" dirty="0" smtClean="0"/>
              <a:t>ten </a:t>
            </a:r>
            <a:r>
              <a:rPr lang="en-US" dirty="0" smtClean="0">
                <a:sym typeface="Wingdings" pitchFamily="2" charset="2"/>
              </a:rPr>
              <a:t> 0.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 0.4  0.8  1.6  1.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 0.4  0.8  1.6  1.2  0.4 …</a:t>
            </a:r>
          </a:p>
          <a:p>
            <a:pPr lvl="1" eaLnBrk="1" hangingPunct="1">
              <a:buFontTx/>
              <a:buNone/>
            </a:pPr>
            <a:endParaRPr lang="en-US" dirty="0" smtClean="0">
              <a:sym typeface="Wingdings" pitchFamily="2" charset="2"/>
            </a:endParaRPr>
          </a:p>
          <a:p>
            <a:pPr lvl="1" eaLnBrk="1" hangingPunct="1">
              <a:buFontTx/>
              <a:buNone/>
            </a:pPr>
            <a:r>
              <a:rPr lang="en-US" dirty="0" smtClean="0"/>
              <a:t>0.1</a:t>
            </a:r>
            <a:r>
              <a:rPr lang="en-US" baseline="-25000" dirty="0" smtClean="0"/>
              <a:t>ten </a:t>
            </a:r>
            <a:r>
              <a:rPr lang="en-US" dirty="0" smtClean="0"/>
              <a:t>= 0.00011001100110011…</a:t>
            </a:r>
            <a:r>
              <a:rPr lang="en-US" baseline="-25000" dirty="0" smtClean="0"/>
              <a:t>two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         = 0.00011</a:t>
            </a:r>
            <a:r>
              <a:rPr lang="en-US" baseline="-25000" dirty="0" smtClean="0"/>
              <a:t>two </a:t>
            </a:r>
            <a:r>
              <a:rPr lang="en-US" dirty="0" smtClean="0"/>
              <a:t>(infinite repeating binary)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The more bits, the binary rep gets closer to 0.1</a:t>
            </a:r>
            <a:r>
              <a:rPr lang="en-US" baseline="-25000" dirty="0" smtClean="0"/>
              <a:t>ten</a:t>
            </a:r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E2B5424-9F8B-41A3-955F-EBBEFCEC5377}" type="slidenum">
              <a:rPr lang="en-US">
                <a:solidFill>
                  <a:schemeClr val="bg1"/>
                </a:solidFill>
              </a:rPr>
              <a:pPr/>
              <a:t>12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937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Assignment 01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Write a Java program to convert a given decimal number to binary number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Write a Java program to convert a given binary number to decimal point number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 the same (1 and 2) for converting decimal to Octal and </a:t>
            </a:r>
            <a:r>
              <a:rPr lang="en-US" dirty="0" err="1" smtClean="0"/>
              <a:t>Hexa</a:t>
            </a:r>
            <a:r>
              <a:rPr lang="en-US" dirty="0" smtClean="0"/>
              <a:t> decimal  </a:t>
            </a:r>
          </a:p>
          <a:p>
            <a:endParaRPr lang="en-US" dirty="0"/>
          </a:p>
          <a:p>
            <a:r>
              <a:rPr lang="en-US" dirty="0" smtClean="0"/>
              <a:t>Submit on or before: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11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Scientific notation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752600"/>
            <a:ext cx="8153400" cy="3724275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dirty="0" smtClean="0"/>
              <a:t>Decimal: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-123,000,000,000,000  </a:t>
            </a:r>
            <a:r>
              <a:rPr lang="en-US" dirty="0" smtClean="0">
                <a:sym typeface="Wingdings" pitchFamily="2" charset="2"/>
              </a:rPr>
              <a:t>  </a:t>
            </a:r>
            <a:r>
              <a:rPr lang="en-US" dirty="0" smtClean="0"/>
              <a:t>-1.23 </a:t>
            </a:r>
            <a:r>
              <a:rPr lang="en-US" dirty="0" smtClean="0">
                <a:cs typeface="Arial" charset="0"/>
              </a:rPr>
              <a:t>× 10</a:t>
            </a:r>
            <a:r>
              <a:rPr lang="en-US" baseline="30000" dirty="0" smtClean="0">
                <a:cs typeface="Arial" charset="0"/>
              </a:rPr>
              <a:t>14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aseline="30000" dirty="0" smtClean="0">
                <a:cs typeface="Arial" charset="0"/>
              </a:rPr>
              <a:t>	</a:t>
            </a:r>
            <a:r>
              <a:rPr lang="en-US" dirty="0" smtClean="0">
                <a:cs typeface="Arial" charset="0"/>
              </a:rPr>
              <a:t>0.000 000 000 000 000 123  </a:t>
            </a:r>
            <a:r>
              <a:rPr lang="en-US" dirty="0" smtClean="0">
                <a:cs typeface="Arial" charset="0"/>
                <a:sym typeface="Wingdings" pitchFamily="2" charset="2"/>
              </a:rPr>
              <a:t>  +1.23× </a:t>
            </a:r>
            <a:r>
              <a:rPr lang="en-US" dirty="0" smtClean="0">
                <a:cs typeface="Arial" charset="0"/>
              </a:rPr>
              <a:t>10</a:t>
            </a:r>
            <a:r>
              <a:rPr lang="en-US" baseline="30000" dirty="0" smtClean="0">
                <a:cs typeface="Arial" charset="0"/>
              </a:rPr>
              <a:t>-16</a:t>
            </a:r>
          </a:p>
          <a:p>
            <a:pPr eaLnBrk="1" hangingPunct="1">
              <a:buFont typeface="Wingdings" pitchFamily="2" charset="2"/>
              <a:buNone/>
            </a:pPr>
            <a:endParaRPr lang="en-US" baseline="30000" dirty="0" smtClean="0">
              <a:cs typeface="Arial" charset="0"/>
            </a:endParaRPr>
          </a:p>
          <a:p>
            <a:pPr eaLnBrk="1" hangingPunct="1"/>
            <a:r>
              <a:rPr lang="en-US" dirty="0" smtClean="0"/>
              <a:t>Binary: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110 1100 0000 0000   </a:t>
            </a:r>
            <a:r>
              <a:rPr lang="en-US" dirty="0" smtClean="0">
                <a:sym typeface="Wingdings" pitchFamily="2" charset="2"/>
              </a:rPr>
              <a:t>  </a:t>
            </a:r>
            <a:r>
              <a:rPr lang="en-US" dirty="0" smtClean="0"/>
              <a:t>1.1011</a:t>
            </a:r>
            <a:r>
              <a:rPr lang="en-US" dirty="0" smtClean="0">
                <a:cs typeface="Arial" charset="0"/>
              </a:rPr>
              <a:t>× 2</a:t>
            </a:r>
            <a:r>
              <a:rPr lang="en-US" baseline="30000" dirty="0" smtClean="0">
                <a:cs typeface="Arial" charset="0"/>
              </a:rPr>
              <a:t>14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cs typeface="Arial" charset="0"/>
              </a:rPr>
              <a:t>	-0.0000 0000 0000 0001 1011 </a:t>
            </a:r>
            <a:r>
              <a:rPr lang="en-US" dirty="0" smtClean="0">
                <a:cs typeface="Arial" charset="0"/>
                <a:sym typeface="Wingdings" pitchFamily="2" charset="2"/>
              </a:rPr>
              <a:t> -1.1101 </a:t>
            </a:r>
            <a:r>
              <a:rPr lang="en-US" dirty="0" smtClean="0">
                <a:cs typeface="Arial" charset="0"/>
              </a:rPr>
              <a:t>× 2</a:t>
            </a:r>
            <a:r>
              <a:rPr lang="en-US" baseline="30000" dirty="0" smtClean="0">
                <a:cs typeface="Arial" charset="0"/>
              </a:rPr>
              <a:t>-16</a:t>
            </a:r>
          </a:p>
        </p:txBody>
      </p:sp>
      <p:sp>
        <p:nvSpPr>
          <p:cNvPr id="819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17F81BF-7E94-4F8E-A5B3-297C320CE1CB}" type="slidenum">
              <a:rPr lang="en-US">
                <a:solidFill>
                  <a:schemeClr val="bg1"/>
                </a:solidFill>
              </a:rPr>
              <a:pPr/>
              <a:t>14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93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Floating point representation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Three pieces: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sign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exponent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mantissa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Format:</a:t>
            </a:r>
          </a:p>
          <a:p>
            <a:pPr eaLnBrk="1" hangingPunct="1">
              <a:lnSpc>
                <a:spcPct val="80000"/>
              </a:lnSpc>
            </a:pP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Fixed-size representation (32-bit, 64-bit)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1 sign bit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more exponent bits </a:t>
            </a:r>
            <a:r>
              <a:rPr lang="en-US" sz="2000" dirty="0" smtClean="0">
                <a:sym typeface="Wingdings" pitchFamily="2" charset="2"/>
              </a:rPr>
              <a:t> greater range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sym typeface="Wingdings" pitchFamily="2" charset="2"/>
              </a:rPr>
              <a:t>more mantissa bits  greater accuracy</a:t>
            </a:r>
            <a:endParaRPr lang="en-US" sz="2000" dirty="0" smtClean="0"/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AE2A130-2435-47A8-A165-238048616ECE}" type="slidenum">
              <a:rPr lang="en-US">
                <a:solidFill>
                  <a:schemeClr val="bg1"/>
                </a:solidFill>
              </a:rPr>
              <a:pPr/>
              <a:t>15</a:t>
            </a:fld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200400" y="1981200"/>
            <a:ext cx="3581400" cy="381000"/>
            <a:chOff x="3200400" y="1981200"/>
            <a:chExt cx="3581400" cy="381000"/>
          </a:xfrm>
        </p:grpSpPr>
        <p:sp>
          <p:nvSpPr>
            <p:cNvPr id="13316" name="Rectangle 4"/>
            <p:cNvSpPr>
              <a:spLocks noChangeArrowheads="1"/>
            </p:cNvSpPr>
            <p:nvPr/>
          </p:nvSpPr>
          <p:spPr bwMode="auto">
            <a:xfrm>
              <a:off x="3200400" y="1981200"/>
              <a:ext cx="762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sign</a:t>
              </a:r>
            </a:p>
          </p:txBody>
        </p:sp>
        <p:sp>
          <p:nvSpPr>
            <p:cNvPr id="13317" name="Rectangle 5"/>
            <p:cNvSpPr>
              <a:spLocks noChangeArrowheads="1"/>
            </p:cNvSpPr>
            <p:nvPr/>
          </p:nvSpPr>
          <p:spPr bwMode="auto">
            <a:xfrm>
              <a:off x="5410200" y="1981200"/>
              <a:ext cx="13716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mantissa</a:t>
              </a:r>
              <a:endParaRPr lang="en-US" dirty="0"/>
            </a:p>
          </p:txBody>
        </p:sp>
        <p:sp>
          <p:nvSpPr>
            <p:cNvPr id="13318" name="Rectangle 6"/>
            <p:cNvSpPr>
              <a:spLocks noChangeArrowheads="1"/>
            </p:cNvSpPr>
            <p:nvPr/>
          </p:nvSpPr>
          <p:spPr bwMode="auto">
            <a:xfrm>
              <a:off x="3962400" y="1981200"/>
              <a:ext cx="1447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exponent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68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AutoShap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IEEE 754 floating point standards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762125"/>
            <a:ext cx="7924800" cy="3724275"/>
          </a:xfrm>
        </p:spPr>
        <p:txBody>
          <a:bodyPr/>
          <a:lstStyle/>
          <a:p>
            <a:pPr eaLnBrk="1" hangingPunct="1"/>
            <a:r>
              <a:rPr lang="en-US" dirty="0" smtClean="0"/>
              <a:t>Single precision (32-bit) format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Bits</a:t>
            </a:r>
            <a:r>
              <a:rPr lang="en-US" sz="2400" dirty="0" smtClean="0"/>
              <a:t>--&gt;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Normalized rule: number represented is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dirty="0" smtClean="0"/>
              <a:t>(-1)</a:t>
            </a:r>
            <a:r>
              <a:rPr lang="en-US" baseline="30000" dirty="0" smtClean="0"/>
              <a:t>S</a:t>
            </a:r>
            <a:r>
              <a:rPr lang="en-US" dirty="0" smtClean="0">
                <a:cs typeface="Arial" charset="0"/>
              </a:rPr>
              <a:t>×1.F×2</a:t>
            </a:r>
            <a:r>
              <a:rPr lang="en-US" baseline="30000" dirty="0" smtClean="0">
                <a:cs typeface="Arial" charset="0"/>
              </a:rPr>
              <a:t>E-127,      </a:t>
            </a:r>
            <a:r>
              <a:rPr lang="en-US" dirty="0" smtClean="0">
                <a:cs typeface="Arial" charset="0"/>
              </a:rPr>
              <a:t>E (≠ 00…0 or 11…1)</a:t>
            </a:r>
            <a:endParaRPr lang="en-US" baseline="30000" dirty="0" smtClean="0">
              <a:cs typeface="Arial" charset="0"/>
            </a:endParaRPr>
          </a:p>
          <a:p>
            <a:pPr eaLnBrk="1" hangingPunct="1"/>
            <a:r>
              <a:rPr lang="en-US" dirty="0" smtClean="0">
                <a:cs typeface="Arial" charset="0"/>
              </a:rPr>
              <a:t>Example:  +101101.101</a:t>
            </a:r>
            <a:r>
              <a:rPr lang="en-US" dirty="0" smtClean="0">
                <a:cs typeface="Arial" charset="0"/>
                <a:sym typeface="Wingdings" pitchFamily="2" charset="2"/>
              </a:rPr>
              <a:t>+1.01101101×2</a:t>
            </a:r>
            <a:r>
              <a:rPr lang="en-US" baseline="30000" dirty="0" smtClean="0">
                <a:cs typeface="Arial" charset="0"/>
                <a:sym typeface="Wingdings" pitchFamily="2" charset="2"/>
              </a:rPr>
              <a:t>5</a:t>
            </a:r>
            <a:endParaRPr lang="en-US" baseline="30000" dirty="0" smtClean="0">
              <a:cs typeface="Arial" charset="0"/>
            </a:endParaRPr>
          </a:p>
          <a:p>
            <a:pPr eaLnBrk="1" hangingPunct="1"/>
            <a:endParaRPr lang="en-US" baseline="30000" dirty="0" smtClean="0"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C82E506-415E-4D7C-BFFD-DF5310037729}" type="slidenum">
              <a:rPr lang="en-US">
                <a:solidFill>
                  <a:schemeClr val="bg1"/>
                </a:solidFill>
              </a:rPr>
              <a:pPr/>
              <a:t>16</a:t>
            </a:fld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752600" y="2438400"/>
            <a:ext cx="5029200" cy="762000"/>
            <a:chOff x="2209800" y="3048000"/>
            <a:chExt cx="5029200" cy="762000"/>
          </a:xfrm>
        </p:grpSpPr>
        <p:grpSp>
          <p:nvGrpSpPr>
            <p:cNvPr id="2" name="Group 1"/>
            <p:cNvGrpSpPr/>
            <p:nvPr/>
          </p:nvGrpSpPr>
          <p:grpSpPr>
            <a:xfrm>
              <a:off x="2209800" y="3429000"/>
              <a:ext cx="5029200" cy="381000"/>
              <a:chOff x="2209800" y="3429000"/>
              <a:chExt cx="5029200" cy="381000"/>
            </a:xfrm>
          </p:grpSpPr>
          <p:sp>
            <p:nvSpPr>
              <p:cNvPr id="15364" name="Rectangle 4"/>
              <p:cNvSpPr>
                <a:spLocks noChangeArrowheads="1"/>
              </p:cNvSpPr>
              <p:nvPr/>
            </p:nvSpPr>
            <p:spPr bwMode="auto">
              <a:xfrm>
                <a:off x="2209800" y="3429000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</a:p>
            </p:txBody>
          </p:sp>
          <p:sp>
            <p:nvSpPr>
              <p:cNvPr id="15365" name="Rectangle 5"/>
              <p:cNvSpPr>
                <a:spLocks noChangeArrowheads="1"/>
              </p:cNvSpPr>
              <p:nvPr/>
            </p:nvSpPr>
            <p:spPr bwMode="auto">
              <a:xfrm>
                <a:off x="2514600" y="3429000"/>
                <a:ext cx="1066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  <p:sp>
            <p:nvSpPr>
              <p:cNvPr id="15366" name="Rectangle 6"/>
              <p:cNvSpPr>
                <a:spLocks noChangeArrowheads="1"/>
              </p:cNvSpPr>
              <p:nvPr/>
            </p:nvSpPr>
            <p:spPr bwMode="auto">
              <a:xfrm>
                <a:off x="3581400" y="3429000"/>
                <a:ext cx="36576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sp>
          <p:nvSpPr>
            <p:cNvPr id="15367" name="Rectangle 7"/>
            <p:cNvSpPr>
              <a:spLocks noChangeArrowheads="1"/>
            </p:cNvSpPr>
            <p:nvPr/>
          </p:nvSpPr>
          <p:spPr bwMode="auto">
            <a:xfrm>
              <a:off x="2209800" y="3048000"/>
              <a:ext cx="3048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5368" name="Rectangle 8"/>
            <p:cNvSpPr>
              <a:spLocks noChangeArrowheads="1"/>
            </p:cNvSpPr>
            <p:nvPr/>
          </p:nvSpPr>
          <p:spPr bwMode="auto">
            <a:xfrm>
              <a:off x="2514600" y="3048000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5369" name="Rectangle 9"/>
            <p:cNvSpPr>
              <a:spLocks noChangeArrowheads="1"/>
            </p:cNvSpPr>
            <p:nvPr/>
          </p:nvSpPr>
          <p:spPr bwMode="auto">
            <a:xfrm>
              <a:off x="3581400" y="3048000"/>
              <a:ext cx="36576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23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133600" y="6019800"/>
            <a:ext cx="4876800" cy="381000"/>
            <a:chOff x="2743200" y="5791200"/>
            <a:chExt cx="4876800" cy="381000"/>
          </a:xfrm>
        </p:grpSpPr>
        <p:sp>
          <p:nvSpPr>
            <p:cNvPr id="15376" name="Rectangle 16"/>
            <p:cNvSpPr>
              <a:spLocks noChangeArrowheads="1"/>
            </p:cNvSpPr>
            <p:nvPr/>
          </p:nvSpPr>
          <p:spPr bwMode="auto">
            <a:xfrm>
              <a:off x="2743200" y="5791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5377" name="Rectangle 17"/>
            <p:cNvSpPr>
              <a:spLocks noChangeArrowheads="1"/>
            </p:cNvSpPr>
            <p:nvPr/>
          </p:nvSpPr>
          <p:spPr bwMode="auto">
            <a:xfrm>
              <a:off x="3048000" y="5791200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1000 0100</a:t>
              </a:r>
            </a:p>
          </p:txBody>
        </p:sp>
        <p:sp>
          <p:nvSpPr>
            <p:cNvPr id="15378" name="Rectangle 18"/>
            <p:cNvSpPr>
              <a:spLocks noChangeArrowheads="1"/>
            </p:cNvSpPr>
            <p:nvPr/>
          </p:nvSpPr>
          <p:spPr bwMode="auto">
            <a:xfrm>
              <a:off x="4191000" y="5791200"/>
              <a:ext cx="3429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0110 1101 0000 0000 0000 000</a:t>
              </a: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00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To provide for negative exponents, we will use a </a:t>
            </a:r>
            <a:r>
              <a:rPr lang="en-US" i="1" dirty="0">
                <a:solidFill>
                  <a:srgbClr val="FF0000"/>
                </a:solidFill>
                <a:latin typeface="Arial" charset="0"/>
              </a:rPr>
              <a:t>biased exponent</a:t>
            </a:r>
            <a:r>
              <a:rPr lang="en-US" dirty="0">
                <a:latin typeface="Arial" charset="0"/>
              </a:rPr>
              <a:t>.</a:t>
            </a:r>
          </a:p>
          <a:p>
            <a:r>
              <a:rPr lang="en-US" dirty="0">
                <a:latin typeface="Arial" charset="0"/>
              </a:rPr>
              <a:t>A </a:t>
            </a:r>
            <a:r>
              <a:rPr lang="en-US" dirty="0">
                <a:solidFill>
                  <a:srgbClr val="FF0000"/>
                </a:solidFill>
                <a:latin typeface="Arial" charset="0"/>
              </a:rPr>
              <a:t>bias</a:t>
            </a:r>
            <a:r>
              <a:rPr lang="en-US" dirty="0">
                <a:latin typeface="Arial" charset="0"/>
              </a:rPr>
              <a:t> is a number that is approximately midway in the range of values expressible by the exponent.  We subtract the bias from the value in the exponent to determine its true value.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24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Features of IEEE 754 format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46237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Sign: 1</a:t>
            </a:r>
            <a:r>
              <a:rPr lang="en-US" dirty="0" smtClean="0">
                <a:sym typeface="Wingdings" pitchFamily="2" charset="2"/>
              </a:rPr>
              <a:t>negative, 0non-negative</a:t>
            </a: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C00000"/>
                </a:solidFill>
              </a:rPr>
              <a:t>mantissa</a:t>
            </a:r>
            <a:r>
              <a:rPr lang="en-US" dirty="0" smtClean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Normalized number: always a 1 left of binary point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dirty="0" smtClean="0"/>
              <a:t>	(except when E is 0 or 255)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Do not waste a bit on this 1 </a:t>
            </a: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"hidden 1"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Exponent: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Not two's-complement representation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Unsigned interpretation minus bias</a:t>
            </a:r>
          </a:p>
          <a:p>
            <a:pPr lvl="1" eaLnBrk="1" hangingPunct="1">
              <a:lnSpc>
                <a:spcPct val="90000"/>
              </a:lnSpc>
            </a:pPr>
            <a:endParaRPr lang="en-US" dirty="0" smtClean="0"/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B3CFD4E-7F06-491E-AA97-C8BFAE7566CA}" type="slidenum">
              <a:rPr lang="en-US">
                <a:solidFill>
                  <a:schemeClr val="bg1"/>
                </a:solidFill>
              </a:rPr>
              <a:pPr/>
              <a:t>18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7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F884BF4-C312-4E4D-8F43-A671D006DEB4}" type="slidenum">
              <a:rPr lang="en-US">
                <a:solidFill>
                  <a:schemeClr val="bg1"/>
                </a:solidFill>
              </a:rPr>
              <a:pPr/>
              <a:t>19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2292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04800"/>
            <a:ext cx="7924800" cy="11430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Example: 0.75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62000" y="1562100"/>
            <a:ext cx="7848600" cy="4152900"/>
            <a:chOff x="1066800" y="2476500"/>
            <a:chExt cx="7848600" cy="4152900"/>
          </a:xfrm>
        </p:grpSpPr>
        <p:sp>
          <p:nvSpPr>
            <p:cNvPr id="12293" name="Text Box 4"/>
            <p:cNvSpPr txBox="1">
              <a:spLocks noChangeArrowheads="1"/>
            </p:cNvSpPr>
            <p:nvPr/>
          </p:nvSpPr>
          <p:spPr bwMode="auto">
            <a:xfrm>
              <a:off x="1066800" y="2476500"/>
              <a:ext cx="7848600" cy="4152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dirty="0"/>
                <a:t>0.75</a:t>
              </a:r>
              <a:r>
                <a:rPr lang="en-US" sz="2800" baseline="-25000" dirty="0"/>
                <a:t> ten</a:t>
              </a:r>
              <a:r>
                <a:rPr lang="en-US" sz="2400" dirty="0"/>
                <a:t> = </a:t>
              </a:r>
              <a:r>
                <a:rPr lang="en-US" sz="2800" dirty="0"/>
                <a:t>0.11</a:t>
              </a:r>
              <a:r>
                <a:rPr lang="en-US" sz="2400" dirty="0"/>
                <a:t> </a:t>
              </a:r>
              <a:r>
                <a:rPr lang="en-US" sz="2800" baseline="-25000" dirty="0"/>
                <a:t>two </a:t>
              </a:r>
              <a:r>
                <a:rPr lang="en-US" sz="2800" dirty="0"/>
                <a:t>= 1.1 x 2 </a:t>
              </a:r>
              <a:r>
                <a:rPr lang="en-US" sz="2800" baseline="30000" dirty="0"/>
                <a:t>-1</a:t>
              </a:r>
            </a:p>
            <a:p>
              <a:pPr>
                <a:spcBef>
                  <a:spcPct val="50000"/>
                </a:spcBef>
              </a:pPr>
              <a:r>
                <a:rPr lang="en-US" sz="2800" dirty="0"/>
                <a:t>1.1 = 1. F </a:t>
              </a:r>
              <a:r>
                <a:rPr lang="en-US" sz="2800" dirty="0">
                  <a:cs typeface="Arial" charset="0"/>
                </a:rPr>
                <a:t>→ F = </a:t>
              </a:r>
              <a:r>
                <a:rPr lang="en-US" sz="2800" dirty="0">
                  <a:solidFill>
                    <a:srgbClr val="00B050"/>
                  </a:solidFill>
                  <a:cs typeface="Arial" charset="0"/>
                </a:rPr>
                <a:t>1</a:t>
              </a:r>
            </a:p>
            <a:p>
              <a:pPr>
                <a:spcBef>
                  <a:spcPct val="50000"/>
                </a:spcBef>
              </a:pPr>
              <a:r>
                <a:rPr lang="en-US" sz="2800" dirty="0">
                  <a:cs typeface="Arial" charset="0"/>
                </a:rPr>
                <a:t>E – 127 = -1 → E = 127 -1 = 126 = </a:t>
              </a:r>
              <a:r>
                <a:rPr lang="en-US" sz="2800" dirty="0">
                  <a:solidFill>
                    <a:srgbClr val="0070C0"/>
                  </a:solidFill>
                  <a:cs typeface="Arial" charset="0"/>
                </a:rPr>
                <a:t>01111110</a:t>
              </a:r>
              <a:r>
                <a:rPr lang="en-US" sz="2800" baseline="-25000" dirty="0">
                  <a:cs typeface="Arial" charset="0"/>
                </a:rPr>
                <a:t>two</a:t>
              </a:r>
            </a:p>
            <a:p>
              <a:pPr>
                <a:spcBef>
                  <a:spcPct val="50000"/>
                </a:spcBef>
              </a:pPr>
              <a:r>
                <a:rPr lang="en-US" sz="2800" dirty="0">
                  <a:cs typeface="Arial" charset="0"/>
                </a:rPr>
                <a:t>S = </a:t>
              </a:r>
              <a:r>
                <a:rPr lang="en-US" sz="2800" dirty="0">
                  <a:solidFill>
                    <a:srgbClr val="C00000"/>
                  </a:solidFill>
                  <a:cs typeface="Arial" charset="0"/>
                </a:rPr>
                <a:t>0</a:t>
              </a:r>
            </a:p>
            <a:p>
              <a:pPr>
                <a:spcBef>
                  <a:spcPct val="50000"/>
                </a:spcBef>
              </a:pPr>
              <a:endParaRPr lang="en-US" sz="2800" dirty="0">
                <a:cs typeface="Arial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sz="2800" dirty="0">
                  <a:solidFill>
                    <a:srgbClr val="FF0000"/>
                  </a:solidFill>
                  <a:cs typeface="Arial" charset="0"/>
                </a:rPr>
                <a:t>0</a:t>
              </a:r>
              <a:r>
                <a:rPr lang="en-US" sz="2800" dirty="0">
                  <a:solidFill>
                    <a:srgbClr val="0070C0"/>
                  </a:solidFill>
                  <a:cs typeface="Arial" charset="0"/>
                </a:rPr>
                <a:t>01111110</a:t>
              </a:r>
              <a:r>
                <a:rPr lang="en-US" sz="2800" dirty="0">
                  <a:solidFill>
                    <a:srgbClr val="00B050"/>
                  </a:solidFill>
                  <a:cs typeface="Arial" charset="0"/>
                </a:rPr>
                <a:t>10000000000000000000000</a:t>
              </a:r>
              <a:r>
                <a:rPr lang="en-US" sz="2800" dirty="0">
                  <a:cs typeface="Arial" charset="0"/>
                </a:rPr>
                <a:t> = 0x3F400000</a:t>
              </a:r>
            </a:p>
          </p:txBody>
        </p:sp>
        <p:sp>
          <p:nvSpPr>
            <p:cNvPr id="12294" name="Line 5"/>
            <p:cNvSpPr>
              <a:spLocks noChangeShapeType="1"/>
            </p:cNvSpPr>
            <p:nvPr/>
          </p:nvSpPr>
          <p:spPr bwMode="auto">
            <a:xfrm flipH="1">
              <a:off x="1295400" y="4876800"/>
              <a:ext cx="5334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5" name="Line 6"/>
            <p:cNvSpPr>
              <a:spLocks noChangeShapeType="1"/>
            </p:cNvSpPr>
            <p:nvPr/>
          </p:nvSpPr>
          <p:spPr bwMode="auto">
            <a:xfrm>
              <a:off x="1371600" y="5715000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Line 7"/>
            <p:cNvSpPr>
              <a:spLocks noChangeShapeType="1"/>
            </p:cNvSpPr>
            <p:nvPr/>
          </p:nvSpPr>
          <p:spPr bwMode="auto">
            <a:xfrm flipH="1">
              <a:off x="2286000" y="4343400"/>
              <a:ext cx="51054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Line 8"/>
            <p:cNvSpPr>
              <a:spLocks noChangeShapeType="1"/>
            </p:cNvSpPr>
            <p:nvPr/>
          </p:nvSpPr>
          <p:spPr bwMode="auto">
            <a:xfrm flipH="1">
              <a:off x="3124200" y="3581400"/>
              <a:ext cx="838200" cy="213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165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AutoShap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0.1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ten  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Check </a:t>
            </a:r>
            <a:r>
              <a:rPr lang="en-US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float.a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11350F3-FFED-4347-A744-C1B876B03C57}" type="slidenum">
              <a:rPr lang="en-US">
                <a:solidFill>
                  <a:schemeClr val="bg1"/>
                </a:solidFill>
              </a:rPr>
              <a:pPr/>
              <a:t>20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331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mtClean="0"/>
              <a:t>Department of CMIS – 2021</a:t>
            </a:r>
            <a:endParaRPr lang="en-US"/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762000" y="1707952"/>
            <a:ext cx="8001000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dirty="0"/>
              <a:t>0.1</a:t>
            </a:r>
            <a:r>
              <a:rPr lang="en-US" sz="2800" baseline="-25000" dirty="0"/>
              <a:t>ten</a:t>
            </a:r>
            <a:r>
              <a:rPr lang="en-US" sz="2800" dirty="0"/>
              <a:t> = 0.0</a:t>
            </a:r>
            <a:r>
              <a:rPr lang="en-US" sz="2800" u="sng" dirty="0"/>
              <a:t>0011</a:t>
            </a:r>
            <a:r>
              <a:rPr lang="en-US" sz="2800" baseline="-25000" dirty="0"/>
              <a:t>two</a:t>
            </a:r>
          </a:p>
          <a:p>
            <a:pPr>
              <a:spcBef>
                <a:spcPct val="50000"/>
              </a:spcBef>
            </a:pPr>
            <a:r>
              <a:rPr lang="en-US" sz="2800" dirty="0"/>
              <a:t>         = 1.</a:t>
            </a:r>
            <a:r>
              <a:rPr lang="en-US" sz="2800" u="sng" dirty="0"/>
              <a:t>10011</a:t>
            </a:r>
            <a:r>
              <a:rPr lang="en-US" sz="2800" baseline="-25000" dirty="0"/>
              <a:t>two </a:t>
            </a:r>
            <a:r>
              <a:rPr lang="en-US" sz="2800" dirty="0"/>
              <a:t>x 2</a:t>
            </a:r>
            <a:r>
              <a:rPr lang="en-US" sz="2800" baseline="-25000" dirty="0"/>
              <a:t> </a:t>
            </a:r>
            <a:r>
              <a:rPr lang="en-US" sz="2800" baseline="30000" dirty="0"/>
              <a:t>-4 </a:t>
            </a:r>
            <a:r>
              <a:rPr lang="en-US" sz="2800" dirty="0"/>
              <a:t>= 1.F x 2 </a:t>
            </a:r>
            <a:r>
              <a:rPr lang="en-US" sz="2800" baseline="30000" dirty="0"/>
              <a:t>E-127</a:t>
            </a:r>
          </a:p>
          <a:p>
            <a:pPr>
              <a:spcBef>
                <a:spcPct val="50000"/>
              </a:spcBef>
            </a:pPr>
            <a:r>
              <a:rPr lang="en-US" sz="2800" dirty="0"/>
              <a:t>F =</a:t>
            </a:r>
            <a:r>
              <a:rPr lang="en-US" sz="2800" baseline="-25000" dirty="0"/>
              <a:t> </a:t>
            </a:r>
            <a:r>
              <a:rPr lang="en-US" sz="2800" dirty="0"/>
              <a:t>1</a:t>
            </a:r>
            <a:r>
              <a:rPr lang="en-US" sz="2800" u="sng" dirty="0"/>
              <a:t>0011</a:t>
            </a:r>
            <a:r>
              <a:rPr lang="en-US" sz="2800" dirty="0"/>
              <a:t>    -4 = E – 127</a:t>
            </a:r>
          </a:p>
          <a:p>
            <a:pPr>
              <a:spcBef>
                <a:spcPct val="50000"/>
              </a:spcBef>
            </a:pPr>
            <a:r>
              <a:rPr lang="en-US" sz="2800" dirty="0"/>
              <a:t>E = 127 -4 = 123 = 01111011</a:t>
            </a:r>
            <a:r>
              <a:rPr lang="en-US" sz="2800" baseline="-25000" dirty="0"/>
              <a:t>two</a:t>
            </a:r>
          </a:p>
          <a:p>
            <a:pPr>
              <a:spcBef>
                <a:spcPct val="50000"/>
              </a:spcBef>
            </a:pPr>
            <a:endParaRPr lang="en-US" sz="2800" baseline="-25000" dirty="0"/>
          </a:p>
          <a:p>
            <a:pPr>
              <a:spcBef>
                <a:spcPct val="50000"/>
              </a:spcBef>
            </a:pPr>
            <a:r>
              <a:rPr lang="en-US" sz="2800" dirty="0"/>
              <a:t>0</a:t>
            </a:r>
            <a:r>
              <a:rPr lang="en-US" sz="2800" dirty="0">
                <a:solidFill>
                  <a:srgbClr val="FF0000"/>
                </a:solidFill>
              </a:rPr>
              <a:t>01111011</a:t>
            </a:r>
            <a:r>
              <a:rPr lang="en-US" sz="2800" u="sng" dirty="0">
                <a:solidFill>
                  <a:srgbClr val="00B050"/>
                </a:solidFill>
              </a:rPr>
              <a:t>10011</a:t>
            </a:r>
            <a:r>
              <a:rPr lang="en-US" sz="2800" dirty="0">
                <a:solidFill>
                  <a:srgbClr val="00B050"/>
                </a:solidFill>
              </a:rPr>
              <a:t>001100110011001100</a:t>
            </a:r>
            <a:r>
              <a:rPr lang="en-US" sz="2800" i="1" dirty="0">
                <a:solidFill>
                  <a:srgbClr val="FF9933"/>
                </a:solidFill>
              </a:rPr>
              <a:t>110011</a:t>
            </a:r>
          </a:p>
          <a:p>
            <a:pPr>
              <a:spcBef>
                <a:spcPct val="50000"/>
              </a:spcBef>
            </a:pPr>
            <a:r>
              <a:rPr lang="en-US" sz="2800" dirty="0"/>
              <a:t>0x3DCCCCCD, why D at the least </a:t>
            </a:r>
            <a:r>
              <a:rPr lang="en-US" sz="2800" dirty="0" smtClean="0"/>
              <a:t>significant </a:t>
            </a:r>
            <a:r>
              <a:rPr lang="en-US" sz="2800" dirty="0"/>
              <a:t>digit?</a:t>
            </a:r>
          </a:p>
        </p:txBody>
      </p:sp>
    </p:spTree>
    <p:extLst>
      <p:ext uri="{BB962C8B-B14F-4D97-AF65-F5344CB8AC3E}">
        <p14:creationId xmlns:p14="http://schemas.microsoft.com/office/powerpoint/2010/main" val="198529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Assignment 2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21</a:t>
            </a:fld>
            <a:endParaRPr lang="en-GB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 smtClean="0">
                <a:cs typeface="Arial" charset="0"/>
              </a:rPr>
              <a:t>Write a Java program to convert a given decimal number into the IEEE 754 Single precision format and vice versa.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Arial" charset="0"/>
            </a:endParaRPr>
          </a:p>
          <a:p>
            <a:pPr marL="0" indent="0">
              <a:buNone/>
            </a:pPr>
            <a:r>
              <a:rPr lang="en-US" dirty="0" smtClean="0">
                <a:cs typeface="Arial" charset="0"/>
              </a:rPr>
              <a:t>Submit on or before </a:t>
            </a:r>
            <a:r>
              <a:rPr lang="en-US" smtClean="0">
                <a:cs typeface="Arial" charset="0"/>
              </a:rPr>
              <a:t>– </a:t>
            </a:r>
            <a:endParaRPr lang="en-US" dirty="0" smtClean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91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281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IEEE Double precision standard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>
                <a:cs typeface="Arial" charset="0"/>
              </a:rPr>
              <a:t>E not 00…0 (decimal 0) or 11…1(decimal 2047)</a:t>
            </a:r>
            <a:endParaRPr lang="en-US" dirty="0" smtClean="0"/>
          </a:p>
          <a:p>
            <a:pPr eaLnBrk="1" hangingPunct="1"/>
            <a:r>
              <a:rPr lang="en-US" dirty="0" smtClean="0"/>
              <a:t>Normalized rule: number represented is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dirty="0" smtClean="0"/>
              <a:t>(-1)</a:t>
            </a:r>
            <a:r>
              <a:rPr lang="en-US" baseline="30000" dirty="0" smtClean="0"/>
              <a:t>S</a:t>
            </a:r>
            <a:r>
              <a:rPr lang="en-US" dirty="0" smtClean="0">
                <a:cs typeface="Arial" charset="0"/>
              </a:rPr>
              <a:t>×1.F×2</a:t>
            </a:r>
            <a:r>
              <a:rPr lang="en-US" baseline="30000" dirty="0" smtClean="0">
                <a:cs typeface="Arial" charset="0"/>
              </a:rPr>
              <a:t>E-1023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dirty="0" smtClean="0">
              <a:cs typeface="Arial" charset="0"/>
            </a:endParaRP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15CF3A1-19FE-4F1F-8630-9F8C95CEAF7E}" type="slidenum">
              <a:rPr lang="en-US">
                <a:solidFill>
                  <a:schemeClr val="bg1"/>
                </a:solidFill>
              </a:rPr>
              <a:pPr/>
              <a:t>23</a:t>
            </a:fld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990600" y="1905000"/>
            <a:ext cx="7162800" cy="762000"/>
            <a:chOff x="1447800" y="2895600"/>
            <a:chExt cx="7162800" cy="762000"/>
          </a:xfrm>
        </p:grpSpPr>
        <p:sp>
          <p:nvSpPr>
            <p:cNvPr id="16388" name="Rectangle 4"/>
            <p:cNvSpPr>
              <a:spLocks noChangeArrowheads="1"/>
            </p:cNvSpPr>
            <p:nvPr/>
          </p:nvSpPr>
          <p:spPr bwMode="auto">
            <a:xfrm>
              <a:off x="1447800" y="32766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S</a:t>
              </a:r>
            </a:p>
          </p:txBody>
        </p:sp>
        <p:sp>
          <p:nvSpPr>
            <p:cNvPr id="16389" name="Rectangle 5"/>
            <p:cNvSpPr>
              <a:spLocks noChangeArrowheads="1"/>
            </p:cNvSpPr>
            <p:nvPr/>
          </p:nvSpPr>
          <p:spPr bwMode="auto">
            <a:xfrm>
              <a:off x="1752600" y="3276600"/>
              <a:ext cx="19812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447800" y="2895600"/>
              <a:ext cx="7162800" cy="762000"/>
              <a:chOff x="1447800" y="2895600"/>
              <a:chExt cx="7162800" cy="762000"/>
            </a:xfrm>
          </p:grpSpPr>
          <p:sp>
            <p:nvSpPr>
              <p:cNvPr id="16390" name="Rectangle 6"/>
              <p:cNvSpPr>
                <a:spLocks noChangeArrowheads="1"/>
              </p:cNvSpPr>
              <p:nvPr/>
            </p:nvSpPr>
            <p:spPr bwMode="auto">
              <a:xfrm>
                <a:off x="3733800" y="3276600"/>
                <a:ext cx="4876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F</a:t>
                </a:r>
              </a:p>
            </p:txBody>
          </p:sp>
          <p:sp>
            <p:nvSpPr>
              <p:cNvPr id="16391" name="Rectangle 7"/>
              <p:cNvSpPr>
                <a:spLocks noChangeArrowheads="1"/>
              </p:cNvSpPr>
              <p:nvPr/>
            </p:nvSpPr>
            <p:spPr bwMode="auto">
              <a:xfrm>
                <a:off x="1447800" y="2895600"/>
                <a:ext cx="3048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16392" name="Rectangle 8"/>
              <p:cNvSpPr>
                <a:spLocks noChangeArrowheads="1"/>
              </p:cNvSpPr>
              <p:nvPr/>
            </p:nvSpPr>
            <p:spPr bwMode="auto">
              <a:xfrm>
                <a:off x="1752600" y="2895600"/>
                <a:ext cx="19812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11</a:t>
                </a:r>
              </a:p>
            </p:txBody>
          </p:sp>
          <p:sp>
            <p:nvSpPr>
              <p:cNvPr id="16393" name="Rectangle 9"/>
              <p:cNvSpPr>
                <a:spLocks noChangeArrowheads="1"/>
              </p:cNvSpPr>
              <p:nvPr/>
            </p:nvSpPr>
            <p:spPr bwMode="auto">
              <a:xfrm>
                <a:off x="3733800" y="2895600"/>
                <a:ext cx="48768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52</a:t>
                </a:r>
              </a:p>
            </p:txBody>
          </p:sp>
        </p:grp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48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Special-case numbers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C00000"/>
                </a:solidFill>
              </a:rPr>
              <a:t>Problem</a:t>
            </a:r>
            <a:r>
              <a:rPr lang="en-US" dirty="0" smtClean="0"/>
              <a:t>: 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dirty="0" smtClean="0"/>
              <a:t>hidden 1 prevents representation of 0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C00000"/>
                </a:solidFill>
              </a:rPr>
              <a:t>Solution</a:t>
            </a:r>
            <a:r>
              <a:rPr lang="en-US" dirty="0" smtClean="0"/>
              <a:t>: 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dirty="0" smtClean="0"/>
              <a:t>make exceptions to the rule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</a:pPr>
            <a:endParaRPr lang="en-US" dirty="0" smtClean="0"/>
          </a:p>
          <a:p>
            <a:pPr marL="533400" indent="-533400" eaLnBrk="1" hangingPunct="1">
              <a:lnSpc>
                <a:spcPct val="90000"/>
              </a:lnSpc>
            </a:pPr>
            <a:r>
              <a:rPr lang="en-US" dirty="0" smtClean="0"/>
              <a:t>Bit patterns reserved for unusual numbers: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dirty="0" smtClean="0"/>
              <a:t>E = 00…0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dirty="0" smtClean="0"/>
              <a:t>E = 11…1</a:t>
            </a: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E545525-8AE8-42E4-896A-482B396B1F5D}" type="slidenum">
              <a:rPr lang="en-US">
                <a:solidFill>
                  <a:schemeClr val="bg1"/>
                </a:solidFill>
              </a:rPr>
              <a:pPr/>
              <a:t>24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75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Special-case numbers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722437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rgbClr val="C00000"/>
                </a:solidFill>
              </a:rPr>
              <a:t>Zeroes</a:t>
            </a:r>
            <a:r>
              <a:rPr lang="en-US" dirty="0" smtClean="0"/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					</a:t>
            </a: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+0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					</a:t>
            </a: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-0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>
                <a:solidFill>
                  <a:srgbClr val="C00000"/>
                </a:solidFill>
              </a:rPr>
              <a:t>Infinities</a:t>
            </a:r>
            <a:r>
              <a:rPr lang="en-US" dirty="0" smtClean="0"/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					</a:t>
            </a:r>
            <a:r>
              <a:rPr lang="en-US" dirty="0" smtClean="0">
                <a:sym typeface="Wingdings" pitchFamily="2" charset="2"/>
              </a:rPr>
              <a:t> +</a:t>
            </a:r>
            <a:r>
              <a:rPr lang="en-US" dirty="0" smtClean="0">
                <a:cs typeface="Arial" charset="0"/>
                <a:sym typeface="Wingdings" pitchFamily="2" charset="2"/>
              </a:rPr>
              <a:t>∞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					</a:t>
            </a:r>
            <a:r>
              <a:rPr lang="en-US" dirty="0" smtClean="0">
                <a:sym typeface="Wingdings" pitchFamily="2" charset="2"/>
              </a:rPr>
              <a:t> -</a:t>
            </a:r>
            <a:r>
              <a:rPr lang="en-US" dirty="0" smtClean="0">
                <a:cs typeface="Arial" charset="0"/>
                <a:sym typeface="Wingdings" pitchFamily="2" charset="2"/>
              </a:rPr>
              <a:t>∞</a:t>
            </a:r>
            <a:endParaRPr lang="en-US" dirty="0" smtClean="0"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cs typeface="Arial" charset="0"/>
            </a:endParaRP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F0CF0AF-48C9-4C4A-A50C-30FF2232B87E}" type="slidenum">
              <a:rPr lang="en-US">
                <a:solidFill>
                  <a:schemeClr val="bg1"/>
                </a:solidFill>
              </a:rPr>
              <a:pPr/>
              <a:t>25</a:t>
            </a:fld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752600" y="2366042"/>
            <a:ext cx="3124200" cy="881062"/>
            <a:chOff x="2328863" y="2928938"/>
            <a:chExt cx="3124200" cy="881062"/>
          </a:xfrm>
        </p:grpSpPr>
        <p:sp>
          <p:nvSpPr>
            <p:cNvPr id="21508" name="Rectangle 4"/>
            <p:cNvSpPr>
              <a:spLocks noChangeArrowheads="1"/>
            </p:cNvSpPr>
            <p:nvPr/>
          </p:nvSpPr>
          <p:spPr bwMode="auto">
            <a:xfrm>
              <a:off x="2328863" y="2928938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3700463" y="2928938"/>
              <a:ext cx="17526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00…0</a:t>
              </a:r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2709863" y="2928938"/>
              <a:ext cx="9906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00…0</a:t>
              </a:r>
            </a:p>
          </p:txBody>
        </p:sp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>
              <a:off x="2328863" y="34290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3700463" y="3429000"/>
              <a:ext cx="17526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00…0</a:t>
              </a:r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2709863" y="3429000"/>
              <a:ext cx="9906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00…0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905000" y="4724400"/>
            <a:ext cx="3124200" cy="881063"/>
            <a:chOff x="2328863" y="5151437"/>
            <a:chExt cx="3124200" cy="881063"/>
          </a:xfrm>
        </p:grpSpPr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2328863" y="5151437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21518" name="Rectangle 14"/>
            <p:cNvSpPr>
              <a:spLocks noChangeArrowheads="1"/>
            </p:cNvSpPr>
            <p:nvPr/>
          </p:nvSpPr>
          <p:spPr bwMode="auto">
            <a:xfrm>
              <a:off x="3700463" y="5151437"/>
              <a:ext cx="17526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00…0</a:t>
              </a:r>
            </a:p>
          </p:txBody>
        </p:sp>
        <p:sp>
          <p:nvSpPr>
            <p:cNvPr id="21519" name="Rectangle 15"/>
            <p:cNvSpPr>
              <a:spLocks noChangeArrowheads="1"/>
            </p:cNvSpPr>
            <p:nvPr/>
          </p:nvSpPr>
          <p:spPr bwMode="auto">
            <a:xfrm>
              <a:off x="2709863" y="5151437"/>
              <a:ext cx="9906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11…1</a:t>
              </a:r>
            </a:p>
          </p:txBody>
        </p:sp>
        <p:sp>
          <p:nvSpPr>
            <p:cNvPr id="21520" name="Rectangle 16"/>
            <p:cNvSpPr>
              <a:spLocks noChangeArrowheads="1"/>
            </p:cNvSpPr>
            <p:nvPr/>
          </p:nvSpPr>
          <p:spPr bwMode="auto">
            <a:xfrm>
              <a:off x="2328863" y="56515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21521" name="Rectangle 17"/>
            <p:cNvSpPr>
              <a:spLocks noChangeArrowheads="1"/>
            </p:cNvSpPr>
            <p:nvPr/>
          </p:nvSpPr>
          <p:spPr bwMode="auto">
            <a:xfrm>
              <a:off x="3700463" y="5651500"/>
              <a:ext cx="17526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00…0</a:t>
              </a:r>
            </a:p>
          </p:txBody>
        </p:sp>
        <p:sp>
          <p:nvSpPr>
            <p:cNvPr id="21522" name="Rectangle 18"/>
            <p:cNvSpPr>
              <a:spLocks noChangeArrowheads="1"/>
            </p:cNvSpPr>
            <p:nvPr/>
          </p:nvSpPr>
          <p:spPr bwMode="auto">
            <a:xfrm>
              <a:off x="2709863" y="5651500"/>
              <a:ext cx="9906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11…1</a:t>
              </a: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18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Denormalized numbers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38200" y="1752600"/>
            <a:ext cx="7924800" cy="43338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No hidden 1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Allows numbers very close to 0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E = 00…0 </a:t>
            </a:r>
            <a:r>
              <a:rPr lang="en-US" sz="2400" dirty="0" smtClean="0">
                <a:sym typeface="Wingdings" pitchFamily="2" charset="2"/>
              </a:rPr>
              <a:t> </a:t>
            </a:r>
            <a:r>
              <a:rPr lang="en-US" sz="2400" dirty="0" smtClean="0"/>
              <a:t>Different interpretation applies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err="1" smtClean="0"/>
              <a:t>Denormalization</a:t>
            </a:r>
            <a:r>
              <a:rPr lang="en-US" sz="2400" dirty="0" smtClean="0"/>
              <a:t> rule: number represented is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dirty="0" smtClean="0"/>
              <a:t>(-1)</a:t>
            </a:r>
            <a:r>
              <a:rPr lang="en-US" sz="2000" baseline="30000" dirty="0" smtClean="0"/>
              <a:t>S</a:t>
            </a:r>
            <a:r>
              <a:rPr lang="en-US" sz="2000" dirty="0" smtClean="0">
                <a:cs typeface="Arial" charset="0"/>
              </a:rPr>
              <a:t>×0.F×2</a:t>
            </a:r>
            <a:r>
              <a:rPr lang="en-US" sz="2000" baseline="30000" dirty="0" smtClean="0">
                <a:cs typeface="Arial" charset="0"/>
              </a:rPr>
              <a:t>-126</a:t>
            </a:r>
            <a:r>
              <a:rPr lang="en-US" sz="2000" dirty="0" smtClean="0">
                <a:cs typeface="Arial" charset="0"/>
              </a:rPr>
              <a:t>   (single-precision)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dirty="0" smtClean="0"/>
              <a:t>(-1)</a:t>
            </a:r>
            <a:r>
              <a:rPr lang="en-US" sz="2000" baseline="30000" dirty="0" smtClean="0"/>
              <a:t>S</a:t>
            </a:r>
            <a:r>
              <a:rPr lang="en-US" sz="2000" dirty="0" smtClean="0">
                <a:cs typeface="Arial" charset="0"/>
              </a:rPr>
              <a:t>×0.F×2</a:t>
            </a:r>
            <a:r>
              <a:rPr lang="en-US" sz="2000" baseline="30000" dirty="0" smtClean="0">
                <a:cs typeface="Arial" charset="0"/>
              </a:rPr>
              <a:t>-1022  </a:t>
            </a:r>
            <a:r>
              <a:rPr lang="en-US" sz="2000" dirty="0" smtClean="0">
                <a:cs typeface="Arial" charset="0"/>
              </a:rPr>
              <a:t>(double-precision)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cs typeface="Arial" charset="0"/>
              </a:rPr>
              <a:t>Note: zeroes follow this rule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 smtClean="0"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cs typeface="Arial" charset="0"/>
              </a:rPr>
              <a:t>Not a Number (</a:t>
            </a:r>
            <a:r>
              <a:rPr lang="en-US" sz="2400" dirty="0" err="1" smtClean="0">
                <a:cs typeface="Arial" charset="0"/>
              </a:rPr>
              <a:t>NaN</a:t>
            </a:r>
            <a:r>
              <a:rPr lang="en-US" sz="2400" dirty="0" smtClean="0">
                <a:cs typeface="Arial" charset="0"/>
              </a:rPr>
              <a:t>): E = 11…1; F != 00…0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 smtClean="0"/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77F11F5-8EA7-49BA-9F7A-886283F528DF}" type="slidenum">
              <a:rPr lang="en-US">
                <a:solidFill>
                  <a:schemeClr val="bg1"/>
                </a:solidFill>
              </a:rPr>
              <a:pPr/>
              <a:t>26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92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IEEE 754 summary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E = 00…0, F = 00…0 </a:t>
            </a:r>
            <a:r>
              <a:rPr lang="en-US" smtClean="0">
                <a:sym typeface="Wingdings" pitchFamily="2" charset="2"/>
              </a:rPr>
              <a:t> 0</a:t>
            </a:r>
            <a:r>
              <a:rPr lang="en-US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E = 00…0, F </a:t>
            </a:r>
            <a:r>
              <a:rPr lang="en-US" smtClean="0">
                <a:cs typeface="Arial" charset="0"/>
              </a:rPr>
              <a:t>≠ 00…0 </a:t>
            </a:r>
            <a:r>
              <a:rPr lang="en-US" smtClean="0">
                <a:sym typeface="Wingdings" pitchFamily="2" charset="2"/>
              </a:rPr>
              <a:t> denormalized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>
              <a:sym typeface="Wingdings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sym typeface="Wingdings" pitchFamily="2" charset="2"/>
              </a:rPr>
              <a:t>00…00 &lt; E &lt; 11…1  normalized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>
              <a:sym typeface="Wingdings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sym typeface="Wingdings" pitchFamily="2" charset="2"/>
              </a:rPr>
              <a:t>E = 11…1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mtClean="0"/>
              <a:t>F = 00…0 </a:t>
            </a:r>
            <a:r>
              <a:rPr lang="en-US" smtClean="0">
                <a:sym typeface="Wingdings" pitchFamily="2" charset="2"/>
              </a:rPr>
              <a:t> infinities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mtClean="0">
                <a:sym typeface="Wingdings" pitchFamily="2" charset="2"/>
              </a:rPr>
              <a:t>F </a:t>
            </a:r>
            <a:r>
              <a:rPr lang="en-US" smtClean="0">
                <a:cs typeface="Arial" charset="0"/>
              </a:rPr>
              <a:t>≠</a:t>
            </a:r>
            <a:r>
              <a:rPr lang="en-US" smtClean="0">
                <a:sym typeface="Wingdings" pitchFamily="2" charset="2"/>
              </a:rPr>
              <a:t> 00…0  NaN</a:t>
            </a:r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AFAA492-7042-492A-A0CB-55F07EBC9DD1}" type="slidenum">
              <a:rPr lang="en-US">
                <a:solidFill>
                  <a:schemeClr val="bg1"/>
                </a:solidFill>
              </a:rPr>
              <a:pPr/>
              <a:t>27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92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Summary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1447800"/>
            <a:ext cx="8861986" cy="4495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77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76200"/>
            <a:ext cx="9144000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01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741246"/>
              </p:ext>
            </p:extLst>
          </p:nvPr>
        </p:nvGraphicFramePr>
        <p:xfrm>
          <a:off x="0" y="1828800"/>
          <a:ext cx="9144000" cy="3048000"/>
        </p:xfrm>
        <a:graphic>
          <a:graphicData uri="http://schemas.openxmlformats.org/drawingml/2006/table">
            <a:tbl>
              <a:tblPr firstRow="1" firstCol="1" band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effectLst/>
                        <a:latin typeface="Calibri"/>
                      </a:endParaRPr>
                    </a:p>
                  </a:txBody>
                  <a:tcPr marL="0" marR="952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Denormalized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0" marR="952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Normalized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0" marR="952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Single Precision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952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± 2</a:t>
                      </a:r>
                      <a:r>
                        <a:rPr lang="en-US" sz="24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−149</a:t>
                      </a: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 to (1−2</a:t>
                      </a:r>
                      <a:r>
                        <a:rPr lang="en-US" sz="24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−23</a:t>
                      </a: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)×2</a:t>
                      </a:r>
                      <a:r>
                        <a:rPr lang="en-US" sz="24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−126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0" marR="952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± 2</a:t>
                      </a:r>
                      <a:r>
                        <a:rPr lang="en-US" sz="24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−126</a:t>
                      </a: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 to (2−2</a:t>
                      </a:r>
                      <a:r>
                        <a:rPr lang="en-US" sz="24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−23</a:t>
                      </a: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)×2</a:t>
                      </a:r>
                      <a:r>
                        <a:rPr lang="en-US" sz="24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127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0" marR="952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Double Precision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952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± 2</a:t>
                      </a:r>
                      <a:r>
                        <a:rPr lang="en-US" sz="24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−1074</a:t>
                      </a: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 to (1−2</a:t>
                      </a:r>
                      <a:r>
                        <a:rPr lang="en-US" sz="24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−52</a:t>
                      </a: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)×2</a:t>
                      </a:r>
                      <a:r>
                        <a:rPr lang="en-US" sz="24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−1022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0" marR="952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± 2</a:t>
                      </a:r>
                      <a:r>
                        <a:rPr lang="en-US" sz="2400" baseline="300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−1022</a:t>
                      </a: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 to (2−2</a:t>
                      </a:r>
                      <a:r>
                        <a:rPr lang="en-US" sz="2400" baseline="300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−52</a:t>
                      </a: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)×2</a:t>
                      </a:r>
                      <a:r>
                        <a:rPr lang="en-US" sz="2400" baseline="300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1023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0" marR="952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54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6997700" cy="1095375"/>
          </a:xfrm>
        </p:spPr>
        <p:txBody>
          <a:bodyPr>
            <a:normAutofit fontScale="90000"/>
          </a:bodyPr>
          <a:lstStyle/>
          <a:p>
            <a:r>
              <a:rPr lang="en-US"/>
              <a:t>Summary of Floating Point </a:t>
            </a:r>
            <a:br>
              <a:rPr lang="en-US"/>
            </a:br>
            <a:r>
              <a:rPr lang="en-US"/>
              <a:t>Real Number Encodings</a:t>
            </a:r>
          </a:p>
        </p:txBody>
      </p:sp>
      <p:sp>
        <p:nvSpPr>
          <p:cNvPr id="118787" name="Line 3"/>
          <p:cNvSpPr>
            <a:spLocks noChangeShapeType="1"/>
          </p:cNvSpPr>
          <p:nvPr/>
        </p:nvSpPr>
        <p:spPr bwMode="auto">
          <a:xfrm>
            <a:off x="838200" y="2828925"/>
            <a:ext cx="731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88" name="Line 4"/>
          <p:cNvSpPr>
            <a:spLocks noChangeShapeType="1"/>
          </p:cNvSpPr>
          <p:nvPr/>
        </p:nvSpPr>
        <p:spPr bwMode="auto">
          <a:xfrm>
            <a:off x="838200" y="2676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89" name="Line 5"/>
          <p:cNvSpPr>
            <a:spLocks noChangeShapeType="1"/>
          </p:cNvSpPr>
          <p:nvPr/>
        </p:nvSpPr>
        <p:spPr bwMode="auto">
          <a:xfrm>
            <a:off x="8153400" y="3286125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90" name="Line 6"/>
          <p:cNvSpPr>
            <a:spLocks noChangeShapeType="1"/>
          </p:cNvSpPr>
          <p:nvPr/>
        </p:nvSpPr>
        <p:spPr bwMode="auto">
          <a:xfrm>
            <a:off x="8153400" y="2676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91" name="Line 7"/>
          <p:cNvSpPr>
            <a:spLocks noChangeShapeType="1"/>
          </p:cNvSpPr>
          <p:nvPr/>
        </p:nvSpPr>
        <p:spPr bwMode="auto">
          <a:xfrm>
            <a:off x="4267200" y="2676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92" name="Line 8"/>
          <p:cNvSpPr>
            <a:spLocks noChangeShapeType="1"/>
          </p:cNvSpPr>
          <p:nvPr/>
        </p:nvSpPr>
        <p:spPr bwMode="auto">
          <a:xfrm>
            <a:off x="8153400" y="3438525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93" name="Text Box 9"/>
          <p:cNvSpPr txBox="1">
            <a:spLocks noChangeArrowheads="1"/>
          </p:cNvSpPr>
          <p:nvPr/>
        </p:nvSpPr>
        <p:spPr bwMode="auto">
          <a:xfrm>
            <a:off x="8153400" y="3143250"/>
            <a:ext cx="539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/>
              <a:t>NaN</a:t>
            </a:r>
          </a:p>
        </p:txBody>
      </p:sp>
      <p:sp>
        <p:nvSpPr>
          <p:cNvPr id="118794" name="Line 10"/>
          <p:cNvSpPr>
            <a:spLocks noChangeShapeType="1"/>
          </p:cNvSpPr>
          <p:nvPr/>
        </p:nvSpPr>
        <p:spPr bwMode="auto">
          <a:xfrm>
            <a:off x="8686800" y="3286125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95" name="Line 11"/>
          <p:cNvSpPr>
            <a:spLocks noChangeShapeType="1"/>
          </p:cNvSpPr>
          <p:nvPr/>
        </p:nvSpPr>
        <p:spPr bwMode="auto">
          <a:xfrm>
            <a:off x="304800" y="33528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96" name="Line 12"/>
          <p:cNvSpPr>
            <a:spLocks noChangeShapeType="1"/>
          </p:cNvSpPr>
          <p:nvPr/>
        </p:nvSpPr>
        <p:spPr bwMode="auto">
          <a:xfrm>
            <a:off x="304800" y="35052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97" name="Text Box 13"/>
          <p:cNvSpPr txBox="1">
            <a:spLocks noChangeArrowheads="1"/>
          </p:cNvSpPr>
          <p:nvPr/>
        </p:nvSpPr>
        <p:spPr bwMode="auto">
          <a:xfrm>
            <a:off x="304800" y="3209925"/>
            <a:ext cx="539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/>
              <a:t>NaN</a:t>
            </a:r>
          </a:p>
        </p:txBody>
      </p:sp>
      <p:sp>
        <p:nvSpPr>
          <p:cNvPr id="118798" name="Line 14"/>
          <p:cNvSpPr>
            <a:spLocks noChangeShapeType="1"/>
          </p:cNvSpPr>
          <p:nvPr/>
        </p:nvSpPr>
        <p:spPr bwMode="auto">
          <a:xfrm>
            <a:off x="838200" y="33528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99" name="Rectangle 15"/>
          <p:cNvSpPr>
            <a:spLocks noChangeArrowheads="1"/>
          </p:cNvSpPr>
          <p:nvPr/>
        </p:nvSpPr>
        <p:spPr bwMode="auto">
          <a:xfrm>
            <a:off x="7772400" y="2319338"/>
            <a:ext cx="574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b="0">
                <a:latin typeface="Times" pitchFamily="18" charset="0"/>
              </a:rPr>
              <a:t>+</a:t>
            </a:r>
            <a:r>
              <a:rPr lang="en-US" sz="2400" b="0">
                <a:latin typeface="Symbol" pitchFamily="18" charset="2"/>
              </a:rPr>
              <a:t></a:t>
            </a:r>
          </a:p>
        </p:txBody>
      </p:sp>
      <p:sp>
        <p:nvSpPr>
          <p:cNvPr id="118800" name="Rectangle 16"/>
          <p:cNvSpPr>
            <a:spLocks noChangeArrowheads="1"/>
          </p:cNvSpPr>
          <p:nvPr/>
        </p:nvSpPr>
        <p:spPr bwMode="auto">
          <a:xfrm>
            <a:off x="715963" y="2295525"/>
            <a:ext cx="527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b="0">
                <a:sym typeface="Symbol" pitchFamily="18" charset="2"/>
              </a:rPr>
              <a:t></a:t>
            </a:r>
            <a:r>
              <a:rPr lang="en-US" sz="2400" b="0">
                <a:latin typeface="Symbol" pitchFamily="18" charset="2"/>
              </a:rPr>
              <a:t></a:t>
            </a:r>
          </a:p>
        </p:txBody>
      </p:sp>
      <p:sp>
        <p:nvSpPr>
          <p:cNvPr id="118801" name="Text Box 17"/>
          <p:cNvSpPr txBox="1">
            <a:spLocks noChangeArrowheads="1"/>
          </p:cNvSpPr>
          <p:nvPr/>
        </p:nvSpPr>
        <p:spPr bwMode="auto">
          <a:xfrm>
            <a:off x="3962400" y="3273425"/>
            <a:ext cx="436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b="0">
                <a:sym typeface="Symbol" pitchFamily="18" charset="2"/>
              </a:rPr>
              <a:t></a:t>
            </a:r>
            <a:r>
              <a:rPr lang="en-US" b="0"/>
              <a:t>0</a:t>
            </a:r>
          </a:p>
        </p:txBody>
      </p:sp>
      <p:sp>
        <p:nvSpPr>
          <p:cNvPr id="118802" name="Line 18"/>
          <p:cNvSpPr>
            <a:spLocks noChangeShapeType="1"/>
          </p:cNvSpPr>
          <p:nvPr/>
        </p:nvSpPr>
        <p:spPr bwMode="auto">
          <a:xfrm>
            <a:off x="5867400" y="2676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03" name="Text Box 19"/>
          <p:cNvSpPr txBox="1">
            <a:spLocks noChangeArrowheads="1"/>
          </p:cNvSpPr>
          <p:nvPr/>
        </p:nvSpPr>
        <p:spPr bwMode="auto">
          <a:xfrm>
            <a:off x="4737100" y="2447925"/>
            <a:ext cx="1130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b="0"/>
              <a:t>+Denorm</a:t>
            </a:r>
          </a:p>
        </p:txBody>
      </p:sp>
      <p:sp>
        <p:nvSpPr>
          <p:cNvPr id="118804" name="Text Box 20"/>
          <p:cNvSpPr txBox="1">
            <a:spLocks noChangeArrowheads="1"/>
          </p:cNvSpPr>
          <p:nvPr/>
        </p:nvSpPr>
        <p:spPr bwMode="auto">
          <a:xfrm>
            <a:off x="6096000" y="2447925"/>
            <a:ext cx="147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b="0"/>
              <a:t>+Normalized</a:t>
            </a:r>
          </a:p>
        </p:txBody>
      </p:sp>
      <p:sp>
        <p:nvSpPr>
          <p:cNvPr id="118805" name="Text Box 21"/>
          <p:cNvSpPr txBox="1">
            <a:spLocks noChangeArrowheads="1"/>
          </p:cNvSpPr>
          <p:nvPr/>
        </p:nvSpPr>
        <p:spPr bwMode="auto">
          <a:xfrm>
            <a:off x="3048000" y="2462213"/>
            <a:ext cx="1073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b="0"/>
              <a:t>-Denorm</a:t>
            </a:r>
          </a:p>
        </p:txBody>
      </p:sp>
      <p:sp>
        <p:nvSpPr>
          <p:cNvPr id="118806" name="Line 22"/>
          <p:cNvSpPr>
            <a:spLocks noChangeShapeType="1"/>
          </p:cNvSpPr>
          <p:nvPr/>
        </p:nvSpPr>
        <p:spPr bwMode="auto">
          <a:xfrm>
            <a:off x="3048000" y="2676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07" name="Text Box 23"/>
          <p:cNvSpPr txBox="1">
            <a:spLocks noChangeArrowheads="1"/>
          </p:cNvSpPr>
          <p:nvPr/>
        </p:nvSpPr>
        <p:spPr bwMode="auto">
          <a:xfrm>
            <a:off x="1403350" y="2447925"/>
            <a:ext cx="1416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b="0"/>
              <a:t>-Normalized</a:t>
            </a:r>
          </a:p>
        </p:txBody>
      </p:sp>
      <p:sp>
        <p:nvSpPr>
          <p:cNvPr id="118808" name="Line 24"/>
          <p:cNvSpPr>
            <a:spLocks noChangeShapeType="1"/>
          </p:cNvSpPr>
          <p:nvPr/>
        </p:nvSpPr>
        <p:spPr bwMode="auto">
          <a:xfrm>
            <a:off x="4724400" y="2676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09" name="Line 25"/>
          <p:cNvSpPr>
            <a:spLocks noChangeShapeType="1"/>
          </p:cNvSpPr>
          <p:nvPr/>
        </p:nvSpPr>
        <p:spPr bwMode="auto">
          <a:xfrm>
            <a:off x="4495800" y="2676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10" name="Line 26"/>
          <p:cNvSpPr>
            <a:spLocks noChangeShapeType="1"/>
          </p:cNvSpPr>
          <p:nvPr/>
        </p:nvSpPr>
        <p:spPr bwMode="auto">
          <a:xfrm>
            <a:off x="7924800" y="2676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11" name="Line 27"/>
          <p:cNvSpPr>
            <a:spLocks noChangeShapeType="1"/>
          </p:cNvSpPr>
          <p:nvPr/>
        </p:nvSpPr>
        <p:spPr bwMode="auto">
          <a:xfrm>
            <a:off x="1143000" y="2676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12" name="Line 28"/>
          <p:cNvSpPr>
            <a:spLocks noChangeShapeType="1"/>
          </p:cNvSpPr>
          <p:nvPr/>
        </p:nvSpPr>
        <p:spPr bwMode="auto">
          <a:xfrm flipV="1">
            <a:off x="4267200" y="2819400"/>
            <a:ext cx="2286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813" name="Line 29"/>
          <p:cNvSpPr>
            <a:spLocks noChangeShapeType="1"/>
          </p:cNvSpPr>
          <p:nvPr/>
        </p:nvSpPr>
        <p:spPr bwMode="auto">
          <a:xfrm flipH="1" flipV="1">
            <a:off x="4495800" y="2819400"/>
            <a:ext cx="2286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814" name="Rectangle 30"/>
          <p:cNvSpPr>
            <a:spLocks noChangeArrowheads="1"/>
          </p:cNvSpPr>
          <p:nvPr/>
        </p:nvSpPr>
        <p:spPr bwMode="auto">
          <a:xfrm>
            <a:off x="4572000" y="3276600"/>
            <a:ext cx="444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b="0"/>
              <a:t>+0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42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6553200" cy="57308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r>
              <a:rPr lang="en-US"/>
              <a:t>Interesting Numbers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normAutofit fontScale="92500" lnSpcReduction="20000"/>
          </a:bodyPr>
          <a:lstStyle/>
          <a:p>
            <a:pPr marL="223838" indent="-223838" defTabSz="895350">
              <a:lnSpc>
                <a:spcPct val="100000"/>
              </a:lnSpc>
              <a:tabLst>
                <a:tab pos="2743200" algn="l"/>
                <a:tab pos="3657600" algn="l"/>
                <a:tab pos="5321300" algn="l"/>
              </a:tabLst>
            </a:pPr>
            <a:r>
              <a:rPr lang="en-US" sz="1800"/>
              <a:t>Description	</a:t>
            </a:r>
            <a:r>
              <a:rPr lang="en-US" sz="1800">
                <a:latin typeface="Courier New" pitchFamily="49" charset="0"/>
              </a:rPr>
              <a:t>exp	frac</a:t>
            </a:r>
            <a:r>
              <a:rPr lang="en-US" sz="1800"/>
              <a:t>	Numeric Value</a:t>
            </a:r>
          </a:p>
          <a:p>
            <a:pPr marL="223838" indent="-223838" defTabSz="895350">
              <a:lnSpc>
                <a:spcPct val="100000"/>
              </a:lnSpc>
              <a:tabLst>
                <a:tab pos="2743200" algn="l"/>
                <a:tab pos="3657600" algn="l"/>
                <a:tab pos="5321300" algn="l"/>
              </a:tabLst>
            </a:pPr>
            <a:r>
              <a:rPr lang="en-US" sz="1800" b="0"/>
              <a:t>Zero	00…00	00…00	0.0</a:t>
            </a:r>
          </a:p>
          <a:p>
            <a:pPr marL="223838" indent="-223838" defTabSz="895350">
              <a:lnSpc>
                <a:spcPct val="100000"/>
              </a:lnSpc>
              <a:tabLst>
                <a:tab pos="2743200" algn="l"/>
                <a:tab pos="3657600" algn="l"/>
                <a:tab pos="5321300" algn="l"/>
              </a:tabLst>
            </a:pPr>
            <a:r>
              <a:rPr lang="en-US" sz="1800" b="0"/>
              <a:t>Smallest Pos. Denorm.	00…00	00…01	2</a:t>
            </a:r>
            <a:r>
              <a:rPr lang="en-US" sz="1800" b="0" baseline="30000"/>
              <a:t>–</a:t>
            </a:r>
            <a:r>
              <a:rPr lang="en-US" sz="1800" b="0"/>
              <a:t> </a:t>
            </a:r>
            <a:r>
              <a:rPr lang="en-US" sz="1800" b="0" baseline="30000"/>
              <a:t>{23,52}</a:t>
            </a:r>
            <a:r>
              <a:rPr lang="en-US" sz="1800" b="0"/>
              <a:t> X 2</a:t>
            </a:r>
            <a:r>
              <a:rPr lang="en-US" sz="1800" b="0" baseline="30000"/>
              <a:t>–</a:t>
            </a:r>
            <a:r>
              <a:rPr lang="en-US" sz="1800" b="0"/>
              <a:t> </a:t>
            </a:r>
            <a:r>
              <a:rPr lang="en-US" sz="1800" b="0" baseline="30000"/>
              <a:t>{126,1022}</a:t>
            </a:r>
          </a:p>
          <a:p>
            <a:pPr marL="560388" lvl="1" indent="-222250" defTabSz="895350">
              <a:spcBef>
                <a:spcPct val="10000"/>
              </a:spcBef>
              <a:tabLst>
                <a:tab pos="2743200" algn="l"/>
                <a:tab pos="3657600" algn="l"/>
                <a:tab pos="5321300" algn="l"/>
              </a:tabLst>
            </a:pPr>
            <a:r>
              <a:rPr lang="en-US" b="0"/>
              <a:t>Single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</a:t>
            </a:r>
            <a:r>
              <a:rPr lang="en-US" b="0"/>
              <a:t> 1.4 X 10</a:t>
            </a:r>
            <a:r>
              <a:rPr lang="en-US" b="0" baseline="30000"/>
              <a:t>–45</a:t>
            </a:r>
            <a:endParaRPr lang="en-US" b="0"/>
          </a:p>
          <a:p>
            <a:pPr marL="560388" lvl="1" indent="-222250" defTabSz="895350">
              <a:spcBef>
                <a:spcPct val="10000"/>
              </a:spcBef>
              <a:tabLst>
                <a:tab pos="2743200" algn="l"/>
                <a:tab pos="3657600" algn="l"/>
                <a:tab pos="5321300" algn="l"/>
              </a:tabLst>
            </a:pPr>
            <a:r>
              <a:rPr lang="en-US" b="0"/>
              <a:t>Double </a:t>
            </a:r>
            <a:r>
              <a:rPr lang="en-US" b="0">
                <a:latin typeface="Symbol" pitchFamily="18" charset="2"/>
              </a:rPr>
              <a:t></a:t>
            </a:r>
            <a:r>
              <a:rPr lang="en-US" b="0"/>
              <a:t> 4.9 X 10</a:t>
            </a:r>
            <a:r>
              <a:rPr lang="en-US" b="0" baseline="30000"/>
              <a:t>–324</a:t>
            </a:r>
            <a:endParaRPr lang="en-US" b="0"/>
          </a:p>
          <a:p>
            <a:pPr marL="223838" indent="-223838" defTabSz="895350">
              <a:lnSpc>
                <a:spcPct val="100000"/>
              </a:lnSpc>
              <a:tabLst>
                <a:tab pos="2743200" algn="l"/>
                <a:tab pos="3657600" algn="l"/>
                <a:tab pos="5321300" algn="l"/>
              </a:tabLst>
            </a:pPr>
            <a:r>
              <a:rPr lang="en-US" sz="1800" b="0"/>
              <a:t>Largest Denormalized	00…00	11…11	(1.0 </a:t>
            </a:r>
            <a:r>
              <a:rPr lang="en-US" sz="1800"/>
              <a:t>–</a:t>
            </a:r>
            <a:r>
              <a:rPr lang="en-US" sz="1800" b="0"/>
              <a:t> </a:t>
            </a:r>
            <a:r>
              <a:rPr lang="en-US" sz="1800" b="0">
                <a:latin typeface="Symbol" pitchFamily="18" charset="2"/>
              </a:rPr>
              <a:t></a:t>
            </a:r>
            <a:r>
              <a:rPr lang="en-US" sz="1800" b="0"/>
              <a:t>) X 2</a:t>
            </a:r>
            <a:r>
              <a:rPr lang="en-US" sz="1800" b="0" baseline="30000"/>
              <a:t>–</a:t>
            </a:r>
            <a:r>
              <a:rPr lang="en-US" sz="1800" b="0"/>
              <a:t> </a:t>
            </a:r>
            <a:r>
              <a:rPr lang="en-US" sz="1800" b="0" baseline="30000"/>
              <a:t>{126,1022}</a:t>
            </a:r>
          </a:p>
          <a:p>
            <a:pPr marL="560388" lvl="1" indent="-222250" defTabSz="895350">
              <a:spcBef>
                <a:spcPct val="10000"/>
              </a:spcBef>
              <a:tabLst>
                <a:tab pos="2743200" algn="l"/>
                <a:tab pos="3657600" algn="l"/>
                <a:tab pos="5321300" algn="l"/>
              </a:tabLst>
            </a:pPr>
            <a:r>
              <a:rPr lang="en-US" b="0"/>
              <a:t>Single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</a:t>
            </a:r>
            <a:r>
              <a:rPr lang="en-US" b="0"/>
              <a:t> 1.18 X 10</a:t>
            </a:r>
            <a:r>
              <a:rPr lang="en-US" b="0" baseline="30000"/>
              <a:t>–38</a:t>
            </a:r>
            <a:endParaRPr lang="en-US" b="0"/>
          </a:p>
          <a:p>
            <a:pPr marL="560388" lvl="1" indent="-222250" defTabSz="895350">
              <a:spcBef>
                <a:spcPct val="10000"/>
              </a:spcBef>
              <a:tabLst>
                <a:tab pos="2743200" algn="l"/>
                <a:tab pos="3657600" algn="l"/>
                <a:tab pos="5321300" algn="l"/>
              </a:tabLst>
            </a:pPr>
            <a:r>
              <a:rPr lang="en-US" b="0"/>
              <a:t>Double </a:t>
            </a:r>
            <a:r>
              <a:rPr lang="en-US" b="0">
                <a:latin typeface="Symbol" pitchFamily="18" charset="2"/>
              </a:rPr>
              <a:t></a:t>
            </a:r>
            <a:r>
              <a:rPr lang="en-US" b="0"/>
              <a:t> 2.2 X 10</a:t>
            </a:r>
            <a:r>
              <a:rPr lang="en-US" b="0" baseline="30000"/>
              <a:t>–308</a:t>
            </a:r>
            <a:endParaRPr lang="en-US" b="0"/>
          </a:p>
          <a:p>
            <a:pPr marL="223838" indent="-223838" defTabSz="895350">
              <a:lnSpc>
                <a:spcPct val="100000"/>
              </a:lnSpc>
              <a:tabLst>
                <a:tab pos="2743200" algn="l"/>
                <a:tab pos="3657600" algn="l"/>
                <a:tab pos="5321300" algn="l"/>
              </a:tabLst>
            </a:pPr>
            <a:r>
              <a:rPr lang="en-US" sz="1800" b="0"/>
              <a:t>Smallest Pos. Normalized	00…01	00…00	1.0 X 2</a:t>
            </a:r>
            <a:r>
              <a:rPr lang="en-US" sz="1800" b="0" baseline="30000"/>
              <a:t>–</a:t>
            </a:r>
            <a:r>
              <a:rPr lang="en-US" sz="1800" b="0"/>
              <a:t> </a:t>
            </a:r>
            <a:r>
              <a:rPr lang="en-US" sz="1800" b="0" baseline="30000"/>
              <a:t>{126,1022}</a:t>
            </a:r>
          </a:p>
          <a:p>
            <a:pPr marL="560388" lvl="1" indent="-222250" defTabSz="895350">
              <a:spcBef>
                <a:spcPct val="10000"/>
              </a:spcBef>
              <a:tabLst>
                <a:tab pos="2743200" algn="l"/>
                <a:tab pos="3657600" algn="l"/>
                <a:tab pos="5321300" algn="l"/>
              </a:tabLst>
            </a:pPr>
            <a:r>
              <a:rPr lang="en-US" b="0"/>
              <a:t>Just larger than largest denormalized</a:t>
            </a:r>
            <a:endParaRPr lang="en-US" sz="1600" b="0"/>
          </a:p>
          <a:p>
            <a:pPr marL="223838" indent="-223838" defTabSz="895350">
              <a:lnSpc>
                <a:spcPct val="100000"/>
              </a:lnSpc>
              <a:tabLst>
                <a:tab pos="2743200" algn="l"/>
                <a:tab pos="3657600" algn="l"/>
                <a:tab pos="5321300" algn="l"/>
              </a:tabLst>
            </a:pPr>
            <a:r>
              <a:rPr lang="en-US" sz="1800" b="0"/>
              <a:t>One	01…11	00…00	1.0</a:t>
            </a:r>
          </a:p>
          <a:p>
            <a:pPr marL="223838" indent="-223838" defTabSz="895350">
              <a:lnSpc>
                <a:spcPct val="100000"/>
              </a:lnSpc>
              <a:tabLst>
                <a:tab pos="2743200" algn="l"/>
                <a:tab pos="3657600" algn="l"/>
                <a:tab pos="5321300" algn="l"/>
              </a:tabLst>
            </a:pPr>
            <a:r>
              <a:rPr lang="en-US" sz="1800" b="0"/>
              <a:t> Largest Normalized	11…10	11…11	(2.0 </a:t>
            </a:r>
            <a:r>
              <a:rPr lang="en-US" sz="1800"/>
              <a:t>–</a:t>
            </a:r>
            <a:r>
              <a:rPr lang="en-US" sz="1800" b="0"/>
              <a:t> </a:t>
            </a:r>
            <a:r>
              <a:rPr lang="en-US" sz="1800" b="0">
                <a:latin typeface="Symbol" pitchFamily="18" charset="2"/>
              </a:rPr>
              <a:t></a:t>
            </a:r>
            <a:r>
              <a:rPr lang="en-US" sz="1800" b="0"/>
              <a:t>) X 2</a:t>
            </a:r>
            <a:r>
              <a:rPr lang="en-US" sz="1800" b="0" baseline="30000"/>
              <a:t>{127,1023}</a:t>
            </a:r>
          </a:p>
          <a:p>
            <a:pPr marL="560388" lvl="1" indent="-222250" defTabSz="895350">
              <a:spcBef>
                <a:spcPct val="10000"/>
              </a:spcBef>
              <a:tabLst>
                <a:tab pos="2743200" algn="l"/>
                <a:tab pos="3657600" algn="l"/>
                <a:tab pos="5321300" algn="l"/>
              </a:tabLst>
            </a:pPr>
            <a:r>
              <a:rPr lang="en-US" b="0"/>
              <a:t>Single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</a:t>
            </a:r>
            <a:r>
              <a:rPr lang="en-US" b="0"/>
              <a:t> 3.4 X 10</a:t>
            </a:r>
            <a:r>
              <a:rPr lang="en-US" b="0" baseline="30000"/>
              <a:t>38</a:t>
            </a:r>
            <a:endParaRPr lang="en-US" b="0"/>
          </a:p>
          <a:p>
            <a:pPr marL="560388" lvl="1" indent="-222250" defTabSz="895350">
              <a:spcBef>
                <a:spcPct val="10000"/>
              </a:spcBef>
              <a:tabLst>
                <a:tab pos="2743200" algn="l"/>
                <a:tab pos="3657600" algn="l"/>
                <a:tab pos="5321300" algn="l"/>
              </a:tabLst>
            </a:pPr>
            <a:r>
              <a:rPr lang="en-US" b="0"/>
              <a:t>Double </a:t>
            </a:r>
            <a:r>
              <a:rPr lang="en-US" b="0">
                <a:latin typeface="Symbol" pitchFamily="18" charset="2"/>
              </a:rPr>
              <a:t></a:t>
            </a:r>
            <a:r>
              <a:rPr lang="en-US" b="0"/>
              <a:t> 1.8 X 10</a:t>
            </a:r>
            <a:r>
              <a:rPr lang="en-US" b="0" baseline="30000"/>
              <a:t>308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6977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 </a:t>
            </a:r>
            <a:r>
              <a:rPr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Underflow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60"/>
          <a:stretch/>
        </p:blipFill>
        <p:spPr bwMode="auto">
          <a:xfrm>
            <a:off x="1" y="2209800"/>
            <a:ext cx="9067800" cy="2121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75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44562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" pitchFamily="18" charset="0"/>
                <a:cs typeface="Times" pitchFamily="18" charset="0"/>
              </a:rPr>
              <a:t>Underflow</a:t>
            </a:r>
            <a:endParaRPr lang="en-US" b="1" dirty="0">
              <a:solidFill>
                <a:srgbClr val="FF0000"/>
              </a:solidFill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Underflow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occurs when a positive result becomes smaller than the smallest representable, positive number; the result is then set to 0. This also happens with negative numbers with small magnitude. In most environments you will get a warning, but otherwise the calculations will continue. This will usually not be a problem, but you should be aware of what happens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9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" pitchFamily="18" charset="0"/>
                <a:cs typeface="Times" pitchFamily="18" charset="0"/>
              </a:rPr>
              <a:t>Overflow</a:t>
            </a:r>
            <a:endParaRPr lang="en-US" b="1" dirty="0">
              <a:solidFill>
                <a:srgbClr val="FF0000"/>
              </a:solidFill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absolute value of a result becomes too large for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floating point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standard, overflow occurs. This is indicated by the result receiving the value infinity or possibly positive infinity or negative infinity. There is a special combination of bits in the IEEE standard for these infinity values. When you see infinity appearing in your calculations, you should be aware; the chances are high that the reason is some programming error, or even worse, an error in your algorithm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Department of CMIS – 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EB1B-5865-4934-8F4B-0B1146C66BF8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49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</TotalTime>
  <Words>1387</Words>
  <Application>Microsoft Office PowerPoint</Application>
  <PresentationFormat>On-screen Show (4:3)</PresentationFormat>
  <Paragraphs>336</Paragraphs>
  <Slides>35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Courier New</vt:lpstr>
      <vt:lpstr>Symbol</vt:lpstr>
      <vt:lpstr>Times</vt:lpstr>
      <vt:lpstr>Times New Roman</vt:lpstr>
      <vt:lpstr>Wingdings</vt:lpstr>
      <vt:lpstr>Office Theme</vt:lpstr>
      <vt:lpstr>CMIS 3142 - Computational Methods</vt:lpstr>
      <vt:lpstr>Time</vt:lpstr>
      <vt:lpstr>References</vt:lpstr>
      <vt:lpstr>Evaluations</vt:lpstr>
      <vt:lpstr>PowerPoint Presentation</vt:lpstr>
      <vt:lpstr>Aims</vt:lpstr>
      <vt:lpstr>Intended Learning Outcomes</vt:lpstr>
      <vt:lpstr>Floating point Numbers </vt:lpstr>
      <vt:lpstr>Floating point numbers</vt:lpstr>
      <vt:lpstr>Binary  Decimal conversion</vt:lpstr>
      <vt:lpstr>Decimal  Binary conversion</vt:lpstr>
      <vt:lpstr>Beware</vt:lpstr>
      <vt:lpstr>Assignment 01</vt:lpstr>
      <vt:lpstr>Scientific notation</vt:lpstr>
      <vt:lpstr>Floating point representation</vt:lpstr>
      <vt:lpstr>IEEE 754 floating point standards</vt:lpstr>
      <vt:lpstr>PowerPoint Presentation</vt:lpstr>
      <vt:lpstr>Features of IEEE 754 format</vt:lpstr>
      <vt:lpstr>Example: 0.75</vt:lpstr>
      <vt:lpstr>Example 0.1ten    -   Check float.a</vt:lpstr>
      <vt:lpstr>Assignment 2</vt:lpstr>
      <vt:lpstr>PowerPoint Presentation</vt:lpstr>
      <vt:lpstr>IEEE Double precision standard</vt:lpstr>
      <vt:lpstr>Special-case numbers</vt:lpstr>
      <vt:lpstr>Special-case numbers</vt:lpstr>
      <vt:lpstr>Denormalized numbers</vt:lpstr>
      <vt:lpstr>IEEE 754 summary</vt:lpstr>
      <vt:lpstr>Summary</vt:lpstr>
      <vt:lpstr>PowerPoint Presentation</vt:lpstr>
      <vt:lpstr>PowerPoint Presentation</vt:lpstr>
      <vt:lpstr>Summary of Floating Point  Real Number Encodings</vt:lpstr>
      <vt:lpstr>Interesting Numbers</vt:lpstr>
      <vt:lpstr>Overflow and Underflow</vt:lpstr>
      <vt:lpstr>Underflow</vt:lpstr>
      <vt:lpstr>Overflow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Arul</dc:creator>
  <cp:lastModifiedBy>Arul</cp:lastModifiedBy>
  <cp:revision>64</cp:revision>
  <dcterms:created xsi:type="dcterms:W3CDTF">2017-01-01T04:46:10Z</dcterms:created>
  <dcterms:modified xsi:type="dcterms:W3CDTF">2023-11-09T09:56:14Z</dcterms:modified>
</cp:coreProperties>
</file>