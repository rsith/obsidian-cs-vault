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1416" y="6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126B07-2DE8-470C-BCD8-99FA0365CFAB}" type="datetimeFigureOut">
              <a:rPr lang="en-GB" smtClean="0"/>
              <a:t>30/11/2023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B69C5-DC7F-4C2E-A1F8-66950EC9A57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90470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126B07-2DE8-470C-BCD8-99FA0365CFAB}" type="datetimeFigureOut">
              <a:rPr lang="en-GB" smtClean="0"/>
              <a:t>30/11/2023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B69C5-DC7F-4C2E-A1F8-66950EC9A57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78616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126B07-2DE8-470C-BCD8-99FA0365CFAB}" type="datetimeFigureOut">
              <a:rPr lang="en-GB" smtClean="0"/>
              <a:t>30/11/2023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B69C5-DC7F-4C2E-A1F8-66950EC9A57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942757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126B07-2DE8-470C-BCD8-99FA0365CFAB}" type="datetimeFigureOut">
              <a:rPr lang="en-GB" smtClean="0"/>
              <a:t>30/11/2023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B69C5-DC7F-4C2E-A1F8-66950EC9A57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668793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126B07-2DE8-470C-BCD8-99FA0365CFAB}" type="datetimeFigureOut">
              <a:rPr lang="en-GB" smtClean="0"/>
              <a:t>30/11/2023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B69C5-DC7F-4C2E-A1F8-66950EC9A57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184541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126B07-2DE8-470C-BCD8-99FA0365CFAB}" type="datetimeFigureOut">
              <a:rPr lang="en-GB" smtClean="0"/>
              <a:t>30/11/2023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B69C5-DC7F-4C2E-A1F8-66950EC9A57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892475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126B07-2DE8-470C-BCD8-99FA0365CFAB}" type="datetimeFigureOut">
              <a:rPr lang="en-GB" smtClean="0"/>
              <a:t>30/11/2023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B69C5-DC7F-4C2E-A1F8-66950EC9A57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425302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126B07-2DE8-470C-BCD8-99FA0365CFAB}" type="datetimeFigureOut">
              <a:rPr lang="en-GB" smtClean="0"/>
              <a:t>30/11/2023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B69C5-DC7F-4C2E-A1F8-66950EC9A57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946133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126B07-2DE8-470C-BCD8-99FA0365CFAB}" type="datetimeFigureOut">
              <a:rPr lang="en-GB" smtClean="0"/>
              <a:t>30/11/2023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B69C5-DC7F-4C2E-A1F8-66950EC9A57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336659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126B07-2DE8-470C-BCD8-99FA0365CFAB}" type="datetimeFigureOut">
              <a:rPr lang="en-GB" smtClean="0"/>
              <a:t>30/11/2023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B69C5-DC7F-4C2E-A1F8-66950EC9A57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97744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126B07-2DE8-470C-BCD8-99FA0365CFAB}" type="datetimeFigureOut">
              <a:rPr lang="en-GB" smtClean="0"/>
              <a:t>30/11/2023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B69C5-DC7F-4C2E-A1F8-66950EC9A57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089523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126B07-2DE8-470C-BCD8-99FA0365CFAB}" type="datetimeFigureOut">
              <a:rPr lang="en-GB" smtClean="0"/>
              <a:t>30/11/2023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DB69C5-DC7F-4C2E-A1F8-66950EC9A57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902892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FF0000"/>
                </a:solidFill>
              </a:rPr>
              <a:t>Gaussian Elimination</a:t>
            </a:r>
            <a:endParaRPr lang="en-GB" b="1" dirty="0">
              <a:solidFill>
                <a:srgbClr val="FF0000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215065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FF0000"/>
                </a:solidFill>
              </a:rPr>
              <a:t>System of Linear Equation</a:t>
            </a:r>
            <a:endParaRPr lang="en-GB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          -3</a:t>
            </a:r>
            <a:r>
              <a:rPr lang="en-US" i="1" dirty="0" smtClean="0"/>
              <a:t>x</a:t>
            </a:r>
            <a:r>
              <a:rPr lang="en-US" baseline="-25000" dirty="0" smtClean="0"/>
              <a:t>1 </a:t>
            </a:r>
            <a:r>
              <a:rPr lang="en-US" dirty="0" smtClean="0"/>
              <a:t>+ 2</a:t>
            </a:r>
            <a:r>
              <a:rPr lang="en-US" i="1" dirty="0" smtClean="0"/>
              <a:t>x</a:t>
            </a:r>
            <a:r>
              <a:rPr lang="en-US" baseline="-25000" dirty="0" smtClean="0"/>
              <a:t>2 </a:t>
            </a:r>
            <a:r>
              <a:rPr lang="en-US" dirty="0" smtClean="0"/>
              <a:t>– </a:t>
            </a:r>
            <a:r>
              <a:rPr lang="en-US" i="1" dirty="0" smtClean="0"/>
              <a:t>x</a:t>
            </a:r>
            <a:r>
              <a:rPr lang="en-US" baseline="-25000" dirty="0" smtClean="0"/>
              <a:t>3</a:t>
            </a:r>
            <a:r>
              <a:rPr lang="en-US" dirty="0" smtClean="0"/>
              <a:t> =   -1</a:t>
            </a:r>
          </a:p>
          <a:p>
            <a:pPr marL="0" indent="0">
              <a:buNone/>
            </a:pPr>
            <a:r>
              <a:rPr lang="en-US" dirty="0" smtClean="0"/>
              <a:t>           6</a:t>
            </a:r>
            <a:r>
              <a:rPr lang="en-US" i="1" dirty="0" smtClean="0"/>
              <a:t>x</a:t>
            </a:r>
            <a:r>
              <a:rPr lang="en-US" baseline="-25000" dirty="0" smtClean="0"/>
              <a:t>1 </a:t>
            </a:r>
            <a:r>
              <a:rPr lang="en-US" dirty="0" smtClean="0"/>
              <a:t>- 6</a:t>
            </a:r>
            <a:r>
              <a:rPr lang="en-US" i="1" dirty="0" smtClean="0"/>
              <a:t>x</a:t>
            </a:r>
            <a:r>
              <a:rPr lang="en-US" baseline="-25000" dirty="0" smtClean="0"/>
              <a:t>2 </a:t>
            </a:r>
            <a:r>
              <a:rPr lang="en-US" dirty="0" smtClean="0"/>
              <a:t>+ 7</a:t>
            </a:r>
            <a:r>
              <a:rPr lang="en-US" i="1" dirty="0" smtClean="0"/>
              <a:t>x</a:t>
            </a:r>
            <a:r>
              <a:rPr lang="en-US" baseline="-25000" dirty="0" smtClean="0"/>
              <a:t>3</a:t>
            </a:r>
            <a:r>
              <a:rPr lang="en-US" dirty="0" smtClean="0"/>
              <a:t> =  -7</a:t>
            </a:r>
          </a:p>
          <a:p>
            <a:pPr marL="0" indent="0">
              <a:buNone/>
            </a:pPr>
            <a:r>
              <a:rPr lang="en-US" dirty="0" smtClean="0"/>
              <a:t>           3</a:t>
            </a:r>
            <a:r>
              <a:rPr lang="en-US" i="1" dirty="0" smtClean="0"/>
              <a:t>x</a:t>
            </a:r>
            <a:r>
              <a:rPr lang="en-US" baseline="-25000" dirty="0" smtClean="0"/>
              <a:t>1 </a:t>
            </a:r>
            <a:r>
              <a:rPr lang="en-US" dirty="0" smtClean="0"/>
              <a:t>- 4</a:t>
            </a:r>
            <a:r>
              <a:rPr lang="en-US" i="1" dirty="0" smtClean="0"/>
              <a:t>x</a:t>
            </a:r>
            <a:r>
              <a:rPr lang="en-US" baseline="-25000" dirty="0" smtClean="0"/>
              <a:t>2 </a:t>
            </a:r>
            <a:r>
              <a:rPr lang="en-US" dirty="0" smtClean="0"/>
              <a:t>+ 4</a:t>
            </a:r>
            <a:r>
              <a:rPr lang="en-US" i="1" dirty="0" smtClean="0"/>
              <a:t>x</a:t>
            </a:r>
            <a:r>
              <a:rPr lang="en-US" baseline="-25000" dirty="0" smtClean="0"/>
              <a:t>3</a:t>
            </a:r>
            <a:r>
              <a:rPr lang="en-US" dirty="0" smtClean="0"/>
              <a:t> =  -6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    </a:t>
            </a:r>
            <a:endParaRPr lang="en-GB" baseline="-25000" dirty="0"/>
          </a:p>
        </p:txBody>
      </p:sp>
    </p:spTree>
    <p:extLst>
      <p:ext uri="{BB962C8B-B14F-4D97-AF65-F5344CB8AC3E}">
        <p14:creationId xmlns:p14="http://schemas.microsoft.com/office/powerpoint/2010/main" val="5872586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FF0000"/>
                </a:solidFill>
              </a:rPr>
              <a:t>Ax = b</a:t>
            </a:r>
            <a:endParaRPr lang="en-GB" b="1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524000"/>
                <a:ext cx="8229600" cy="4525963"/>
              </a:xfrm>
            </p:spPr>
            <p:txBody>
              <a:bodyPr/>
              <a:lstStyle/>
              <a:p>
                <a:pPr marL="0" indent="0">
                  <a:buNone/>
                </a:pPr>
                <a:endParaRPr lang="en-US" dirty="0" smtClean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GB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/>
                                </a:rPr>
                                <m:t>−</m:t>
                              </m:r>
                              <m:r>
                                <a:rPr lang="en-US" b="0" i="1" smtClean="0">
                                  <a:latin typeface="Cambria Math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−1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6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−6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7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−4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4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GB" dirty="0" smtClean="0"/>
                  <a:t> *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GB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/>
                                </a:rPr>
                                <m:t>𝑥</m:t>
                              </m:r>
                              <m:r>
                                <a:rPr lang="en-US" b="0" i="1" baseline="-25000" smtClean="0">
                                  <a:latin typeface="Cambria Math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𝑥</m:t>
                              </m:r>
                              <m:r>
                                <a:rPr lang="en-US" b="0" i="1" baseline="-25000" smtClean="0">
                                  <a:latin typeface="Cambria Math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𝑥</m:t>
                              </m:r>
                              <m:r>
                                <a:rPr lang="en-US" b="0" i="1" baseline="-25000" smtClean="0">
                                  <a:latin typeface="Cambria Math"/>
                                </a:rPr>
                                <m:t>3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GB" dirty="0" smtClean="0"/>
                  <a:t> =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GB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/>
                                </a:rPr>
                                <m:t>−</m:t>
                              </m:r>
                              <m:r>
                                <a:rPr lang="en-US" b="0" i="1" smtClean="0">
                                  <a:latin typeface="Cambria Math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−7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−6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524000"/>
                <a:ext cx="8229600" cy="4525963"/>
              </a:xfr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84061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FF0000"/>
                </a:solidFill>
              </a:rPr>
              <a:t>Augmented Matrix</a:t>
            </a:r>
            <a:endParaRPr lang="en-GB" b="1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endParaRPr lang="en-GB" i="1" dirty="0" smtClean="0">
                  <a:latin typeface="Cambria Math"/>
                </a:endParaRPr>
              </a:p>
              <a:p>
                <a:pPr marL="0" indent="0">
                  <a:buNone/>
                </a:pPr>
                <a:r>
                  <a:rPr lang="en-GB" i="1" dirty="0">
                    <a:latin typeface="Cambria Math"/>
                  </a:rPr>
                  <a:t> </a:t>
                </a:r>
                <a:r>
                  <a:rPr lang="en-GB" i="1" dirty="0" smtClean="0">
                    <a:latin typeface="Cambria Math"/>
                  </a:rPr>
                  <a:t>     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GB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/>
                                </a:rPr>
                                <m:t>−</m:t>
                              </m:r>
                              <m:r>
                                <a:rPr lang="en-US" b="0" i="1" smtClean="0">
                                  <a:latin typeface="Cambria Math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−1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6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−6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7 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−4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4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GB" dirty="0" smtClean="0"/>
                  <a:t> *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GB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/>
                                </a:rPr>
                                <m:t>𝑥</m:t>
                              </m:r>
                              <m:r>
                                <a:rPr lang="en-US" b="0" i="1" baseline="-25000" smtClean="0">
                                  <a:latin typeface="Cambria Math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𝑥</m:t>
                              </m:r>
                              <m:r>
                                <a:rPr lang="en-US" b="0" i="1" baseline="-25000" smtClean="0">
                                  <a:latin typeface="Cambria Math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𝑥</m:t>
                              </m:r>
                              <m:r>
                                <a:rPr lang="en-US" b="0" i="1" baseline="-25000" smtClean="0">
                                  <a:latin typeface="Cambria Math"/>
                                </a:rPr>
                                <m:t>3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GB" dirty="0" smtClean="0"/>
                  <a:t> =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GB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/>
                                </a:rPr>
                                <m:t>−</m:t>
                              </m:r>
                              <m:r>
                                <a:rPr lang="en-US" b="0" i="1" smtClean="0">
                                  <a:latin typeface="Cambria Math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−7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−6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GB" dirty="0"/>
              </a:p>
              <a:p>
                <a:pPr marL="0" indent="0">
                  <a:buNone/>
                </a:pPr>
                <a:endParaRPr lang="en-US" dirty="0" smtClean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latin typeface="Cambria Math"/>
                                  </a:rPr>
                                  <m:t>−</m:t>
                                </m:r>
                                <m:r>
                                  <a:rPr lang="en-US" b="0" i="1" smtClean="0">
                                    <a:latin typeface="Cambria Math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/>
                                  </a:rPr>
                                  <m:t>−1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/>
                                  </a:rPr>
                                  <m:t>6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/>
                                  </a:rPr>
                                  <m:t>−6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/>
                                  </a:rPr>
                                  <m:t>7 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/>
                                  </a:rPr>
                                  <m:t>−4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/>
                                  </a:rPr>
                                  <m:t>4</m:t>
                                </m:r>
                              </m:e>
                            </m:mr>
                          </m:m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eqArr>
                                  <m:eqArr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eqArr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b="0" i="1" smtClean="0">
                                        <a:latin typeface="Cambria Math"/>
                                      </a:rPr>
                                      <m:t> </m:t>
                                    </m:r>
                                    <m:r>
                                      <a:rPr lang="en-US" b="0" i="1" smtClean="0">
                                        <a:latin typeface="Cambria Math"/>
                                      </a:rPr>
                                      <m:t>    </m:t>
                                    </m:r>
                                  </m:e>
                                  <m:e>
                                    <m:r>
                                      <a:rPr lang="en-US" b="0" i="1" smtClean="0">
                                        <a:latin typeface="Cambria Math"/>
                                      </a:rPr>
                                      <m:t>    </m:t>
                                    </m:r>
                                    <m:r>
                                      <m:rPr>
                                        <m:brk m:alnAt="7"/>
                                      </m:rPr>
                                      <a:rPr lang="en-US" b="0" i="1" smtClean="0">
                                        <a:latin typeface="Cambria Math"/>
                                      </a:rPr>
                                      <m:t>|</m:t>
                                    </m:r>
                                    <m:r>
                                      <a:rPr lang="en-US" b="0" i="1" smtClean="0">
                                        <a:latin typeface="Cambria Math"/>
                                      </a:rPr>
                                      <m:t>      −1</m:t>
                                    </m:r>
                                  </m:e>
                                </m:eqAr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/>
                                  </a:rPr>
                                  <m:t>     |      −7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/>
                                  </a:rPr>
                                  <m:t>     |      −6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692942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FF0000"/>
                </a:solidFill>
              </a:rPr>
              <a:t>Forward Elimination</a:t>
            </a:r>
            <a:endParaRPr lang="en-GB" b="1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 smtClean="0"/>
                  <a:t>The purpose of the forward elimination is to make the matrix as</a:t>
                </a:r>
              </a:p>
              <a:p>
                <a:endParaRPr lang="en-US" dirty="0"/>
              </a:p>
              <a:p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GB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𝑎</m:t>
                              </m:r>
                              <m:r>
                                <a:rPr lang="en-US" b="0" i="1" baseline="-25000" smtClean="0">
                                  <a:latin typeface="Cambria Math"/>
                                </a:rPr>
                                <m:t>11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𝑎</m:t>
                              </m:r>
                              <m:r>
                                <a:rPr lang="en-US" b="0" i="1" baseline="-25000" smtClean="0">
                                  <a:latin typeface="Cambria Math"/>
                                </a:rPr>
                                <m:t>12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𝑎</m:t>
                              </m:r>
                              <m:r>
                                <a:rPr lang="en-US" b="0" i="1" baseline="-25000" smtClean="0">
                                  <a:latin typeface="Cambria Math"/>
                                </a:rPr>
                                <m:t>13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𝑎</m:t>
                              </m:r>
                              <m:r>
                                <a:rPr lang="en-US" b="0" i="1" baseline="-25000" smtClean="0">
                                  <a:latin typeface="Cambria Math"/>
                                </a:rPr>
                                <m:t>22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𝑎</m:t>
                              </m:r>
                              <m:r>
                                <a:rPr lang="en-US" b="0" i="1" baseline="-25000" smtClean="0">
                                  <a:latin typeface="Cambria Math"/>
                                </a:rPr>
                                <m:t>23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𝑎</m:t>
                              </m:r>
                              <m:r>
                                <a:rPr lang="en-US" b="0" i="1" baseline="-25000" smtClean="0">
                                  <a:latin typeface="Cambria Math"/>
                                </a:rPr>
                                <m:t>33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GB" dirty="0" smtClean="0"/>
                  <a:t> *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GB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/>
                                </a:rPr>
                                <m:t>𝑥</m:t>
                              </m:r>
                              <m:r>
                                <a:rPr lang="en-US" b="0" i="1" baseline="-25000" smtClean="0">
                                  <a:latin typeface="Cambria Math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𝑥</m:t>
                              </m:r>
                              <m:r>
                                <a:rPr lang="en-US" b="0" i="1" baseline="-25000" smtClean="0">
                                  <a:latin typeface="Cambria Math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𝑥</m:t>
                              </m:r>
                              <m:r>
                                <a:rPr lang="en-US" b="0" i="1" baseline="-25000" smtClean="0">
                                  <a:latin typeface="Cambria Math"/>
                                </a:rPr>
                                <m:t>3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GB" dirty="0" smtClean="0"/>
                  <a:t> =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GB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𝑏</m:t>
                              </m:r>
                              <m:r>
                                <a:rPr lang="en-US" b="0" i="1" baseline="-25000" smtClean="0">
                                  <a:latin typeface="Cambria Math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𝑏</m:t>
                              </m:r>
                              <m:r>
                                <a:rPr lang="en-US" b="0" i="1" baseline="-25000" smtClean="0">
                                  <a:latin typeface="Cambria Math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𝑏</m:t>
                              </m:r>
                              <m:r>
                                <a:rPr lang="en-US" b="0" i="1" baseline="-25000" smtClean="0">
                                  <a:latin typeface="Cambria Math"/>
                                </a:rPr>
                                <m:t>3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630" t="-188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643819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5410200" cy="4525963"/>
              </a:xfrm>
            </p:spPr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GB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/>
                                </a:rPr>
                                <m:t>−</m:t>
                              </m:r>
                              <m:r>
                                <a:rPr lang="en-US" b="0" i="1" smtClean="0">
                                  <a:latin typeface="Cambria Math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−1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6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−6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7 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−4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4</m:t>
                              </m:r>
                            </m:e>
                          </m:mr>
                        </m:m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GB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eqArr>
                                <m:eqArr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eqArr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b="0" i="1" smtClean="0">
                                      <a:latin typeface="Cambria Math"/>
                                    </a:rPr>
                                    <m:t> </m:t>
                                  </m:r>
                                  <m:r>
                                    <a:rPr lang="en-US" b="0" i="1" smtClean="0">
                                      <a:latin typeface="Cambria Math"/>
                                    </a:rPr>
                                    <m:t>    </m:t>
                                  </m:r>
                                </m:e>
                                <m:e>
                                  <m:r>
                                    <a:rPr lang="en-US" b="0" i="1" smtClean="0">
                                      <a:latin typeface="Cambria Math"/>
                                    </a:rPr>
                                    <m:t>    </m:t>
                                  </m:r>
                                  <m:r>
                                    <m:rPr>
                                      <m:brk m:alnAt="7"/>
                                    </m:rPr>
                                    <a:rPr lang="en-US" b="0" i="1" smtClean="0">
                                      <a:latin typeface="Cambria Math"/>
                                    </a:rPr>
                                    <m:t>|</m:t>
                                  </m:r>
                                  <m:r>
                                    <a:rPr lang="en-US" b="0" i="1" smtClean="0">
                                      <a:latin typeface="Cambria Math"/>
                                    </a:rPr>
                                    <m:t>      −1</m:t>
                                  </m:r>
                                </m:e>
                              </m:eqAr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     |      −7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     |      −6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GB" dirty="0" smtClean="0"/>
              </a:p>
              <a:p>
                <a:endParaRPr lang="en-US" dirty="0"/>
              </a:p>
              <a:p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GB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/>
                                </a:rPr>
                                <m:t>−</m:t>
                              </m:r>
                              <m:r>
                                <a:rPr lang="en-US" b="0" i="1" smtClean="0">
                                  <a:latin typeface="Cambria Math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−1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−2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5 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−2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3</m:t>
                              </m:r>
                            </m:e>
                          </m:mr>
                        </m:m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GB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eqArr>
                                <m:eqArr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eqArr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b="0" i="1" smtClean="0">
                                      <a:latin typeface="Cambria Math"/>
                                    </a:rPr>
                                    <m:t> </m:t>
                                  </m:r>
                                  <m:r>
                                    <a:rPr lang="en-US" b="0" i="1" smtClean="0">
                                      <a:latin typeface="Cambria Math"/>
                                    </a:rPr>
                                    <m:t>    </m:t>
                                  </m:r>
                                </m:e>
                                <m:e>
                                  <m:r>
                                    <a:rPr lang="en-US" b="0" i="1" smtClean="0">
                                      <a:latin typeface="Cambria Math"/>
                                    </a:rPr>
                                    <m:t>    </m:t>
                                  </m:r>
                                  <m:r>
                                    <m:rPr>
                                      <m:brk m:alnAt="7"/>
                                    </m:rPr>
                                    <a:rPr lang="en-US" b="0" i="1" smtClean="0">
                                      <a:latin typeface="Cambria Math"/>
                                    </a:rPr>
                                    <m:t>|</m:t>
                                  </m:r>
                                  <m:r>
                                    <a:rPr lang="en-US" b="0" i="1" smtClean="0">
                                      <a:latin typeface="Cambria Math"/>
                                    </a:rPr>
                                    <m:t>      −1</m:t>
                                  </m:r>
                                </m:e>
                              </m:eqAr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     |      −9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     |      −7 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GB" baseline="-25000" dirty="0" smtClean="0">
                  <a:sym typeface="Wingdings" panose="05000000000000000000" pitchFamily="2" charset="2"/>
                </a:endParaRPr>
              </a:p>
              <a:p>
                <a:endParaRPr lang="en-GB" baseline="-250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5410200" cy="4525963"/>
              </a:xfr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/>
          <p:cNvSpPr txBox="1"/>
          <p:nvPr/>
        </p:nvSpPr>
        <p:spPr>
          <a:xfrm>
            <a:off x="5715000" y="4648200"/>
            <a:ext cx="2971800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GB" dirty="0" smtClean="0">
              <a:sym typeface="Wingdings" panose="05000000000000000000" pitchFamily="2" charset="2"/>
            </a:endParaRPr>
          </a:p>
          <a:p>
            <a:r>
              <a:rPr lang="en-GB" dirty="0" smtClean="0">
                <a:sym typeface="Wingdings" panose="05000000000000000000" pitchFamily="2" charset="2"/>
              </a:rPr>
              <a:t>&lt; == R</a:t>
            </a:r>
            <a:r>
              <a:rPr lang="en-GB" baseline="-25000" dirty="0" smtClean="0">
                <a:sym typeface="Wingdings" panose="05000000000000000000" pitchFamily="2" charset="2"/>
              </a:rPr>
              <a:t>2</a:t>
            </a:r>
            <a:r>
              <a:rPr lang="en-GB" dirty="0" smtClean="0">
                <a:sym typeface="Wingdings" panose="05000000000000000000" pitchFamily="2" charset="2"/>
              </a:rPr>
              <a:t> + 2R</a:t>
            </a:r>
            <a:r>
              <a:rPr lang="en-GB" baseline="-25000" dirty="0" smtClean="0">
                <a:sym typeface="Wingdings" panose="05000000000000000000" pitchFamily="2" charset="2"/>
              </a:rPr>
              <a:t>1</a:t>
            </a:r>
          </a:p>
          <a:p>
            <a:endParaRPr lang="en-US" baseline="-25000" dirty="0" smtClean="0">
              <a:sym typeface="Wingdings" panose="05000000000000000000" pitchFamily="2" charset="2"/>
            </a:endParaRPr>
          </a:p>
          <a:p>
            <a:r>
              <a:rPr lang="en-GB" dirty="0" smtClean="0">
                <a:sym typeface="Wingdings" panose="05000000000000000000" pitchFamily="2" charset="2"/>
              </a:rPr>
              <a:t>&lt; == R</a:t>
            </a:r>
            <a:r>
              <a:rPr lang="en-GB" baseline="-25000" dirty="0" smtClean="0">
                <a:sym typeface="Wingdings" panose="05000000000000000000" pitchFamily="2" charset="2"/>
              </a:rPr>
              <a:t>3</a:t>
            </a:r>
            <a:r>
              <a:rPr lang="en-GB" dirty="0" smtClean="0">
                <a:sym typeface="Wingdings" panose="05000000000000000000" pitchFamily="2" charset="2"/>
              </a:rPr>
              <a:t> + R</a:t>
            </a:r>
            <a:r>
              <a:rPr lang="en-GB" baseline="-25000" dirty="0" smtClean="0">
                <a:sym typeface="Wingdings" panose="05000000000000000000" pitchFamily="2" charset="2"/>
              </a:rPr>
              <a:t>1</a:t>
            </a:r>
          </a:p>
          <a:p>
            <a:endParaRPr lang="en-GB" baseline="-25000" dirty="0" smtClean="0"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10848122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5334000" cy="4525963"/>
              </a:xfrm>
            </p:spPr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GB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/>
                                </a:rPr>
                                <m:t>−</m:t>
                              </m:r>
                              <m:r>
                                <a:rPr lang="en-US" b="0" i="1" smtClean="0">
                                  <a:latin typeface="Cambria Math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−1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−2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5 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−2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3</m:t>
                              </m:r>
                            </m:e>
                          </m:mr>
                        </m:m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GB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eqArr>
                                <m:eqArr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eqArr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b="0" i="1" smtClean="0">
                                      <a:latin typeface="Cambria Math"/>
                                    </a:rPr>
                                    <m:t> </m:t>
                                  </m:r>
                                  <m:r>
                                    <a:rPr lang="en-US" b="0" i="1" smtClean="0">
                                      <a:latin typeface="Cambria Math"/>
                                    </a:rPr>
                                    <m:t>    </m:t>
                                  </m:r>
                                </m:e>
                                <m:e>
                                  <m:r>
                                    <a:rPr lang="en-US" b="0" i="1" smtClean="0">
                                      <a:latin typeface="Cambria Math"/>
                                    </a:rPr>
                                    <m:t>    </m:t>
                                  </m:r>
                                  <m:r>
                                    <m:rPr>
                                      <m:brk m:alnAt="7"/>
                                    </m:rPr>
                                    <a:rPr lang="en-US" b="0" i="1" smtClean="0">
                                      <a:latin typeface="Cambria Math"/>
                                    </a:rPr>
                                    <m:t>|</m:t>
                                  </m:r>
                                  <m:r>
                                    <a:rPr lang="en-US" b="0" i="1" smtClean="0">
                                      <a:latin typeface="Cambria Math"/>
                                    </a:rPr>
                                    <m:t>      −1</m:t>
                                  </m:r>
                                </m:e>
                              </m:eqAr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     |      −9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     |      −7 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GB" baseline="-25000" dirty="0" smtClean="0">
                  <a:sym typeface="Wingdings" panose="05000000000000000000" pitchFamily="2" charset="2"/>
                </a:endParaRPr>
              </a:p>
              <a:p>
                <a:endParaRPr lang="en-US" baseline="-25000" dirty="0">
                  <a:sym typeface="Wingdings" panose="05000000000000000000" pitchFamily="2" charset="2"/>
                </a:endParaRPr>
              </a:p>
              <a:p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GB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/>
                                </a:rPr>
                                <m:t>−</m:t>
                              </m:r>
                              <m:r>
                                <a:rPr lang="en-US" b="0" i="1" smtClean="0">
                                  <a:latin typeface="Cambria Math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−1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−2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5 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−2</m:t>
                              </m:r>
                            </m:e>
                          </m:mr>
                        </m:m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GB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eqArr>
                                <m:eqArr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eqArr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b="0" i="1" smtClean="0">
                                      <a:latin typeface="Cambria Math"/>
                                    </a:rPr>
                                    <m:t> </m:t>
                                  </m:r>
                                  <m:r>
                                    <a:rPr lang="en-US" b="0" i="1" smtClean="0">
                                      <a:latin typeface="Cambria Math"/>
                                    </a:rPr>
                                    <m:t>    </m:t>
                                  </m:r>
                                </m:e>
                                <m:e>
                                  <m:r>
                                    <a:rPr lang="en-US" b="0" i="1" smtClean="0">
                                      <a:latin typeface="Cambria Math"/>
                                    </a:rPr>
                                    <m:t>      </m:t>
                                  </m:r>
                                  <m:r>
                                    <m:rPr>
                                      <m:brk m:alnAt="7"/>
                                    </m:rPr>
                                    <a:rPr lang="en-US" b="0" i="1" smtClean="0">
                                      <a:latin typeface="Cambria Math"/>
                                    </a:rPr>
                                    <m:t>|</m:t>
                                  </m:r>
                                  <m:r>
                                    <a:rPr lang="en-US" b="0" i="1" smtClean="0">
                                      <a:latin typeface="Cambria Math"/>
                                    </a:rPr>
                                    <m:t>      −1</m:t>
                                  </m:r>
                                </m:e>
                              </m:eqAr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      |      −9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       |           2 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GB" baseline="-25000" dirty="0" smtClean="0">
                  <a:sym typeface="Wingdings" panose="05000000000000000000" pitchFamily="2" charset="2"/>
                </a:endParaRPr>
              </a:p>
              <a:p>
                <a:endParaRPr lang="en-GB" baseline="-25000" dirty="0" smtClean="0">
                  <a:sym typeface="Wingdings" panose="05000000000000000000" pitchFamily="2" charset="2"/>
                </a:endParaRPr>
              </a:p>
              <a:p>
                <a:endParaRPr lang="en-GB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5334000" cy="4525963"/>
              </a:xfr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/>
          <p:cNvSpPr txBox="1"/>
          <p:nvPr/>
        </p:nvSpPr>
        <p:spPr>
          <a:xfrm>
            <a:off x="6019800" y="4419600"/>
            <a:ext cx="297180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GB" dirty="0" smtClean="0">
              <a:sym typeface="Wingdings" panose="05000000000000000000" pitchFamily="2" charset="2"/>
            </a:endParaRPr>
          </a:p>
          <a:p>
            <a:endParaRPr lang="en-US" baseline="-25000" dirty="0" smtClean="0">
              <a:sym typeface="Wingdings" panose="05000000000000000000" pitchFamily="2" charset="2"/>
            </a:endParaRPr>
          </a:p>
          <a:p>
            <a:endParaRPr lang="en-US" baseline="-25000" dirty="0">
              <a:sym typeface="Wingdings" panose="05000000000000000000" pitchFamily="2" charset="2"/>
            </a:endParaRPr>
          </a:p>
          <a:p>
            <a:endParaRPr lang="en-US" baseline="-25000" dirty="0" smtClean="0">
              <a:sym typeface="Wingdings" panose="05000000000000000000" pitchFamily="2" charset="2"/>
            </a:endParaRPr>
          </a:p>
          <a:p>
            <a:r>
              <a:rPr lang="en-GB" dirty="0" smtClean="0">
                <a:sym typeface="Wingdings" panose="05000000000000000000" pitchFamily="2" charset="2"/>
              </a:rPr>
              <a:t>&lt; == R</a:t>
            </a:r>
            <a:r>
              <a:rPr lang="en-GB" baseline="-25000" dirty="0" smtClean="0">
                <a:sym typeface="Wingdings" panose="05000000000000000000" pitchFamily="2" charset="2"/>
              </a:rPr>
              <a:t>3</a:t>
            </a:r>
            <a:r>
              <a:rPr lang="en-GB" dirty="0" smtClean="0">
                <a:sym typeface="Wingdings" panose="05000000000000000000" pitchFamily="2" charset="2"/>
              </a:rPr>
              <a:t> – R</a:t>
            </a:r>
            <a:r>
              <a:rPr lang="en-GB" baseline="-25000" dirty="0" smtClean="0">
                <a:sym typeface="Wingdings" panose="05000000000000000000" pitchFamily="2" charset="2"/>
              </a:rPr>
              <a:t>2</a:t>
            </a:r>
          </a:p>
          <a:p>
            <a:endParaRPr lang="en-GB" baseline="-25000" dirty="0" smtClean="0"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6835507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FF0000"/>
                </a:solidFill>
              </a:rPr>
              <a:t>Equations looks like</a:t>
            </a:r>
            <a:endParaRPr lang="en-GB" b="1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GB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/>
                                </a:rPr>
                                <m:t>−</m:t>
                              </m:r>
                              <m:r>
                                <a:rPr lang="en-US" b="0" i="1" smtClean="0">
                                  <a:latin typeface="Cambria Math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−1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−2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5 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−2</m:t>
                              </m:r>
                            </m:e>
                          </m:mr>
                        </m:m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GB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eqArr>
                                <m:eqArr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eqArr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b="0" i="1" smtClean="0">
                                      <a:latin typeface="Cambria Math"/>
                                    </a:rPr>
                                    <m:t> </m:t>
                                  </m:r>
                                  <m:r>
                                    <a:rPr lang="en-US" b="0" i="1" smtClean="0">
                                      <a:latin typeface="Cambria Math"/>
                                    </a:rPr>
                                    <m:t>    </m:t>
                                  </m:r>
                                </m:e>
                                <m:e>
                                  <m:r>
                                    <a:rPr lang="en-US" b="0" i="1" smtClean="0">
                                      <a:latin typeface="Cambria Math"/>
                                    </a:rPr>
                                    <m:t>      </m:t>
                                  </m:r>
                                  <m:r>
                                    <m:rPr>
                                      <m:brk m:alnAt="7"/>
                                    </m:rPr>
                                    <a:rPr lang="en-US" b="0" i="1" smtClean="0">
                                      <a:latin typeface="Cambria Math"/>
                                    </a:rPr>
                                    <m:t>|</m:t>
                                  </m:r>
                                  <m:r>
                                    <a:rPr lang="en-US" b="0" i="1" smtClean="0">
                                      <a:latin typeface="Cambria Math"/>
                                    </a:rPr>
                                    <m:t>      −1</m:t>
                                  </m:r>
                                </m:e>
                              </m:eqAr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      |      −9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       |           2 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GB" baseline="-25000" dirty="0" smtClean="0">
                  <a:sym typeface="Wingdings" panose="05000000000000000000" pitchFamily="2" charset="2"/>
                </a:endParaRPr>
              </a:p>
              <a:p>
                <a:pPr marL="0" indent="0">
                  <a:buNone/>
                </a:pPr>
                <a:endParaRPr lang="en-US" dirty="0" smtClean="0"/>
              </a:p>
              <a:p>
                <a:pPr marL="0" indent="0">
                  <a:buNone/>
                </a:pPr>
                <a:r>
                  <a:rPr lang="en-US" dirty="0"/>
                  <a:t> </a:t>
                </a:r>
                <a:r>
                  <a:rPr lang="en-US" dirty="0" smtClean="0"/>
                  <a:t>         -3</a:t>
                </a:r>
                <a:r>
                  <a:rPr lang="en-US" i="1" dirty="0" smtClean="0"/>
                  <a:t>x</a:t>
                </a:r>
                <a:r>
                  <a:rPr lang="en-US" baseline="-25000" dirty="0" smtClean="0"/>
                  <a:t>1 </a:t>
                </a:r>
                <a:r>
                  <a:rPr lang="en-US" dirty="0" smtClean="0"/>
                  <a:t>+ 2</a:t>
                </a:r>
                <a:r>
                  <a:rPr lang="en-US" i="1" dirty="0" smtClean="0"/>
                  <a:t>x</a:t>
                </a:r>
                <a:r>
                  <a:rPr lang="en-US" baseline="-25000" dirty="0" smtClean="0"/>
                  <a:t>2 </a:t>
                </a:r>
                <a:r>
                  <a:rPr lang="en-US" dirty="0" smtClean="0"/>
                  <a:t>–    </a:t>
                </a:r>
                <a:r>
                  <a:rPr lang="en-US" i="1" dirty="0" smtClean="0"/>
                  <a:t>x</a:t>
                </a:r>
                <a:r>
                  <a:rPr lang="en-US" baseline="-25000" dirty="0" smtClean="0"/>
                  <a:t>3</a:t>
                </a:r>
                <a:r>
                  <a:rPr lang="en-US" dirty="0" smtClean="0"/>
                  <a:t> =   -1</a:t>
                </a:r>
              </a:p>
              <a:p>
                <a:pPr marL="0" indent="0">
                  <a:buNone/>
                </a:pPr>
                <a:r>
                  <a:rPr lang="en-US" dirty="0" smtClean="0"/>
                  <a:t>                  </a:t>
                </a:r>
                <a:r>
                  <a:rPr lang="en-US" baseline="-25000" dirty="0" smtClean="0"/>
                  <a:t> </a:t>
                </a:r>
                <a:r>
                  <a:rPr lang="en-US" dirty="0" smtClean="0"/>
                  <a:t>- 2</a:t>
                </a:r>
                <a:r>
                  <a:rPr lang="en-US" i="1" dirty="0" smtClean="0"/>
                  <a:t>x</a:t>
                </a:r>
                <a:r>
                  <a:rPr lang="en-US" baseline="-25000" dirty="0" smtClean="0"/>
                  <a:t>2 </a:t>
                </a:r>
                <a:r>
                  <a:rPr lang="en-US" dirty="0" smtClean="0"/>
                  <a:t>+ 5</a:t>
                </a:r>
                <a:r>
                  <a:rPr lang="en-US" i="1" dirty="0" smtClean="0"/>
                  <a:t>x</a:t>
                </a:r>
                <a:r>
                  <a:rPr lang="en-US" baseline="-25000" dirty="0" smtClean="0"/>
                  <a:t>3</a:t>
                </a:r>
                <a:r>
                  <a:rPr lang="en-US" dirty="0" smtClean="0"/>
                  <a:t> =   -9</a:t>
                </a:r>
              </a:p>
              <a:p>
                <a:pPr marL="0" indent="0">
                  <a:buNone/>
                </a:pPr>
                <a:r>
                  <a:rPr lang="en-US" dirty="0" smtClean="0"/>
                  <a:t>                              -2</a:t>
                </a:r>
                <a:r>
                  <a:rPr lang="en-US" i="1" dirty="0" smtClean="0"/>
                  <a:t>x</a:t>
                </a:r>
                <a:r>
                  <a:rPr lang="en-US" baseline="-25000" dirty="0" smtClean="0"/>
                  <a:t>3</a:t>
                </a:r>
                <a:r>
                  <a:rPr lang="en-US" dirty="0" smtClean="0"/>
                  <a:t> =  2</a:t>
                </a:r>
              </a:p>
              <a:p>
                <a:endParaRPr lang="en-US" dirty="0" smtClean="0"/>
              </a:p>
              <a:p>
                <a:endParaRPr lang="en-GB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826912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FF0000"/>
                </a:solidFill>
              </a:rPr>
              <a:t>Backward Substitution</a:t>
            </a:r>
            <a:endParaRPr lang="en-GB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-3</a:t>
            </a:r>
            <a:r>
              <a:rPr lang="en-US" i="1" dirty="0" smtClean="0"/>
              <a:t>x</a:t>
            </a:r>
            <a:r>
              <a:rPr lang="en-US" baseline="-25000" dirty="0" smtClean="0"/>
              <a:t>1 </a:t>
            </a:r>
            <a:r>
              <a:rPr lang="en-US" dirty="0" smtClean="0"/>
              <a:t>+ 2</a:t>
            </a:r>
            <a:r>
              <a:rPr lang="en-US" i="1" dirty="0" smtClean="0"/>
              <a:t>x</a:t>
            </a:r>
            <a:r>
              <a:rPr lang="en-US" baseline="-25000" dirty="0" smtClean="0"/>
              <a:t>2 </a:t>
            </a:r>
            <a:r>
              <a:rPr lang="en-US" dirty="0" smtClean="0"/>
              <a:t>–    </a:t>
            </a:r>
            <a:r>
              <a:rPr lang="en-US" i="1" dirty="0" smtClean="0"/>
              <a:t>x</a:t>
            </a:r>
            <a:r>
              <a:rPr lang="en-US" baseline="-25000" dirty="0" smtClean="0"/>
              <a:t>3</a:t>
            </a:r>
            <a:r>
              <a:rPr lang="en-US" dirty="0" smtClean="0"/>
              <a:t> =   -1</a:t>
            </a:r>
          </a:p>
          <a:p>
            <a:pPr marL="0" indent="0">
              <a:buNone/>
            </a:pPr>
            <a:r>
              <a:rPr lang="en-US" dirty="0" smtClean="0"/>
              <a:t>                  </a:t>
            </a:r>
            <a:r>
              <a:rPr lang="en-US" baseline="-25000" dirty="0" smtClean="0"/>
              <a:t> </a:t>
            </a:r>
            <a:r>
              <a:rPr lang="en-US" dirty="0" smtClean="0"/>
              <a:t>- 2</a:t>
            </a:r>
            <a:r>
              <a:rPr lang="en-US" i="1" dirty="0" smtClean="0"/>
              <a:t>x</a:t>
            </a:r>
            <a:r>
              <a:rPr lang="en-US" baseline="-25000" dirty="0" smtClean="0"/>
              <a:t>2 </a:t>
            </a:r>
            <a:r>
              <a:rPr lang="en-US" dirty="0" smtClean="0"/>
              <a:t>+ 5</a:t>
            </a:r>
            <a:r>
              <a:rPr lang="en-US" i="1" dirty="0" smtClean="0"/>
              <a:t>x</a:t>
            </a:r>
            <a:r>
              <a:rPr lang="en-US" baseline="-25000" dirty="0" smtClean="0"/>
              <a:t>3</a:t>
            </a:r>
            <a:r>
              <a:rPr lang="en-US" dirty="0" smtClean="0"/>
              <a:t> =   -9</a:t>
            </a:r>
          </a:p>
          <a:p>
            <a:pPr marL="0" indent="0">
              <a:buNone/>
            </a:pPr>
            <a:r>
              <a:rPr lang="en-US" dirty="0" smtClean="0"/>
              <a:t>                              -2</a:t>
            </a:r>
            <a:r>
              <a:rPr lang="en-US" i="1" dirty="0" smtClean="0"/>
              <a:t>x</a:t>
            </a:r>
            <a:r>
              <a:rPr lang="en-US" baseline="-25000" dirty="0" smtClean="0"/>
              <a:t>3</a:t>
            </a:r>
            <a:r>
              <a:rPr lang="en-US" dirty="0" smtClean="0"/>
              <a:t> =  2</a:t>
            </a:r>
          </a:p>
          <a:p>
            <a:endParaRPr lang="en-US" dirty="0" smtClean="0"/>
          </a:p>
          <a:p>
            <a:r>
              <a:rPr lang="en-US" i="1" dirty="0" smtClean="0"/>
              <a:t>x</a:t>
            </a:r>
            <a:r>
              <a:rPr lang="en-US" baseline="-25000" dirty="0" smtClean="0"/>
              <a:t>3</a:t>
            </a:r>
            <a:r>
              <a:rPr lang="en-US" dirty="0" smtClean="0"/>
              <a:t> =  -1</a:t>
            </a:r>
          </a:p>
          <a:p>
            <a:r>
              <a:rPr lang="en-US" i="1" dirty="0" smtClean="0"/>
              <a:t>x</a:t>
            </a:r>
            <a:r>
              <a:rPr lang="en-US" baseline="-25000" dirty="0" smtClean="0"/>
              <a:t>2</a:t>
            </a:r>
            <a:r>
              <a:rPr lang="en-US" dirty="0" smtClean="0"/>
              <a:t> = (1/(-2)) * (-9 -</a:t>
            </a:r>
            <a:r>
              <a:rPr lang="en-US" i="1" dirty="0" smtClean="0"/>
              <a:t> 5x</a:t>
            </a:r>
            <a:r>
              <a:rPr lang="en-US" baseline="-25000" dirty="0" smtClean="0"/>
              <a:t>3</a:t>
            </a:r>
            <a:r>
              <a:rPr lang="en-US" dirty="0" smtClean="0"/>
              <a:t>) = 2</a:t>
            </a:r>
          </a:p>
          <a:p>
            <a:r>
              <a:rPr lang="en-US" i="1" dirty="0" smtClean="0"/>
              <a:t>x</a:t>
            </a:r>
            <a:r>
              <a:rPr lang="en-US" baseline="-25000" dirty="0" smtClean="0"/>
              <a:t>1 =  </a:t>
            </a:r>
            <a:r>
              <a:rPr lang="en-US" dirty="0" smtClean="0"/>
              <a:t>(1/(-3))*(-1 - 2</a:t>
            </a:r>
            <a:r>
              <a:rPr lang="en-US" i="1" dirty="0" smtClean="0"/>
              <a:t>x</a:t>
            </a:r>
            <a:r>
              <a:rPr lang="en-US" baseline="-25000" dirty="0" smtClean="0"/>
              <a:t>2 </a:t>
            </a:r>
            <a:r>
              <a:rPr lang="en-US" dirty="0" smtClean="0"/>
              <a:t>+  </a:t>
            </a:r>
            <a:r>
              <a:rPr lang="en-US" i="1" dirty="0" smtClean="0"/>
              <a:t>x</a:t>
            </a:r>
            <a:r>
              <a:rPr lang="en-US" baseline="-25000" dirty="0" smtClean="0"/>
              <a:t>3</a:t>
            </a:r>
            <a:r>
              <a:rPr lang="en-US" dirty="0" smtClean="0"/>
              <a:t>) = 2 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404240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FF0000"/>
                </a:solidFill>
              </a:rPr>
              <a:t>Solution </a:t>
            </a:r>
            <a:endParaRPr lang="en-GB" b="1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GB" dirty="0" smtClean="0"/>
                  <a:t>                          </a:t>
                </a:r>
              </a:p>
              <a:p>
                <a:pPr marL="0" indent="0">
                  <a:buNone/>
                </a:pPr>
                <a:endParaRPr lang="en-GB" i="1" dirty="0">
                  <a:latin typeface="Cambria Math"/>
                </a:endParaRPr>
              </a:p>
              <a:p>
                <a:pPr marL="0" indent="0">
                  <a:buNone/>
                </a:pPr>
                <a:r>
                  <a:rPr lang="en-GB" i="1" dirty="0" smtClean="0">
                    <a:latin typeface="Cambria Math"/>
                  </a:rPr>
                  <a:t>                          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GB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/>
                                </a:rPr>
                                <m:t>𝑥</m:t>
                              </m:r>
                              <m:r>
                                <a:rPr lang="en-US" b="0" i="1" baseline="-25000" smtClean="0">
                                  <a:latin typeface="Cambria Math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𝑥</m:t>
                              </m:r>
                              <m:r>
                                <a:rPr lang="en-US" b="0" i="1" baseline="-25000" smtClean="0">
                                  <a:latin typeface="Cambria Math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𝑥</m:t>
                              </m:r>
                              <m:r>
                                <a:rPr lang="en-US" b="0" i="1" baseline="-25000" smtClean="0">
                                  <a:latin typeface="Cambria Math"/>
                                </a:rPr>
                                <m:t>3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GB" dirty="0" smtClean="0"/>
                  <a:t> =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GB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−1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GB" dirty="0"/>
              </a:p>
              <a:p>
                <a:endParaRPr lang="en-GB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062798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https://www.youtube.com/watch?v=_QcKbZUtWYA</a:t>
            </a:r>
          </a:p>
        </p:txBody>
      </p:sp>
    </p:spTree>
    <p:extLst>
      <p:ext uri="{BB962C8B-B14F-4D97-AF65-F5344CB8AC3E}">
        <p14:creationId xmlns:p14="http://schemas.microsoft.com/office/powerpoint/2010/main" val="16142423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 smtClean="0">
                <a:solidFill>
                  <a:srgbClr val="FF0000"/>
                </a:solidFill>
              </a:rPr>
              <a:t>Exercise </a:t>
            </a:r>
            <a:endParaRPr lang="en-GB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Write a Java program to implement the Gaussian Elimination method to solve a matrix equation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627809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Arul_Style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92</TotalTime>
  <Words>155</Words>
  <Application>Microsoft Office PowerPoint</Application>
  <PresentationFormat>On-screen Show (4:3)</PresentationFormat>
  <Paragraphs>58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Cambria Math</vt:lpstr>
      <vt:lpstr>Times New Roman</vt:lpstr>
      <vt:lpstr>Wingdings</vt:lpstr>
      <vt:lpstr>Office Theme</vt:lpstr>
      <vt:lpstr>Gaussian Elimination</vt:lpstr>
      <vt:lpstr>System of Linear Equation</vt:lpstr>
      <vt:lpstr>Ax = b</vt:lpstr>
      <vt:lpstr>Augmented Matrix</vt:lpstr>
      <vt:lpstr>Forward Elimination</vt:lpstr>
      <vt:lpstr>PowerPoint Presentation</vt:lpstr>
      <vt:lpstr>PowerPoint Presentation</vt:lpstr>
      <vt:lpstr>Equations looks like</vt:lpstr>
      <vt:lpstr>Backward Substitution</vt:lpstr>
      <vt:lpstr>Solution </vt:lpstr>
      <vt:lpstr>PowerPoint Presentation</vt:lpstr>
      <vt:lpstr>Exercise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Arul</dc:creator>
  <cp:lastModifiedBy>Arul</cp:lastModifiedBy>
  <cp:revision>15</cp:revision>
  <dcterms:created xsi:type="dcterms:W3CDTF">2022-02-21T20:45:49Z</dcterms:created>
  <dcterms:modified xsi:type="dcterms:W3CDTF">2023-11-30T07:27:44Z</dcterms:modified>
</cp:coreProperties>
</file>